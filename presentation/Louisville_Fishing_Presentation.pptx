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stacked"/>
        <c:varyColors val="0"/>
        <c:ser>
          <c:idx val="0"/>
          <c:order val="0"/>
          <c:tx>
            <c:strRef>
              <c:f>Sheet1!$B$1</c:f>
              <c:strCache>
                <c:ptCount val="1"/>
                <c:pt idx="0">
                  <c:v>Safe</c:v>
                </c:pt>
              </c:strCache>
            </c:strRef>
          </c:tx>
          <c:spPr>
            <a:solidFill>
              <a:srgbClr val="1A7A4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Taylorsville Lk</c:v>
                  </c:pt>
                  <c:pt idx="1">
                    <c:v>McAlpine Dam</c:v>
                  </c:pt>
                  <c:pt idx="2">
                    <c:v>Cox Park</c:v>
                  </c:pt>
                  <c:pt idx="3">
                    <c:v>Harrods Creek</c:v>
                  </c:pt>
                  <c:pt idx="4">
                    <c:v>Otter Creek</c:v>
                  </c:pt>
                  <c:pt idx="5">
                    <c:v>Caperton Swamp</c:v>
                  </c:pt>
                </c:lvl>
              </c:multiLvlStrCache>
            </c:multiLvlStrRef>
          </c:cat>
          <c:val>
            <c:numRef>
              <c:f>Sheet1!$B$2:$B$7</c:f>
              <c:numCache>
                <c:formatCode>General</c:formatCode>
                <c:ptCount val="6"/>
                <c:pt idx="0">
                  <c:v>7</c:v>
                </c:pt>
                <c:pt idx="1">
                  <c:v>6</c:v>
                </c:pt>
                <c:pt idx="2">
                  <c:v>5</c:v>
                </c:pt>
                <c:pt idx="3">
                  <c:v>5</c:v>
                </c:pt>
                <c:pt idx="4">
                  <c:v>4</c:v>
                </c:pt>
                <c:pt idx="5">
                  <c:v>3</c:v>
                </c:pt>
              </c:numCache>
            </c:numRef>
          </c:val>
        </c:ser>
        <c:ser>
          <c:idx val="1"/>
          <c:order val="1"/>
          <c:tx>
            <c:strRef>
              <c:f>Sheet1!$C$1</c:f>
              <c:strCache>
                <c:ptCount val="1"/>
                <c:pt idx="0">
                  <c:v>Caution</c:v>
                </c:pt>
              </c:strCache>
            </c:strRef>
          </c:tx>
          <c:spPr>
            <a:solidFill>
              <a:srgbClr val="CA8A0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Taylorsville Lk</c:v>
                  </c:pt>
                  <c:pt idx="1">
                    <c:v>McAlpine Dam</c:v>
                  </c:pt>
                  <c:pt idx="2">
                    <c:v>Cox Park</c:v>
                  </c:pt>
                  <c:pt idx="3">
                    <c:v>Harrods Creek</c:v>
                  </c:pt>
                  <c:pt idx="4">
                    <c:v>Otter Creek</c:v>
                  </c:pt>
                  <c:pt idx="5">
                    <c:v>Caperton Swamp</c:v>
                  </c:pt>
                </c:lvl>
              </c:multiLvlStrCache>
            </c:multiLvlStrRef>
          </c:cat>
          <c:val>
            <c:numRef>
              <c:f>Sheet1!$C$2:$C$7</c:f>
              <c:numCache>
                <c:formatCode>General</c:formatCode>
                <c:ptCount val="6"/>
                <c:pt idx="0">
                  <c:v>0</c:v>
                </c:pt>
                <c:pt idx="1">
                  <c:v>1</c:v>
                </c:pt>
                <c:pt idx="2">
                  <c:v>1</c:v>
                </c:pt>
                <c:pt idx="3">
                  <c:v>1</c:v>
                </c:pt>
                <c:pt idx="4">
                  <c:v>2</c:v>
                </c:pt>
                <c:pt idx="5">
                  <c:v>2</c:v>
                </c:pt>
              </c:numCache>
            </c:numRef>
          </c:val>
        </c:ser>
        <c:ser>
          <c:idx val="2"/>
          <c:order val="2"/>
          <c:tx>
            <c:strRef>
              <c:f>Sheet1!$D$1</c:f>
              <c:strCache>
                <c:ptCount val="1"/>
                <c:pt idx="0">
                  <c:v>Unsafe</c:v>
                </c:pt>
              </c:strCache>
            </c:strRef>
          </c:tx>
          <c:spPr>
            <a:solidFill>
              <a:srgbClr val="DC262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Taylorsville Lk</c:v>
                  </c:pt>
                  <c:pt idx="1">
                    <c:v>McAlpine Dam</c:v>
                  </c:pt>
                  <c:pt idx="2">
                    <c:v>Cox Park</c:v>
                  </c:pt>
                  <c:pt idx="3">
                    <c:v>Harrods Creek</c:v>
                  </c:pt>
                  <c:pt idx="4">
                    <c:v>Otter Creek</c:v>
                  </c:pt>
                  <c:pt idx="5">
                    <c:v>Caperton Swamp</c:v>
                  </c:pt>
                </c:lvl>
              </c:multiLvlStrCache>
            </c:multiLvlStrRef>
          </c:cat>
          <c:val>
            <c:numRef>
              <c:f>Sheet1!$D$2:$D$7</c:f>
              <c:numCache>
                <c:formatCode>General</c:formatCode>
                <c:ptCount val="6"/>
                <c:pt idx="0">
                  <c:v>0</c:v>
                </c:pt>
                <c:pt idx="1">
                  <c:v>0</c:v>
                </c:pt>
                <c:pt idx="2">
                  <c:v>1</c:v>
                </c:pt>
                <c:pt idx="3">
                  <c:v>1</c:v>
                </c:pt>
                <c:pt idx="4">
                  <c:v>1</c:v>
                </c:pt>
                <c:pt idx="5">
                  <c:v>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0D2B3E"/>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508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64748B"/>
                </a:solidFill>
                <a:latin typeface="Arial"/>
              </a:defRPr>
            </a:pPr>
            <a:endParaRPr lang="en-US"/>
          </a:p>
        </c:txPr>
        <c:crossAx val="2094734554"/>
        <c:crosses val="autoZero"/>
        <c:crossBetween val="between"/>
      </c:valAx>
      <c:spPr>
        <a:solidFill>
          <a:srgbClr val="F4F8FB"/>
        </a:solidFill>
        <a:ln>
          <a:noFill/>
        </a:ln>
        <a:effectLst/>
      </c:spPr>
    </c:plotArea>
    <c:legend>
      <c:legendPos val="b"/>
      <c:overlay val="0"/>
      <c:txPr>
        <a:bodyPr/>
        <a:lstStyle/>
        <a:p>
          <a:pPr>
            <a:defRPr sz="700">      </a:defRPr>
          </a:pPr>
          <a:endParaRPr lang="en-US"/>
        </a:p>
      </c:txPr>
    </c:legend>
    <c:plotVisOnly val="1"/>
    <c:dispBlanksAs val="span"/>
  </c:chart>
  <c:spPr>
    <a:solidFill>
      <a:srgbClr val="F4F8F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I'm going to walk you through the Louisville Waterways Fishing Outlook — a complete data engineering pipeline built to help local anglers decide when and where to fish safely. In the next five minutes I'll cover the business problem, data sources, architecture, validation framework, and the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Louisville has great fishing access — six public spots from the Ohio River to Taylorsville Lake. But there's no single tool that combines weather, river discharge, and safety scoring. These four questions drove every design decision in this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APIs are from Open-Meteo — completely free, no API key required. The weather API gives us hourly forecasts that we aggregate to daily. The flood API gives us river discharge in m³/s, which we bucket into Low, Normal, and High flow categories. Six Louisville-area spots were chosen to represent different waterway types — the Ohio River, Salt River reservoir, and smaller creeks.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pipeline lives in a single Python script — etl_pipeline.py. Stage 1 pulls both APIs for all six locations with retry logic, then aggregates hourly to daily. Stage 2 runs six validation checks before a single byte touches the database. Stage 3 uses incremental upsert — INSERT ON CONFLICT DO UPDATE — so re-runs never create duplicates. Stage 4 joins everything into a fact table with 42 rows — six locations times seven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is normalized to Third Normal Form. Weather codes are in a reference table so we never repeat descriptions. Location is a dimension table — every observation references it by ID. The two fact tables hold daily observations. The fishing_recommendation table is the analytics layer — it joins everything and adds the two derived metrics the dashboard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six checks before touching the database — exceeding the rubric requirement of three. The first four are hard failures: if any fires, the pipeline aborts with a clear error message. No partial data is written. Checks five and six are soft: they log a warning but let good data through. The split is deliberate — schema violations must be a hard stop; degraded quality can be logged and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each panel. Top row: four KPI cards. Taylorsville Lake is best spot at 89/100. 28 of 42 location-day slots are Safe this week. The heatmap is the core visual — each cell is one location on one day. Green means great fishing, red means poor conditions. Taylorsville stays green all week. Caperton Swamp goes orange by Saturday as wind picks up. The stacked bar confirms most days are safe across all locations, with caution days appearing mid-week. The map shows all six spots for Wednesday — four safe, two caution. Every panel responds instantly to the date filter and location multi-select — no reload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I'd tell anyone building a similar project. First: for rolling forecast data, upsert is the only sensible load strategy — don't fight it. Second: the hard/soft failure split made debugging much faster — I always knew whether the pipeline failed or just degraded. Third: time spent on schema normalization pays off immediately in the analytics layer. The dashboard code is clean because the data model is clean.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1C0A0"/>
          </a:solidFill>
          <a:ln w="12700">
            <a:solidFill>
              <a:srgbClr val="21C0A0"/>
            </a:solidFill>
            <a:prstDash val="solid"/>
          </a:ln>
        </p:spPr>
      </p:sp>
      <p:pic>
        <p:nvPicPr>
          <p:cNvPr id="3" name="Image 0" descr="preencoded.png">    </p:cNvPr>
          <p:cNvPicPr>
            <a:picLocks noChangeAspect="1"/>
          </p:cNvPicPr>
          <p:nvPr/>
        </p:nvPicPr>
        <p:blipFill>
          <a:blip r:embed="rId1"/>
          <a:stretch>
            <a:fillRect/>
          </a:stretch>
        </p:blipFill>
        <p:spPr>
          <a:xfrm>
            <a:off x="7132320" y="365760"/>
            <a:ext cx="1645920" cy="914400"/>
          </a:xfrm>
          <a:prstGeom prst="rect">
            <a:avLst/>
          </a:prstGeom>
        </p:spPr>
      </p:pic>
      <p:sp>
        <p:nvSpPr>
          <p:cNvPr id="4" name="Text 1"/>
          <p:cNvSpPr/>
          <p:nvPr/>
        </p:nvSpPr>
        <p:spPr>
          <a:xfrm>
            <a:off x="502920" y="822960"/>
            <a:ext cx="7772400" cy="320040"/>
          </a:xfrm>
          <a:prstGeom prst="rect">
            <a:avLst/>
          </a:prstGeom>
          <a:noFill/>
          <a:ln/>
        </p:spPr>
        <p:txBody>
          <a:bodyPr wrap="square" lIns="0" tIns="0" rIns="0" bIns="0" rtlCol="0" anchor="ctr"/>
          <a:lstStyle/>
          <a:p>
            <a:pPr indent="0" marL="0">
              <a:buNone/>
            </a:pPr>
            <a:r>
              <a:rPr lang="en-US" sz="1000" b="1" spc="200" kern="0" dirty="0">
                <a:solidFill>
                  <a:srgbClr val="21C0A0"/>
                </a:solidFill>
              </a:rPr>
              <a:t>DATA ENGINEERING CAPSTONE  ·  WEEK 5</a:t>
            </a:r>
            <a:endParaRPr lang="en-US" sz="1000" dirty="0"/>
          </a:p>
        </p:txBody>
      </p:sp>
      <p:sp>
        <p:nvSpPr>
          <p:cNvPr id="5" name="Text 2"/>
          <p:cNvSpPr/>
          <p:nvPr/>
        </p:nvSpPr>
        <p:spPr>
          <a:xfrm>
            <a:off x="502920" y="1234440"/>
            <a:ext cx="7772400" cy="17373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Louisville Waterways</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Fishing Outlook</a:t>
            </a:r>
            <a:endParaRPr lang="en-US" sz="4400" dirty="0"/>
          </a:p>
        </p:txBody>
      </p:sp>
      <p:sp>
        <p:nvSpPr>
          <p:cNvPr id="6" name="Text 3"/>
          <p:cNvSpPr/>
          <p:nvPr/>
        </p:nvSpPr>
        <p:spPr>
          <a:xfrm>
            <a:off x="502920" y="3063240"/>
            <a:ext cx="8046720" cy="411480"/>
          </a:xfrm>
          <a:prstGeom prst="rect">
            <a:avLst/>
          </a:prstGeom>
          <a:noFill/>
          <a:ln/>
        </p:spPr>
        <p:txBody>
          <a:bodyPr wrap="square" lIns="0" tIns="0" rIns="0" bIns="0" rtlCol="0" anchor="ctr"/>
          <a:lstStyle/>
          <a:p>
            <a:pPr indent="0" marL="0">
              <a:buNone/>
            </a:pPr>
            <a:r>
              <a:rPr lang="en-US" sz="1400" dirty="0">
                <a:solidFill>
                  <a:srgbClr val="A8C8DC"/>
                </a:solidFill>
              </a:rPr>
              <a:t>End-to-End ETL Pipeline  ·  PostgreSQL on Supabase  ·  Plotly Dash Dashboard</a:t>
            </a:r>
            <a:endParaRPr lang="en-US" sz="1400" dirty="0"/>
          </a:p>
        </p:txBody>
      </p:sp>
      <p:sp>
        <p:nvSpPr>
          <p:cNvPr id="7" name="Shape 4"/>
          <p:cNvSpPr/>
          <p:nvPr/>
        </p:nvSpPr>
        <p:spPr>
          <a:xfrm>
            <a:off x="502920" y="3657600"/>
            <a:ext cx="1965960" cy="329184"/>
          </a:xfrm>
          <a:prstGeom prst="roundRect">
            <a:avLst>
              <a:gd name="adj" fmla="val 22222"/>
            </a:avLst>
          </a:prstGeom>
          <a:solidFill>
            <a:srgbClr val="1C7293"/>
          </a:solidFill>
          <a:ln w="12700">
            <a:solidFill>
              <a:srgbClr val="1C7293"/>
            </a:solidFill>
            <a:prstDash val="solid"/>
          </a:ln>
        </p:spPr>
      </p:sp>
      <p:sp>
        <p:nvSpPr>
          <p:cNvPr id="8" name="Text 5"/>
          <p:cNvSpPr/>
          <p:nvPr/>
        </p:nvSpPr>
        <p:spPr>
          <a:xfrm>
            <a:off x="502920" y="3657600"/>
            <a:ext cx="1965960" cy="329184"/>
          </a:xfrm>
          <a:prstGeom prst="rect">
            <a:avLst/>
          </a:prstGeom>
          <a:noFill/>
          <a:ln/>
        </p:spPr>
        <p:txBody>
          <a:bodyPr wrap="square" lIns="0" tIns="0" rIns="0" bIns="0" rtlCol="0" anchor="ctr"/>
          <a:lstStyle/>
          <a:p>
            <a:pPr algn="ctr" indent="0" marL="0">
              <a:buNone/>
            </a:pPr>
            <a:r>
              <a:rPr lang="en-US" sz="1100" b="1" dirty="0">
                <a:solidFill>
                  <a:srgbClr val="FFFFFF"/>
                </a:solidFill>
              </a:rPr>
              <a:t>Open-Meteo API</a:t>
            </a:r>
            <a:endParaRPr lang="en-US" sz="1100" dirty="0"/>
          </a:p>
        </p:txBody>
      </p:sp>
      <p:sp>
        <p:nvSpPr>
          <p:cNvPr id="9" name="Shape 6"/>
          <p:cNvSpPr/>
          <p:nvPr/>
        </p:nvSpPr>
        <p:spPr>
          <a:xfrm>
            <a:off x="2624328" y="3657600"/>
            <a:ext cx="1965960" cy="329184"/>
          </a:xfrm>
          <a:prstGeom prst="roundRect">
            <a:avLst>
              <a:gd name="adj" fmla="val 22222"/>
            </a:avLst>
          </a:prstGeom>
          <a:solidFill>
            <a:srgbClr val="1C7293"/>
          </a:solidFill>
          <a:ln w="12700">
            <a:solidFill>
              <a:srgbClr val="1C7293"/>
            </a:solidFill>
            <a:prstDash val="solid"/>
          </a:ln>
        </p:spPr>
      </p:sp>
      <p:sp>
        <p:nvSpPr>
          <p:cNvPr id="10" name="Text 7"/>
          <p:cNvSpPr/>
          <p:nvPr/>
        </p:nvSpPr>
        <p:spPr>
          <a:xfrm>
            <a:off x="2624328" y="3657600"/>
            <a:ext cx="1965960" cy="329184"/>
          </a:xfrm>
          <a:prstGeom prst="rect">
            <a:avLst/>
          </a:prstGeom>
          <a:noFill/>
          <a:ln/>
        </p:spPr>
        <p:txBody>
          <a:bodyPr wrap="square" lIns="0" tIns="0" rIns="0" bIns="0" rtlCol="0" anchor="ctr"/>
          <a:lstStyle/>
          <a:p>
            <a:pPr algn="ctr" indent="0" marL="0">
              <a:buNone/>
            </a:pPr>
            <a:r>
              <a:rPr lang="en-US" sz="1100" b="1" dirty="0">
                <a:solidFill>
                  <a:srgbClr val="FFFFFF"/>
                </a:solidFill>
              </a:rPr>
              <a:t>6 Locations</a:t>
            </a:r>
            <a:endParaRPr lang="en-US" sz="1100" dirty="0"/>
          </a:p>
        </p:txBody>
      </p:sp>
      <p:sp>
        <p:nvSpPr>
          <p:cNvPr id="11" name="Shape 8"/>
          <p:cNvSpPr/>
          <p:nvPr/>
        </p:nvSpPr>
        <p:spPr>
          <a:xfrm>
            <a:off x="4745736" y="3657600"/>
            <a:ext cx="1965960" cy="329184"/>
          </a:xfrm>
          <a:prstGeom prst="roundRect">
            <a:avLst>
              <a:gd name="adj" fmla="val 22222"/>
            </a:avLst>
          </a:prstGeom>
          <a:solidFill>
            <a:srgbClr val="1C7293"/>
          </a:solidFill>
          <a:ln w="12700">
            <a:solidFill>
              <a:srgbClr val="1C7293"/>
            </a:solidFill>
            <a:prstDash val="solid"/>
          </a:ln>
        </p:spPr>
      </p:sp>
      <p:sp>
        <p:nvSpPr>
          <p:cNvPr id="12" name="Text 9"/>
          <p:cNvSpPr/>
          <p:nvPr/>
        </p:nvSpPr>
        <p:spPr>
          <a:xfrm>
            <a:off x="4745736" y="3657600"/>
            <a:ext cx="1965960" cy="329184"/>
          </a:xfrm>
          <a:prstGeom prst="rect">
            <a:avLst/>
          </a:prstGeom>
          <a:noFill/>
          <a:ln/>
        </p:spPr>
        <p:txBody>
          <a:bodyPr wrap="square" lIns="0" tIns="0" rIns="0" bIns="0" rtlCol="0" anchor="ctr"/>
          <a:lstStyle/>
          <a:p>
            <a:pPr algn="ctr" indent="0" marL="0">
              <a:buNone/>
            </a:pPr>
            <a:r>
              <a:rPr lang="en-US" sz="1100" b="1" dirty="0">
                <a:solidFill>
                  <a:srgbClr val="FFFFFF"/>
                </a:solidFill>
              </a:rPr>
              <a:t>7-Day Forecast</a:t>
            </a:r>
            <a:endParaRPr lang="en-US" sz="1100" dirty="0"/>
          </a:p>
        </p:txBody>
      </p:sp>
      <p:sp>
        <p:nvSpPr>
          <p:cNvPr id="13" name="Shape 10"/>
          <p:cNvSpPr/>
          <p:nvPr/>
        </p:nvSpPr>
        <p:spPr>
          <a:xfrm>
            <a:off x="6867144" y="3657600"/>
            <a:ext cx="1965960" cy="329184"/>
          </a:xfrm>
          <a:prstGeom prst="roundRect">
            <a:avLst>
              <a:gd name="adj" fmla="val 22222"/>
            </a:avLst>
          </a:prstGeom>
          <a:solidFill>
            <a:srgbClr val="1C7293"/>
          </a:solidFill>
          <a:ln w="12700">
            <a:solidFill>
              <a:srgbClr val="1C7293"/>
            </a:solidFill>
            <a:prstDash val="solid"/>
          </a:ln>
        </p:spPr>
      </p:sp>
      <p:sp>
        <p:nvSpPr>
          <p:cNvPr id="14" name="Text 11"/>
          <p:cNvSpPr/>
          <p:nvPr/>
        </p:nvSpPr>
        <p:spPr>
          <a:xfrm>
            <a:off x="6867144" y="3657600"/>
            <a:ext cx="1965960" cy="329184"/>
          </a:xfrm>
          <a:prstGeom prst="rect">
            <a:avLst/>
          </a:prstGeom>
          <a:noFill/>
          <a:ln/>
        </p:spPr>
        <p:txBody>
          <a:bodyPr wrap="square" lIns="0" tIns="0" rIns="0" bIns="0" rtlCol="0" anchor="ctr"/>
          <a:lstStyle/>
          <a:p>
            <a:pPr algn="ctr" indent="0" marL="0">
              <a:buNone/>
            </a:pPr>
            <a:r>
              <a:rPr lang="en-US" sz="1100" b="1" dirty="0">
                <a:solidFill>
                  <a:srgbClr val="FFFFFF"/>
                </a:solidFill>
              </a:rPr>
              <a:t>Safety Scoring</a:t>
            </a:r>
            <a:endParaRPr lang="en-US" sz="1100" dirty="0"/>
          </a:p>
        </p:txBody>
      </p:sp>
      <p:sp>
        <p:nvSpPr>
          <p:cNvPr id="15" name="Shape 12"/>
          <p:cNvSpPr/>
          <p:nvPr/>
        </p:nvSpPr>
        <p:spPr>
          <a:xfrm>
            <a:off x="0" y="4773168"/>
            <a:ext cx="9144000" cy="365760"/>
          </a:xfrm>
          <a:prstGeom prst="rect">
            <a:avLst/>
          </a:prstGeom>
          <a:solidFill>
            <a:srgbClr val="0D2B3E"/>
          </a:solidFill>
          <a:ln w="12700">
            <a:solidFill>
              <a:srgbClr val="0D2B3E"/>
            </a:solidFill>
            <a:prstDash val="solid"/>
          </a:ln>
        </p:spPr>
      </p:sp>
      <p:sp>
        <p:nvSpPr>
          <p:cNvPr id="16" name="Text 13"/>
          <p:cNvSpPr/>
          <p:nvPr/>
        </p:nvSpPr>
        <p:spPr>
          <a:xfrm>
            <a:off x="365760" y="4773168"/>
            <a:ext cx="8412480" cy="365760"/>
          </a:xfrm>
          <a:prstGeom prst="rect">
            <a:avLst/>
          </a:prstGeom>
          <a:noFill/>
          <a:ln/>
        </p:spPr>
        <p:txBody>
          <a:bodyPr wrap="square" lIns="0" tIns="0" rIns="0" bIns="0" rtlCol="0" anchor="ctr"/>
          <a:lstStyle/>
          <a:p>
            <a:pPr algn="ctr" indent="0" marL="0">
              <a:buNone/>
            </a:pPr>
            <a:r>
              <a:rPr lang="en-US" sz="950" dirty="0">
                <a:solidFill>
                  <a:srgbClr val="7AACCC"/>
                </a:solidFill>
              </a:rPr>
              <a:t>Louisville, KY  ·  Python 3.12  ·  Supabase PostgreSQL  ·  Plotly Dash</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502920" y="347472"/>
            <a:ext cx="2011680" cy="292608"/>
          </a:xfrm>
          <a:prstGeom prst="roundRect">
            <a:avLst>
              <a:gd name="adj" fmla="val 25000"/>
            </a:avLst>
          </a:prstGeom>
          <a:solidFill>
            <a:srgbClr val="21C0A0"/>
          </a:solidFill>
          <a:ln w="12700">
            <a:solidFill>
              <a:srgbClr val="21C0A0"/>
            </a:solidFill>
            <a:prstDash val="solid"/>
          </a:ln>
        </p:spPr>
      </p:sp>
      <p:sp>
        <p:nvSpPr>
          <p:cNvPr id="3" name="Text 1"/>
          <p:cNvSpPr/>
          <p:nvPr/>
        </p:nvSpPr>
        <p:spPr>
          <a:xfrm>
            <a:off x="502920" y="347472"/>
            <a:ext cx="2011680" cy="292608"/>
          </a:xfrm>
          <a:prstGeom prst="rect">
            <a:avLst/>
          </a:prstGeom>
          <a:noFill/>
          <a:ln/>
        </p:spPr>
        <p:txBody>
          <a:bodyPr wrap="square" lIns="0" tIns="0" rIns="0" bIns="0" rtlCol="0" anchor="ctr"/>
          <a:lstStyle/>
          <a:p>
            <a:pPr algn="ctr" indent="0" marL="0">
              <a:buNone/>
            </a:pPr>
            <a:r>
              <a:rPr lang="en-US" sz="900" b="1" dirty="0">
                <a:solidFill>
                  <a:srgbClr val="0D2B3E"/>
                </a:solidFill>
              </a:rPr>
              <a:t>BUSINESS PROBLEM</a:t>
            </a:r>
            <a:endParaRPr lang="en-US" sz="900" dirty="0"/>
          </a:p>
        </p:txBody>
      </p:sp>
      <p:sp>
        <p:nvSpPr>
          <p:cNvPr id="4" name="Text 2"/>
          <p:cNvSpPr/>
          <p:nvPr/>
        </p:nvSpPr>
        <p:spPr>
          <a:xfrm>
            <a:off x="502920" y="658368"/>
            <a:ext cx="8046720" cy="54864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The Gap Anglers Face</a:t>
            </a:r>
            <a:endParaRPr lang="en-US" sz="3200" dirty="0"/>
          </a:p>
        </p:txBody>
      </p:sp>
      <p:sp>
        <p:nvSpPr>
          <p:cNvPr id="5" name="Text 3"/>
          <p:cNvSpPr/>
          <p:nvPr/>
        </p:nvSpPr>
        <p:spPr>
          <a:xfrm>
            <a:off x="502920" y="1280160"/>
            <a:ext cx="4937760" cy="658368"/>
          </a:xfrm>
          <a:prstGeom prst="rect">
            <a:avLst/>
          </a:prstGeom>
          <a:noFill/>
          <a:ln/>
        </p:spPr>
        <p:txBody>
          <a:bodyPr wrap="square" lIns="0" tIns="0" rIns="0" bIns="0" rtlCol="0" anchor="ctr"/>
          <a:lstStyle/>
          <a:p>
            <a:pPr indent="0" marL="0">
              <a:buNone/>
            </a:pPr>
            <a:r>
              <a:rPr lang="en-US" sz="1350" dirty="0">
                <a:solidFill>
                  <a:srgbClr val="0D2B3E"/>
                </a:solidFill>
              </a:rPr>
              <a:t>Louisville has 6 public fishing spots. Weather apps show temperature — but not river flow, not combined safety ratings, not a single-number answer to ‘should I go today?’</a:t>
            </a:r>
            <a:endParaRPr lang="en-US" sz="1350" dirty="0"/>
          </a:p>
        </p:txBody>
      </p:sp>
      <p:sp>
        <p:nvSpPr>
          <p:cNvPr id="6" name="Shape 4"/>
          <p:cNvSpPr/>
          <p:nvPr/>
        </p:nvSpPr>
        <p:spPr>
          <a:xfrm>
            <a:off x="502920" y="2084832"/>
            <a:ext cx="4069080" cy="960120"/>
          </a:xfrm>
          <a:prstGeom prst="roundRect">
            <a:avLst>
              <a:gd name="adj" fmla="val 11429"/>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667512" y="2340864"/>
            <a:ext cx="411480" cy="411480"/>
          </a:xfrm>
          <a:prstGeom prst="rect">
            <a:avLst/>
          </a:prstGeom>
        </p:spPr>
      </p:pic>
      <p:sp>
        <p:nvSpPr>
          <p:cNvPr id="8" name="Text 5"/>
          <p:cNvSpPr/>
          <p:nvPr/>
        </p:nvSpPr>
        <p:spPr>
          <a:xfrm>
            <a:off x="1188720" y="2084832"/>
            <a:ext cx="3246120" cy="960120"/>
          </a:xfrm>
          <a:prstGeom prst="rect">
            <a:avLst/>
          </a:prstGeom>
          <a:noFill/>
          <a:ln/>
        </p:spPr>
        <p:txBody>
          <a:bodyPr wrap="square" lIns="0" tIns="0" rIns="0" bIns="0" rtlCol="0" anchor="ctr"/>
          <a:lstStyle/>
          <a:p>
            <a:pPr indent="0" marL="0">
              <a:buNone/>
            </a:pPr>
            <a:r>
              <a:rPr lang="en-US" sz="1250" dirty="0">
                <a:solidFill>
                  <a:srgbClr val="0D2B3E"/>
                </a:solidFill>
              </a:rPr>
              <a:t>Is it safe to fish here today?</a:t>
            </a:r>
            <a:endParaRPr lang="en-US" sz="1250" dirty="0"/>
          </a:p>
        </p:txBody>
      </p:sp>
      <p:sp>
        <p:nvSpPr>
          <p:cNvPr id="9" name="Shape 6"/>
          <p:cNvSpPr/>
          <p:nvPr/>
        </p:nvSpPr>
        <p:spPr>
          <a:xfrm>
            <a:off x="4800600" y="2084832"/>
            <a:ext cx="4069080" cy="960120"/>
          </a:xfrm>
          <a:prstGeom prst="roundRect">
            <a:avLst>
              <a:gd name="adj" fmla="val 11429"/>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pic>
        <p:nvPicPr>
          <p:cNvPr id="10" name="Image 1" descr="preencoded.png">    </p:cNvPr>
          <p:cNvPicPr>
            <a:picLocks noChangeAspect="1"/>
          </p:cNvPicPr>
          <p:nvPr/>
        </p:nvPicPr>
        <p:blipFill>
          <a:blip r:embed="rId2"/>
          <a:stretch>
            <a:fillRect/>
          </a:stretch>
        </p:blipFill>
        <p:spPr>
          <a:xfrm>
            <a:off x="4965192" y="2340864"/>
            <a:ext cx="411480" cy="411480"/>
          </a:xfrm>
          <a:prstGeom prst="rect">
            <a:avLst/>
          </a:prstGeom>
        </p:spPr>
      </p:pic>
      <p:sp>
        <p:nvSpPr>
          <p:cNvPr id="11" name="Text 7"/>
          <p:cNvSpPr/>
          <p:nvPr/>
        </p:nvSpPr>
        <p:spPr>
          <a:xfrm>
            <a:off x="5486400" y="2084832"/>
            <a:ext cx="3246120" cy="960120"/>
          </a:xfrm>
          <a:prstGeom prst="rect">
            <a:avLst/>
          </a:prstGeom>
          <a:noFill/>
          <a:ln/>
        </p:spPr>
        <p:txBody>
          <a:bodyPr wrap="square" lIns="0" tIns="0" rIns="0" bIns="0" rtlCol="0" anchor="ctr"/>
          <a:lstStyle/>
          <a:p>
            <a:pPr indent="0" marL="0">
              <a:buNone/>
            </a:pPr>
            <a:r>
              <a:rPr lang="en-US" sz="1250" dirty="0">
                <a:solidFill>
                  <a:srgbClr val="0D2B3E"/>
                </a:solidFill>
              </a:rPr>
              <a:t>Which spot has the best conditions this week?</a:t>
            </a:r>
            <a:endParaRPr lang="en-US" sz="1250" dirty="0"/>
          </a:p>
        </p:txBody>
      </p:sp>
      <p:sp>
        <p:nvSpPr>
          <p:cNvPr id="12" name="Shape 8"/>
          <p:cNvSpPr/>
          <p:nvPr/>
        </p:nvSpPr>
        <p:spPr>
          <a:xfrm>
            <a:off x="502920" y="3246120"/>
            <a:ext cx="4069080" cy="960120"/>
          </a:xfrm>
          <a:prstGeom prst="roundRect">
            <a:avLst>
              <a:gd name="adj" fmla="val 11429"/>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pic>
        <p:nvPicPr>
          <p:cNvPr id="13" name="Image 2" descr="preencoded.png">    </p:cNvPr>
          <p:cNvPicPr>
            <a:picLocks noChangeAspect="1"/>
          </p:cNvPicPr>
          <p:nvPr/>
        </p:nvPicPr>
        <p:blipFill>
          <a:blip r:embed="rId3"/>
          <a:stretch>
            <a:fillRect/>
          </a:stretch>
        </p:blipFill>
        <p:spPr>
          <a:xfrm>
            <a:off x="667512" y="3502152"/>
            <a:ext cx="411480" cy="411480"/>
          </a:xfrm>
          <a:prstGeom prst="rect">
            <a:avLst/>
          </a:prstGeom>
        </p:spPr>
      </p:pic>
      <p:sp>
        <p:nvSpPr>
          <p:cNvPr id="14" name="Text 9"/>
          <p:cNvSpPr/>
          <p:nvPr/>
        </p:nvSpPr>
        <p:spPr>
          <a:xfrm>
            <a:off x="1188720" y="3246120"/>
            <a:ext cx="3246120" cy="960120"/>
          </a:xfrm>
          <a:prstGeom prst="rect">
            <a:avLst/>
          </a:prstGeom>
          <a:noFill/>
          <a:ln/>
        </p:spPr>
        <p:txBody>
          <a:bodyPr wrap="square" lIns="0" tIns="0" rIns="0" bIns="0" rtlCol="0" anchor="ctr"/>
          <a:lstStyle/>
          <a:p>
            <a:pPr indent="0" marL="0">
              <a:buNone/>
            </a:pPr>
            <a:r>
              <a:rPr lang="en-US" sz="1250" dirty="0">
                <a:solidFill>
                  <a:srgbClr val="0D2B3E"/>
                </a:solidFill>
              </a:rPr>
              <a:t>How do all 6 spots compare on one day?</a:t>
            </a:r>
            <a:endParaRPr lang="en-US" sz="1250" dirty="0"/>
          </a:p>
        </p:txBody>
      </p:sp>
      <p:sp>
        <p:nvSpPr>
          <p:cNvPr id="15" name="Shape 10"/>
          <p:cNvSpPr/>
          <p:nvPr/>
        </p:nvSpPr>
        <p:spPr>
          <a:xfrm>
            <a:off x="4800600" y="3246120"/>
            <a:ext cx="4069080" cy="960120"/>
          </a:xfrm>
          <a:prstGeom prst="roundRect">
            <a:avLst>
              <a:gd name="adj" fmla="val 11429"/>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pic>
        <p:nvPicPr>
          <p:cNvPr id="16" name="Image 3" descr="preencoded.png">    </p:cNvPr>
          <p:cNvPicPr>
            <a:picLocks noChangeAspect="1"/>
          </p:cNvPicPr>
          <p:nvPr/>
        </p:nvPicPr>
        <p:blipFill>
          <a:blip r:embed="rId4"/>
          <a:stretch>
            <a:fillRect/>
          </a:stretch>
        </p:blipFill>
        <p:spPr>
          <a:xfrm>
            <a:off x="4965192" y="3502152"/>
            <a:ext cx="411480" cy="411480"/>
          </a:xfrm>
          <a:prstGeom prst="rect">
            <a:avLst/>
          </a:prstGeom>
        </p:spPr>
      </p:pic>
      <p:sp>
        <p:nvSpPr>
          <p:cNvPr id="17" name="Text 11"/>
          <p:cNvSpPr/>
          <p:nvPr/>
        </p:nvSpPr>
        <p:spPr>
          <a:xfrm>
            <a:off x="5486400" y="3246120"/>
            <a:ext cx="3246120" cy="960120"/>
          </a:xfrm>
          <a:prstGeom prst="rect">
            <a:avLst/>
          </a:prstGeom>
          <a:noFill/>
          <a:ln/>
        </p:spPr>
        <p:txBody>
          <a:bodyPr wrap="square" lIns="0" tIns="0" rIns="0" bIns="0" rtlCol="0" anchor="ctr"/>
          <a:lstStyle/>
          <a:p>
            <a:pPr indent="0" marL="0">
              <a:buNone/>
            </a:pPr>
            <a:r>
              <a:rPr lang="en-US" sz="1250" dirty="0">
                <a:solidFill>
                  <a:srgbClr val="0D2B3E"/>
                </a:solidFill>
              </a:rPr>
              <a:t>What's the single best place-and-day combo?</a:t>
            </a:r>
            <a:endParaRPr lang="en-US" sz="1250" dirty="0"/>
          </a:p>
        </p:txBody>
      </p:sp>
      <p:sp>
        <p:nvSpPr>
          <p:cNvPr id="18" name="Shape 12"/>
          <p:cNvSpPr/>
          <p:nvPr/>
        </p:nvSpPr>
        <p:spPr>
          <a:xfrm>
            <a:off x="5577840" y="1234440"/>
            <a:ext cx="3200400" cy="749808"/>
          </a:xfrm>
          <a:prstGeom prst="roundRect">
            <a:avLst>
              <a:gd name="adj" fmla="val 12195"/>
            </a:avLst>
          </a:prstGeom>
          <a:solidFill>
            <a:srgbClr val="E8F4FD"/>
          </a:solidFill>
          <a:ln w="6350">
            <a:solidFill>
              <a:srgbClr val="D0E4EF"/>
            </a:solidFill>
            <a:prstDash val="solid"/>
          </a:ln>
        </p:spPr>
      </p:sp>
      <p:sp>
        <p:nvSpPr>
          <p:cNvPr id="19" name="Text 13"/>
          <p:cNvSpPr/>
          <p:nvPr/>
        </p:nvSpPr>
        <p:spPr>
          <a:xfrm>
            <a:off x="5715000" y="1261872"/>
            <a:ext cx="2926080" cy="694944"/>
          </a:xfrm>
          <a:prstGeom prst="rect">
            <a:avLst/>
          </a:prstGeom>
          <a:noFill/>
          <a:ln/>
        </p:spPr>
        <p:txBody>
          <a:bodyPr wrap="square" lIns="0" tIns="0" rIns="0" bIns="0" rtlCol="0" anchor="ctr"/>
          <a:lstStyle/>
          <a:p>
            <a:pPr indent="0" marL="0">
              <a:buNone/>
            </a:pPr>
            <a:r>
              <a:rPr lang="en-US" sz="1150" i="1" dirty="0">
                <a:solidFill>
                  <a:srgbClr val="065A82"/>
                </a:solidFill>
              </a:rPr>
              <a:t>No existing tool combines</a:t>
            </a:r>
            <a:endParaRPr lang="en-US" sz="1150" dirty="0"/>
          </a:p>
          <a:p>
            <a:pPr indent="0" marL="0">
              <a:buNone/>
            </a:pPr>
            <a:r>
              <a:rPr lang="en-US" sz="1150" i="1" dirty="0">
                <a:solidFill>
                  <a:srgbClr val="065A82"/>
                </a:solidFill>
              </a:rPr>
              <a:t>weather + river flow + location</a:t>
            </a:r>
            <a:endParaRPr lang="en-US" sz="1150" dirty="0"/>
          </a:p>
          <a:p>
            <a:pPr indent="0" marL="0">
              <a:buNone/>
            </a:pPr>
            <a:r>
              <a:rPr lang="en-US" sz="1150" i="1" dirty="0">
                <a:solidFill>
                  <a:srgbClr val="065A82"/>
                </a:solidFill>
              </a:rPr>
              <a:t>into one safety rating.</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502920" y="347472"/>
            <a:ext cx="2011680" cy="292608"/>
          </a:xfrm>
          <a:prstGeom prst="roundRect">
            <a:avLst>
              <a:gd name="adj" fmla="val 25000"/>
            </a:avLst>
          </a:prstGeom>
          <a:solidFill>
            <a:srgbClr val="21C0A0"/>
          </a:solidFill>
          <a:ln w="12700">
            <a:solidFill>
              <a:srgbClr val="21C0A0"/>
            </a:solidFill>
            <a:prstDash val="solid"/>
          </a:ln>
        </p:spPr>
      </p:sp>
      <p:sp>
        <p:nvSpPr>
          <p:cNvPr id="3" name="Text 1"/>
          <p:cNvSpPr/>
          <p:nvPr/>
        </p:nvSpPr>
        <p:spPr>
          <a:xfrm>
            <a:off x="502920" y="347472"/>
            <a:ext cx="2011680" cy="292608"/>
          </a:xfrm>
          <a:prstGeom prst="rect">
            <a:avLst/>
          </a:prstGeom>
          <a:noFill/>
          <a:ln/>
        </p:spPr>
        <p:txBody>
          <a:bodyPr wrap="square" lIns="0" tIns="0" rIns="0" bIns="0" rtlCol="0" anchor="ctr"/>
          <a:lstStyle/>
          <a:p>
            <a:pPr algn="ctr" indent="0" marL="0">
              <a:buNone/>
            </a:pPr>
            <a:r>
              <a:rPr lang="en-US" sz="900" b="1" dirty="0">
                <a:solidFill>
                  <a:srgbClr val="0D2B3E"/>
                </a:solidFill>
              </a:rPr>
              <a:t>DATA SOURCES</a:t>
            </a:r>
            <a:endParaRPr lang="en-US" sz="900" dirty="0"/>
          </a:p>
        </p:txBody>
      </p:sp>
      <p:sp>
        <p:nvSpPr>
          <p:cNvPr id="4" name="Text 2"/>
          <p:cNvSpPr/>
          <p:nvPr/>
        </p:nvSpPr>
        <p:spPr>
          <a:xfrm>
            <a:off x="502920" y="658368"/>
            <a:ext cx="8046720" cy="54864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Where the Data Comes From</a:t>
            </a:r>
            <a:endParaRPr lang="en-US" sz="3200" dirty="0"/>
          </a:p>
        </p:txBody>
      </p:sp>
      <p:sp>
        <p:nvSpPr>
          <p:cNvPr id="5" name="Shape 3"/>
          <p:cNvSpPr/>
          <p:nvPr/>
        </p:nvSpPr>
        <p:spPr>
          <a:xfrm>
            <a:off x="411480" y="1325880"/>
            <a:ext cx="3977640" cy="3429000"/>
          </a:xfrm>
          <a:prstGeom prst="roundRect">
            <a:avLst>
              <a:gd name="adj" fmla="val 3200"/>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6" name="Shape 4"/>
          <p:cNvSpPr/>
          <p:nvPr/>
        </p:nvSpPr>
        <p:spPr>
          <a:xfrm>
            <a:off x="411480" y="1325880"/>
            <a:ext cx="3977640" cy="347472"/>
          </a:xfrm>
          <a:prstGeom prst="roundRect">
            <a:avLst>
              <a:gd name="adj" fmla="val 31579"/>
            </a:avLst>
          </a:prstGeom>
          <a:solidFill>
            <a:srgbClr val="1C7293"/>
          </a:solidFill>
          <a:ln w="12700">
            <a:solidFill>
              <a:srgbClr val="1C7293"/>
            </a:solidFill>
            <a:prstDash val="solid"/>
          </a:ln>
        </p:spPr>
      </p:sp>
      <p:sp>
        <p:nvSpPr>
          <p:cNvPr id="7" name="Shape 5"/>
          <p:cNvSpPr/>
          <p:nvPr/>
        </p:nvSpPr>
        <p:spPr>
          <a:xfrm>
            <a:off x="411480" y="1527048"/>
            <a:ext cx="3977640" cy="146304"/>
          </a:xfrm>
          <a:prstGeom prst="rect">
            <a:avLst/>
          </a:prstGeom>
          <a:solidFill>
            <a:srgbClr val="1C7293"/>
          </a:solidFill>
          <a:ln w="12700">
            <a:solidFill>
              <a:srgbClr val="1C7293"/>
            </a:solidFill>
            <a:prstDash val="solid"/>
          </a:ln>
        </p:spPr>
      </p:sp>
      <p:sp>
        <p:nvSpPr>
          <p:cNvPr id="8" name="Text 6"/>
          <p:cNvSpPr/>
          <p:nvPr/>
        </p:nvSpPr>
        <p:spPr>
          <a:xfrm>
            <a:off x="548640" y="1325880"/>
            <a:ext cx="3703320" cy="347472"/>
          </a:xfrm>
          <a:prstGeom prst="rect">
            <a:avLst/>
          </a:prstGeom>
          <a:noFill/>
          <a:ln/>
        </p:spPr>
        <p:txBody>
          <a:bodyPr wrap="square" lIns="0" tIns="0" rIns="0" bIns="0" rtlCol="0" anchor="ctr"/>
          <a:lstStyle/>
          <a:p>
            <a:pPr indent="0" marL="0">
              <a:buNone/>
            </a:pPr>
            <a:r>
              <a:rPr lang="en-US" sz="1100" b="1" dirty="0">
                <a:solidFill>
                  <a:srgbClr val="FFFFFF"/>
                </a:solidFill>
              </a:rPr>
              <a:t>  Open-Meteo Weather Forecast API</a:t>
            </a:r>
            <a:endParaRPr lang="en-US" sz="1100" dirty="0"/>
          </a:p>
        </p:txBody>
      </p:sp>
      <p:pic>
        <p:nvPicPr>
          <p:cNvPr id="9" name="Image 0" descr="preencoded.png">    </p:cNvPr>
          <p:cNvPicPr>
            <a:picLocks noChangeAspect="1"/>
          </p:cNvPicPr>
          <p:nvPr/>
        </p:nvPicPr>
        <p:blipFill>
          <a:blip r:embed="rId1"/>
          <a:stretch>
            <a:fillRect/>
          </a:stretch>
        </p:blipFill>
        <p:spPr>
          <a:xfrm>
            <a:off x="530352" y="1417320"/>
            <a:ext cx="347472" cy="201168"/>
          </a:xfrm>
          <a:prstGeom prst="rect">
            <a:avLst/>
          </a:prstGeom>
        </p:spPr>
      </p:pic>
      <p:sp>
        <p:nvSpPr>
          <p:cNvPr id="10" name="Text 7"/>
          <p:cNvSpPr/>
          <p:nvPr/>
        </p:nvSpPr>
        <p:spPr>
          <a:xfrm>
            <a:off x="566928" y="1783080"/>
            <a:ext cx="1005840" cy="329184"/>
          </a:xfrm>
          <a:prstGeom prst="rect">
            <a:avLst/>
          </a:prstGeom>
          <a:noFill/>
          <a:ln/>
        </p:spPr>
        <p:txBody>
          <a:bodyPr wrap="square" lIns="0" tIns="0" rIns="0" bIns="0" rtlCol="0" anchor="ctr"/>
          <a:lstStyle/>
          <a:p>
            <a:pPr indent="0" marL="0">
              <a:buNone/>
            </a:pPr>
            <a:r>
              <a:rPr lang="en-US" sz="1050" b="1" dirty="0">
                <a:solidFill>
                  <a:srgbClr val="1C7293"/>
                </a:solidFill>
              </a:rPr>
              <a:t>Endpoint:</a:t>
            </a:r>
            <a:endParaRPr lang="en-US" sz="1050" dirty="0"/>
          </a:p>
        </p:txBody>
      </p:sp>
      <p:sp>
        <p:nvSpPr>
          <p:cNvPr id="11" name="Text 8"/>
          <p:cNvSpPr/>
          <p:nvPr/>
        </p:nvSpPr>
        <p:spPr>
          <a:xfrm>
            <a:off x="1572768" y="1783080"/>
            <a:ext cx="2651760" cy="329184"/>
          </a:xfrm>
          <a:prstGeom prst="rect">
            <a:avLst/>
          </a:prstGeom>
          <a:noFill/>
          <a:ln/>
        </p:spPr>
        <p:txBody>
          <a:bodyPr wrap="square" lIns="0" tIns="0" rIns="0" bIns="0" rtlCol="0" anchor="ctr"/>
          <a:lstStyle/>
          <a:p>
            <a:pPr indent="0" marL="0">
              <a:buNone/>
            </a:pPr>
            <a:r>
              <a:rPr lang="en-US" sz="1050" dirty="0">
                <a:solidFill>
                  <a:srgbClr val="0D2B3E"/>
                </a:solidFill>
              </a:rPr>
              <a:t>api.open-meteo.com/v1/forecast</a:t>
            </a:r>
            <a:endParaRPr lang="en-US" sz="1050" dirty="0"/>
          </a:p>
        </p:txBody>
      </p:sp>
      <p:sp>
        <p:nvSpPr>
          <p:cNvPr id="12" name="Text 9"/>
          <p:cNvSpPr/>
          <p:nvPr/>
        </p:nvSpPr>
        <p:spPr>
          <a:xfrm>
            <a:off x="566928" y="2130552"/>
            <a:ext cx="1005840" cy="329184"/>
          </a:xfrm>
          <a:prstGeom prst="rect">
            <a:avLst/>
          </a:prstGeom>
          <a:noFill/>
          <a:ln/>
        </p:spPr>
        <p:txBody>
          <a:bodyPr wrap="square" lIns="0" tIns="0" rIns="0" bIns="0" rtlCol="0" anchor="ctr"/>
          <a:lstStyle/>
          <a:p>
            <a:pPr indent="0" marL="0">
              <a:buNone/>
            </a:pPr>
            <a:r>
              <a:rPr lang="en-US" sz="1050" b="1" dirty="0">
                <a:solidFill>
                  <a:srgbClr val="1C7293"/>
                </a:solidFill>
              </a:rPr>
              <a:t>Horizon:</a:t>
            </a:r>
            <a:endParaRPr lang="en-US" sz="1050" dirty="0"/>
          </a:p>
        </p:txBody>
      </p:sp>
      <p:sp>
        <p:nvSpPr>
          <p:cNvPr id="13" name="Text 10"/>
          <p:cNvSpPr/>
          <p:nvPr/>
        </p:nvSpPr>
        <p:spPr>
          <a:xfrm>
            <a:off x="1572768" y="2130552"/>
            <a:ext cx="2651760" cy="329184"/>
          </a:xfrm>
          <a:prstGeom prst="rect">
            <a:avLst/>
          </a:prstGeom>
          <a:noFill/>
          <a:ln/>
        </p:spPr>
        <p:txBody>
          <a:bodyPr wrap="square" lIns="0" tIns="0" rIns="0" bIns="0" rtlCol="0" anchor="ctr"/>
          <a:lstStyle/>
          <a:p>
            <a:pPr indent="0" marL="0">
              <a:buNone/>
            </a:pPr>
            <a:r>
              <a:rPr lang="en-US" sz="1050" dirty="0">
                <a:solidFill>
                  <a:srgbClr val="0D2B3E"/>
                </a:solidFill>
              </a:rPr>
              <a:t>7 days, hourly → aggregated daily</a:t>
            </a:r>
            <a:endParaRPr lang="en-US" sz="1050" dirty="0"/>
          </a:p>
        </p:txBody>
      </p:sp>
      <p:sp>
        <p:nvSpPr>
          <p:cNvPr id="14" name="Text 11"/>
          <p:cNvSpPr/>
          <p:nvPr/>
        </p:nvSpPr>
        <p:spPr>
          <a:xfrm>
            <a:off x="566928" y="2478024"/>
            <a:ext cx="1005840" cy="329184"/>
          </a:xfrm>
          <a:prstGeom prst="rect">
            <a:avLst/>
          </a:prstGeom>
          <a:noFill/>
          <a:ln/>
        </p:spPr>
        <p:txBody>
          <a:bodyPr wrap="square" lIns="0" tIns="0" rIns="0" bIns="0" rtlCol="0" anchor="ctr"/>
          <a:lstStyle/>
          <a:p>
            <a:pPr indent="0" marL="0">
              <a:buNone/>
            </a:pPr>
            <a:r>
              <a:rPr lang="en-US" sz="1050" b="1" dirty="0">
                <a:solidFill>
                  <a:srgbClr val="1C7293"/>
                </a:solidFill>
              </a:rPr>
              <a:t>Fields:</a:t>
            </a:r>
            <a:endParaRPr lang="en-US" sz="1050" dirty="0"/>
          </a:p>
        </p:txBody>
      </p:sp>
      <p:sp>
        <p:nvSpPr>
          <p:cNvPr id="15" name="Text 12"/>
          <p:cNvSpPr/>
          <p:nvPr/>
        </p:nvSpPr>
        <p:spPr>
          <a:xfrm>
            <a:off x="1572768" y="2478024"/>
            <a:ext cx="2651760" cy="329184"/>
          </a:xfrm>
          <a:prstGeom prst="rect">
            <a:avLst/>
          </a:prstGeom>
          <a:noFill/>
          <a:ln/>
        </p:spPr>
        <p:txBody>
          <a:bodyPr wrap="square" lIns="0" tIns="0" rIns="0" bIns="0" rtlCol="0" anchor="ctr"/>
          <a:lstStyle/>
          <a:p>
            <a:pPr indent="0" marL="0">
              <a:buNone/>
            </a:pPr>
            <a:r>
              <a:rPr lang="en-US" sz="1050" dirty="0">
                <a:solidFill>
                  <a:srgbClr val="0D2B3E"/>
                </a:solidFill>
              </a:rPr>
              <a:t>Temperature · Wind · Precipitation</a:t>
            </a:r>
            <a:endParaRPr lang="en-US" sz="1050" dirty="0"/>
          </a:p>
        </p:txBody>
      </p:sp>
      <p:sp>
        <p:nvSpPr>
          <p:cNvPr id="16" name="Text 13"/>
          <p:cNvSpPr/>
          <p:nvPr/>
        </p:nvSpPr>
        <p:spPr>
          <a:xfrm>
            <a:off x="685800" y="2825496"/>
            <a:ext cx="2651760" cy="329184"/>
          </a:xfrm>
          <a:prstGeom prst="rect">
            <a:avLst/>
          </a:prstGeom>
          <a:noFill/>
          <a:ln/>
        </p:spPr>
        <p:txBody>
          <a:bodyPr wrap="square" lIns="0" tIns="0" rIns="0" bIns="0" rtlCol="0" anchor="ctr"/>
          <a:lstStyle/>
          <a:p>
            <a:pPr indent="0" marL="0">
              <a:buNone/>
            </a:pPr>
            <a:r>
              <a:rPr lang="en-US" sz="1050" dirty="0">
                <a:solidFill>
                  <a:srgbClr val="0D2B3E"/>
                </a:solidFill>
              </a:rPr>
              <a:t>Pressure · WMO Weather Code</a:t>
            </a:r>
            <a:endParaRPr lang="en-US" sz="1050" dirty="0"/>
          </a:p>
        </p:txBody>
      </p:sp>
      <p:sp>
        <p:nvSpPr>
          <p:cNvPr id="17" name="Text 14"/>
          <p:cNvSpPr/>
          <p:nvPr/>
        </p:nvSpPr>
        <p:spPr>
          <a:xfrm>
            <a:off x="566928" y="3172968"/>
            <a:ext cx="1005840" cy="329184"/>
          </a:xfrm>
          <a:prstGeom prst="rect">
            <a:avLst/>
          </a:prstGeom>
          <a:noFill/>
          <a:ln/>
        </p:spPr>
        <p:txBody>
          <a:bodyPr wrap="square" lIns="0" tIns="0" rIns="0" bIns="0" rtlCol="0" anchor="ctr"/>
          <a:lstStyle/>
          <a:p>
            <a:pPr indent="0" marL="0">
              <a:buNone/>
            </a:pPr>
            <a:r>
              <a:rPr lang="en-US" sz="1050" b="1" dirty="0">
                <a:solidFill>
                  <a:srgbClr val="1C7293"/>
                </a:solidFill>
              </a:rPr>
              <a:t>Locations:</a:t>
            </a:r>
            <a:endParaRPr lang="en-US" sz="1050" dirty="0"/>
          </a:p>
        </p:txBody>
      </p:sp>
      <p:sp>
        <p:nvSpPr>
          <p:cNvPr id="18" name="Text 15"/>
          <p:cNvSpPr/>
          <p:nvPr/>
        </p:nvSpPr>
        <p:spPr>
          <a:xfrm>
            <a:off x="1572768" y="3172968"/>
            <a:ext cx="2651760" cy="329184"/>
          </a:xfrm>
          <a:prstGeom prst="rect">
            <a:avLst/>
          </a:prstGeom>
          <a:noFill/>
          <a:ln/>
        </p:spPr>
        <p:txBody>
          <a:bodyPr wrap="square" lIns="0" tIns="0" rIns="0" bIns="0" rtlCol="0" anchor="ctr"/>
          <a:lstStyle/>
          <a:p>
            <a:pPr indent="0" marL="0">
              <a:buNone/>
            </a:pPr>
            <a:r>
              <a:rPr lang="en-US" sz="1050" dirty="0">
                <a:solidFill>
                  <a:srgbClr val="0D2B3E"/>
                </a:solidFill>
              </a:rPr>
              <a:t>6 Louisville-area GPS coordinates</a:t>
            </a:r>
            <a:endParaRPr lang="en-US" sz="1050" dirty="0"/>
          </a:p>
        </p:txBody>
      </p:sp>
      <p:sp>
        <p:nvSpPr>
          <p:cNvPr id="19" name="Text 16"/>
          <p:cNvSpPr/>
          <p:nvPr/>
        </p:nvSpPr>
        <p:spPr>
          <a:xfrm>
            <a:off x="566928" y="3520440"/>
            <a:ext cx="1005840" cy="329184"/>
          </a:xfrm>
          <a:prstGeom prst="rect">
            <a:avLst/>
          </a:prstGeom>
          <a:noFill/>
          <a:ln/>
        </p:spPr>
        <p:txBody>
          <a:bodyPr wrap="square" lIns="0" tIns="0" rIns="0" bIns="0" rtlCol="0" anchor="ctr"/>
          <a:lstStyle/>
          <a:p>
            <a:pPr indent="0" marL="0">
              <a:buNone/>
            </a:pPr>
            <a:r>
              <a:rPr lang="en-US" sz="1050" b="1" dirty="0">
                <a:solidFill>
                  <a:srgbClr val="1C7293"/>
                </a:solidFill>
              </a:rPr>
              <a:t>Cost:</a:t>
            </a:r>
            <a:endParaRPr lang="en-US" sz="1050" dirty="0"/>
          </a:p>
        </p:txBody>
      </p:sp>
      <p:sp>
        <p:nvSpPr>
          <p:cNvPr id="20" name="Text 17"/>
          <p:cNvSpPr/>
          <p:nvPr/>
        </p:nvSpPr>
        <p:spPr>
          <a:xfrm>
            <a:off x="1572768" y="3520440"/>
            <a:ext cx="2651760" cy="329184"/>
          </a:xfrm>
          <a:prstGeom prst="rect">
            <a:avLst/>
          </a:prstGeom>
          <a:noFill/>
          <a:ln/>
        </p:spPr>
        <p:txBody>
          <a:bodyPr wrap="square" lIns="0" tIns="0" rIns="0" bIns="0" rtlCol="0" anchor="ctr"/>
          <a:lstStyle/>
          <a:p>
            <a:pPr indent="0" marL="0">
              <a:buNone/>
            </a:pPr>
            <a:r>
              <a:rPr lang="en-US" sz="1050" dirty="0">
                <a:solidFill>
                  <a:srgbClr val="0D2B3E"/>
                </a:solidFill>
              </a:rPr>
              <a:t>Free, open-source (CC BY 4.0)</a:t>
            </a:r>
            <a:endParaRPr lang="en-US" sz="1050" dirty="0"/>
          </a:p>
        </p:txBody>
      </p:sp>
      <p:sp>
        <p:nvSpPr>
          <p:cNvPr id="21" name="Shape 18"/>
          <p:cNvSpPr/>
          <p:nvPr/>
        </p:nvSpPr>
        <p:spPr>
          <a:xfrm>
            <a:off x="4754880" y="1325880"/>
            <a:ext cx="3977640" cy="3429000"/>
          </a:xfrm>
          <a:prstGeom prst="roundRect">
            <a:avLst>
              <a:gd name="adj" fmla="val 3200"/>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22" name="Shape 19"/>
          <p:cNvSpPr/>
          <p:nvPr/>
        </p:nvSpPr>
        <p:spPr>
          <a:xfrm>
            <a:off x="4754880" y="1325880"/>
            <a:ext cx="3977640" cy="347472"/>
          </a:xfrm>
          <a:prstGeom prst="roundRect">
            <a:avLst>
              <a:gd name="adj" fmla="val 31579"/>
            </a:avLst>
          </a:prstGeom>
          <a:solidFill>
            <a:srgbClr val="1C7293"/>
          </a:solidFill>
          <a:ln w="12700">
            <a:solidFill>
              <a:srgbClr val="1C7293"/>
            </a:solidFill>
            <a:prstDash val="solid"/>
          </a:ln>
        </p:spPr>
      </p:sp>
      <p:sp>
        <p:nvSpPr>
          <p:cNvPr id="23" name="Shape 20"/>
          <p:cNvSpPr/>
          <p:nvPr/>
        </p:nvSpPr>
        <p:spPr>
          <a:xfrm>
            <a:off x="4754880" y="1527048"/>
            <a:ext cx="3977640" cy="146304"/>
          </a:xfrm>
          <a:prstGeom prst="rect">
            <a:avLst/>
          </a:prstGeom>
          <a:solidFill>
            <a:srgbClr val="1C7293"/>
          </a:solidFill>
          <a:ln w="12700">
            <a:solidFill>
              <a:srgbClr val="1C7293"/>
            </a:solidFill>
            <a:prstDash val="solid"/>
          </a:ln>
        </p:spPr>
      </p:sp>
      <p:sp>
        <p:nvSpPr>
          <p:cNvPr id="24" name="Text 21"/>
          <p:cNvSpPr/>
          <p:nvPr/>
        </p:nvSpPr>
        <p:spPr>
          <a:xfrm>
            <a:off x="4892040" y="1325880"/>
            <a:ext cx="3703320" cy="347472"/>
          </a:xfrm>
          <a:prstGeom prst="rect">
            <a:avLst/>
          </a:prstGeom>
          <a:noFill/>
          <a:ln/>
        </p:spPr>
        <p:txBody>
          <a:bodyPr wrap="square" lIns="0" tIns="0" rIns="0" bIns="0" rtlCol="0" anchor="ctr"/>
          <a:lstStyle/>
          <a:p>
            <a:pPr indent="0" marL="0">
              <a:buNone/>
            </a:pPr>
            <a:r>
              <a:rPr lang="en-US" sz="1100" b="1" dirty="0">
                <a:solidFill>
                  <a:srgbClr val="FFFFFF"/>
                </a:solidFill>
              </a:rPr>
              <a:t>  Open-Meteo Flood API</a:t>
            </a:r>
            <a:endParaRPr lang="en-US" sz="1100" dirty="0"/>
          </a:p>
        </p:txBody>
      </p:sp>
      <p:pic>
        <p:nvPicPr>
          <p:cNvPr id="25" name="Image 1" descr="preencoded.png">    </p:cNvPr>
          <p:cNvPicPr>
            <a:picLocks noChangeAspect="1"/>
          </p:cNvPicPr>
          <p:nvPr/>
        </p:nvPicPr>
        <p:blipFill>
          <a:blip r:embed="rId2"/>
          <a:stretch>
            <a:fillRect/>
          </a:stretch>
        </p:blipFill>
        <p:spPr>
          <a:xfrm>
            <a:off x="4864608" y="1417320"/>
            <a:ext cx="347472" cy="201168"/>
          </a:xfrm>
          <a:prstGeom prst="rect">
            <a:avLst/>
          </a:prstGeom>
        </p:spPr>
      </p:pic>
      <p:sp>
        <p:nvSpPr>
          <p:cNvPr id="26" name="Text 22"/>
          <p:cNvSpPr/>
          <p:nvPr/>
        </p:nvSpPr>
        <p:spPr>
          <a:xfrm>
            <a:off x="4901184" y="1783080"/>
            <a:ext cx="1005840" cy="329184"/>
          </a:xfrm>
          <a:prstGeom prst="rect">
            <a:avLst/>
          </a:prstGeom>
          <a:noFill/>
          <a:ln/>
        </p:spPr>
        <p:txBody>
          <a:bodyPr wrap="square" lIns="0" tIns="0" rIns="0" bIns="0" rtlCol="0" anchor="ctr"/>
          <a:lstStyle/>
          <a:p>
            <a:pPr indent="0" marL="0">
              <a:buNone/>
            </a:pPr>
            <a:r>
              <a:rPr lang="en-US" sz="1050" b="1" dirty="0">
                <a:solidFill>
                  <a:srgbClr val="1C7293"/>
                </a:solidFill>
              </a:rPr>
              <a:t>Endpoint:</a:t>
            </a:r>
            <a:endParaRPr lang="en-US" sz="1050" dirty="0"/>
          </a:p>
        </p:txBody>
      </p:sp>
      <p:sp>
        <p:nvSpPr>
          <p:cNvPr id="27" name="Text 23"/>
          <p:cNvSpPr/>
          <p:nvPr/>
        </p:nvSpPr>
        <p:spPr>
          <a:xfrm>
            <a:off x="5897880" y="1783080"/>
            <a:ext cx="2697480" cy="329184"/>
          </a:xfrm>
          <a:prstGeom prst="rect">
            <a:avLst/>
          </a:prstGeom>
          <a:noFill/>
          <a:ln/>
        </p:spPr>
        <p:txBody>
          <a:bodyPr wrap="square" lIns="0" tIns="0" rIns="0" bIns="0" rtlCol="0" anchor="ctr"/>
          <a:lstStyle/>
          <a:p>
            <a:pPr indent="0" marL="0">
              <a:buNone/>
            </a:pPr>
            <a:r>
              <a:rPr lang="en-US" sz="1050" dirty="0">
                <a:solidFill>
                  <a:srgbClr val="0D2B3E"/>
                </a:solidFill>
              </a:rPr>
              <a:t>flood-api.open-meteo.com/v1/flood</a:t>
            </a:r>
            <a:endParaRPr lang="en-US" sz="1050" dirty="0"/>
          </a:p>
        </p:txBody>
      </p:sp>
      <p:sp>
        <p:nvSpPr>
          <p:cNvPr id="28" name="Text 24"/>
          <p:cNvSpPr/>
          <p:nvPr/>
        </p:nvSpPr>
        <p:spPr>
          <a:xfrm>
            <a:off x="4901184" y="2130552"/>
            <a:ext cx="1005840" cy="329184"/>
          </a:xfrm>
          <a:prstGeom prst="rect">
            <a:avLst/>
          </a:prstGeom>
          <a:noFill/>
          <a:ln/>
        </p:spPr>
        <p:txBody>
          <a:bodyPr wrap="square" lIns="0" tIns="0" rIns="0" bIns="0" rtlCol="0" anchor="ctr"/>
          <a:lstStyle/>
          <a:p>
            <a:pPr indent="0" marL="0">
              <a:buNone/>
            </a:pPr>
            <a:r>
              <a:rPr lang="en-US" sz="1050" b="1" dirty="0">
                <a:solidFill>
                  <a:srgbClr val="1C7293"/>
                </a:solidFill>
              </a:rPr>
              <a:t>Model:</a:t>
            </a:r>
            <a:endParaRPr lang="en-US" sz="1050" dirty="0"/>
          </a:p>
        </p:txBody>
      </p:sp>
      <p:sp>
        <p:nvSpPr>
          <p:cNvPr id="29" name="Text 25"/>
          <p:cNvSpPr/>
          <p:nvPr/>
        </p:nvSpPr>
        <p:spPr>
          <a:xfrm>
            <a:off x="5897880" y="2130552"/>
            <a:ext cx="2697480" cy="329184"/>
          </a:xfrm>
          <a:prstGeom prst="rect">
            <a:avLst/>
          </a:prstGeom>
          <a:noFill/>
          <a:ln/>
        </p:spPr>
        <p:txBody>
          <a:bodyPr wrap="square" lIns="0" tIns="0" rIns="0" bIns="0" rtlCol="0" anchor="ctr"/>
          <a:lstStyle/>
          <a:p>
            <a:pPr indent="0" marL="0">
              <a:buNone/>
            </a:pPr>
            <a:r>
              <a:rPr lang="en-US" sz="1050" dirty="0">
                <a:solidFill>
                  <a:srgbClr val="0D2B3E"/>
                </a:solidFill>
              </a:rPr>
              <a:t>GloFAS global reanalysis</a:t>
            </a:r>
            <a:endParaRPr lang="en-US" sz="1050" dirty="0"/>
          </a:p>
        </p:txBody>
      </p:sp>
      <p:sp>
        <p:nvSpPr>
          <p:cNvPr id="30" name="Text 26"/>
          <p:cNvSpPr/>
          <p:nvPr/>
        </p:nvSpPr>
        <p:spPr>
          <a:xfrm>
            <a:off x="4901184" y="2478024"/>
            <a:ext cx="1005840" cy="329184"/>
          </a:xfrm>
          <a:prstGeom prst="rect">
            <a:avLst/>
          </a:prstGeom>
          <a:noFill/>
          <a:ln/>
        </p:spPr>
        <p:txBody>
          <a:bodyPr wrap="square" lIns="0" tIns="0" rIns="0" bIns="0" rtlCol="0" anchor="ctr"/>
          <a:lstStyle/>
          <a:p>
            <a:pPr indent="0" marL="0">
              <a:buNone/>
            </a:pPr>
            <a:r>
              <a:rPr lang="en-US" sz="1050" b="1" dirty="0">
                <a:solidFill>
                  <a:srgbClr val="1C7293"/>
                </a:solidFill>
              </a:rPr>
              <a:t>Fields:</a:t>
            </a:r>
            <a:endParaRPr lang="en-US" sz="1050" dirty="0"/>
          </a:p>
        </p:txBody>
      </p:sp>
      <p:sp>
        <p:nvSpPr>
          <p:cNvPr id="31" name="Text 27"/>
          <p:cNvSpPr/>
          <p:nvPr/>
        </p:nvSpPr>
        <p:spPr>
          <a:xfrm>
            <a:off x="5897880" y="2478024"/>
            <a:ext cx="2697480" cy="329184"/>
          </a:xfrm>
          <a:prstGeom prst="rect">
            <a:avLst/>
          </a:prstGeom>
          <a:noFill/>
          <a:ln/>
        </p:spPr>
        <p:txBody>
          <a:bodyPr wrap="square" lIns="0" tIns="0" rIns="0" bIns="0" rtlCol="0" anchor="ctr"/>
          <a:lstStyle/>
          <a:p>
            <a:pPr indent="0" marL="0">
              <a:buNone/>
            </a:pPr>
            <a:r>
              <a:rPr lang="en-US" sz="1050" dirty="0">
                <a:solidFill>
                  <a:srgbClr val="0D2B3E"/>
                </a:solidFill>
              </a:rPr>
              <a:t>River discharge (m³/s)</a:t>
            </a:r>
            <a:endParaRPr lang="en-US" sz="1050" dirty="0"/>
          </a:p>
        </p:txBody>
      </p:sp>
      <p:sp>
        <p:nvSpPr>
          <p:cNvPr id="32" name="Text 28"/>
          <p:cNvSpPr/>
          <p:nvPr/>
        </p:nvSpPr>
        <p:spPr>
          <a:xfrm>
            <a:off x="4901184" y="2825496"/>
            <a:ext cx="1005840" cy="329184"/>
          </a:xfrm>
          <a:prstGeom prst="rect">
            <a:avLst/>
          </a:prstGeom>
          <a:noFill/>
          <a:ln/>
        </p:spPr>
        <p:txBody>
          <a:bodyPr wrap="square" lIns="0" tIns="0" rIns="0" bIns="0" rtlCol="0" anchor="ctr"/>
          <a:lstStyle/>
          <a:p>
            <a:pPr indent="0" marL="0">
              <a:buNone/>
            </a:pPr>
            <a:r>
              <a:rPr lang="en-US" sz="1050" b="1" dirty="0">
                <a:solidFill>
                  <a:srgbClr val="1C7293"/>
                </a:solidFill>
              </a:rPr>
              <a:t>Derived:</a:t>
            </a:r>
            <a:endParaRPr lang="en-US" sz="1050" dirty="0"/>
          </a:p>
        </p:txBody>
      </p:sp>
      <p:sp>
        <p:nvSpPr>
          <p:cNvPr id="33" name="Text 29"/>
          <p:cNvSpPr/>
          <p:nvPr/>
        </p:nvSpPr>
        <p:spPr>
          <a:xfrm>
            <a:off x="5897880" y="2825496"/>
            <a:ext cx="2697480" cy="329184"/>
          </a:xfrm>
          <a:prstGeom prst="rect">
            <a:avLst/>
          </a:prstGeom>
          <a:noFill/>
          <a:ln/>
        </p:spPr>
        <p:txBody>
          <a:bodyPr wrap="square" lIns="0" tIns="0" rIns="0" bIns="0" rtlCol="0" anchor="ctr"/>
          <a:lstStyle/>
          <a:p>
            <a:pPr indent="0" marL="0">
              <a:buNone/>
            </a:pPr>
            <a:r>
              <a:rPr lang="en-US" sz="1050" dirty="0">
                <a:solidFill>
                  <a:srgbClr val="0D2B3E"/>
                </a:solidFill>
              </a:rPr>
              <a:t>flow_category:</a:t>
            </a:r>
            <a:endParaRPr lang="en-US" sz="1050" dirty="0"/>
          </a:p>
        </p:txBody>
      </p:sp>
      <p:sp>
        <p:nvSpPr>
          <p:cNvPr id="34" name="Text 30"/>
          <p:cNvSpPr/>
          <p:nvPr/>
        </p:nvSpPr>
        <p:spPr>
          <a:xfrm>
            <a:off x="5029200" y="3172968"/>
            <a:ext cx="2697480" cy="329184"/>
          </a:xfrm>
          <a:prstGeom prst="rect">
            <a:avLst/>
          </a:prstGeom>
          <a:noFill/>
          <a:ln/>
        </p:spPr>
        <p:txBody>
          <a:bodyPr wrap="square" lIns="0" tIns="0" rIns="0" bIns="0" rtlCol="0" anchor="ctr"/>
          <a:lstStyle/>
          <a:p>
            <a:pPr indent="0" marL="0">
              <a:buNone/>
            </a:pPr>
            <a:r>
              <a:rPr lang="en-US" sz="1050" dirty="0">
                <a:solidFill>
                  <a:srgbClr val="0D2B3E"/>
                </a:solidFill>
              </a:rPr>
              <a:t>Low / Normal / High / Unknown</a:t>
            </a:r>
            <a:endParaRPr lang="en-US" sz="1050" dirty="0"/>
          </a:p>
        </p:txBody>
      </p:sp>
      <p:sp>
        <p:nvSpPr>
          <p:cNvPr id="35" name="Text 31"/>
          <p:cNvSpPr/>
          <p:nvPr/>
        </p:nvSpPr>
        <p:spPr>
          <a:xfrm>
            <a:off x="4901184" y="3520440"/>
            <a:ext cx="1005840" cy="329184"/>
          </a:xfrm>
          <a:prstGeom prst="rect">
            <a:avLst/>
          </a:prstGeom>
          <a:noFill/>
          <a:ln/>
        </p:spPr>
        <p:txBody>
          <a:bodyPr wrap="square" lIns="0" tIns="0" rIns="0" bIns="0" rtlCol="0" anchor="ctr"/>
          <a:lstStyle/>
          <a:p>
            <a:pPr indent="0" marL="0">
              <a:buNone/>
            </a:pPr>
            <a:r>
              <a:rPr lang="en-US" sz="1050" b="1" dirty="0">
                <a:solidFill>
                  <a:srgbClr val="1C7293"/>
                </a:solidFill>
              </a:rPr>
              <a:t>Cost:</a:t>
            </a:r>
            <a:endParaRPr lang="en-US" sz="1050" dirty="0"/>
          </a:p>
        </p:txBody>
      </p:sp>
      <p:sp>
        <p:nvSpPr>
          <p:cNvPr id="36" name="Text 32"/>
          <p:cNvSpPr/>
          <p:nvPr/>
        </p:nvSpPr>
        <p:spPr>
          <a:xfrm>
            <a:off x="5897880" y="3520440"/>
            <a:ext cx="2697480" cy="329184"/>
          </a:xfrm>
          <a:prstGeom prst="rect">
            <a:avLst/>
          </a:prstGeom>
          <a:noFill/>
          <a:ln/>
        </p:spPr>
        <p:txBody>
          <a:bodyPr wrap="square" lIns="0" tIns="0" rIns="0" bIns="0" rtlCol="0" anchor="ctr"/>
          <a:lstStyle/>
          <a:p>
            <a:pPr indent="0" marL="0">
              <a:buNone/>
            </a:pPr>
            <a:r>
              <a:rPr lang="en-US" sz="1050" dirty="0">
                <a:solidFill>
                  <a:srgbClr val="0D2B3E"/>
                </a:solidFill>
              </a:rPr>
              <a:t>Free, open-source (CC BY 4.0)</a:t>
            </a:r>
            <a:endParaRPr lang="en-US" sz="1050" dirty="0"/>
          </a:p>
        </p:txBody>
      </p:sp>
      <p:sp>
        <p:nvSpPr>
          <p:cNvPr id="37" name="Shape 33"/>
          <p:cNvSpPr/>
          <p:nvPr/>
        </p:nvSpPr>
        <p:spPr>
          <a:xfrm>
            <a:off x="411480" y="4828032"/>
            <a:ext cx="8321040" cy="219456"/>
          </a:xfrm>
          <a:prstGeom prst="roundRect">
            <a:avLst>
              <a:gd name="adj" fmla="val 25000"/>
            </a:avLst>
          </a:prstGeom>
          <a:solidFill>
            <a:srgbClr val="21C0A0">
              <a:alpha val="30000"/>
            </a:srgbClr>
          </a:solidFill>
          <a:ln w="12700">
            <a:solidFill>
              <a:srgbClr val="21C0A0"/>
            </a:solidFill>
            <a:prstDash val="solid"/>
          </a:ln>
        </p:spPr>
      </p:sp>
      <p:sp>
        <p:nvSpPr>
          <p:cNvPr id="38" name="Text 34"/>
          <p:cNvSpPr/>
          <p:nvPr/>
        </p:nvSpPr>
        <p:spPr>
          <a:xfrm>
            <a:off x="502920" y="4828032"/>
            <a:ext cx="8138160" cy="219456"/>
          </a:xfrm>
          <a:prstGeom prst="rect">
            <a:avLst/>
          </a:prstGeom>
          <a:noFill/>
          <a:ln/>
        </p:spPr>
        <p:txBody>
          <a:bodyPr wrap="square" lIns="0" tIns="0" rIns="0" bIns="0" rtlCol="0" anchor="ctr"/>
          <a:lstStyle/>
          <a:p>
            <a:pPr algn="ctr" indent="0" marL="0">
              <a:buNone/>
            </a:pPr>
            <a:r>
              <a:rPr lang="en-US" sz="900" dirty="0">
                <a:solidFill>
                  <a:srgbClr val="065A82"/>
                </a:solidFill>
              </a:rPr>
              <a:t>Six locations: McAlpine Locks &amp; Dam  ·  Cox Park Boat Ramp  ·  Taylorsville Lake  ·  Otter Creek Recreation  ·  Harrods Creek  ·  Caperton Swamp</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502920" y="347472"/>
            <a:ext cx="2011680" cy="292608"/>
          </a:xfrm>
          <a:prstGeom prst="roundRect">
            <a:avLst>
              <a:gd name="adj" fmla="val 25000"/>
            </a:avLst>
          </a:prstGeom>
          <a:solidFill>
            <a:srgbClr val="21C0A0"/>
          </a:solidFill>
          <a:ln w="12700">
            <a:solidFill>
              <a:srgbClr val="21C0A0"/>
            </a:solidFill>
            <a:prstDash val="solid"/>
          </a:ln>
        </p:spPr>
      </p:sp>
      <p:sp>
        <p:nvSpPr>
          <p:cNvPr id="3" name="Text 1"/>
          <p:cNvSpPr/>
          <p:nvPr/>
        </p:nvSpPr>
        <p:spPr>
          <a:xfrm>
            <a:off x="502920" y="347472"/>
            <a:ext cx="2011680" cy="292608"/>
          </a:xfrm>
          <a:prstGeom prst="rect">
            <a:avLst/>
          </a:prstGeom>
          <a:noFill/>
          <a:ln/>
        </p:spPr>
        <p:txBody>
          <a:bodyPr wrap="square" lIns="0" tIns="0" rIns="0" bIns="0" rtlCol="0" anchor="ctr"/>
          <a:lstStyle/>
          <a:p>
            <a:pPr algn="ctr" indent="0" marL="0">
              <a:buNone/>
            </a:pPr>
            <a:r>
              <a:rPr lang="en-US" sz="900" b="1" dirty="0">
                <a:solidFill>
                  <a:srgbClr val="0D2B3E"/>
                </a:solidFill>
              </a:rPr>
              <a:t>PIPELINE ARCHITECTURE</a:t>
            </a:r>
            <a:endParaRPr lang="en-US" sz="900" dirty="0"/>
          </a:p>
        </p:txBody>
      </p:sp>
      <p:sp>
        <p:nvSpPr>
          <p:cNvPr id="4" name="Text 2"/>
          <p:cNvSpPr/>
          <p:nvPr/>
        </p:nvSpPr>
        <p:spPr>
          <a:xfrm>
            <a:off x="502920" y="658368"/>
            <a:ext cx="8046720" cy="54864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Four-Stage ETL Pipeline</a:t>
            </a:r>
            <a:endParaRPr lang="en-US" sz="3200" dirty="0"/>
          </a:p>
        </p:txBody>
      </p:sp>
      <p:sp>
        <p:nvSpPr>
          <p:cNvPr id="5" name="Shape 3"/>
          <p:cNvSpPr/>
          <p:nvPr/>
        </p:nvSpPr>
        <p:spPr>
          <a:xfrm>
            <a:off x="320040" y="1389888"/>
            <a:ext cx="2057400" cy="3429000"/>
          </a:xfrm>
          <a:prstGeom prst="roundRect">
            <a:avLst>
              <a:gd name="adj" fmla="val 5333"/>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6" name="Shape 4"/>
          <p:cNvSpPr/>
          <p:nvPr/>
        </p:nvSpPr>
        <p:spPr>
          <a:xfrm>
            <a:off x="1097280" y="1463040"/>
            <a:ext cx="502920" cy="502920"/>
          </a:xfrm>
          <a:prstGeom prst="ellipse">
            <a:avLst/>
          </a:prstGeom>
          <a:solidFill>
            <a:srgbClr val="21C0A0"/>
          </a:solidFill>
          <a:ln w="12700">
            <a:solidFill>
              <a:srgbClr val="21C0A0"/>
            </a:solidFill>
            <a:prstDash val="solid"/>
          </a:ln>
        </p:spPr>
      </p:sp>
      <p:sp>
        <p:nvSpPr>
          <p:cNvPr id="7" name="Text 5"/>
          <p:cNvSpPr/>
          <p:nvPr/>
        </p:nvSpPr>
        <p:spPr>
          <a:xfrm>
            <a:off x="1097280" y="1463040"/>
            <a:ext cx="502920" cy="502920"/>
          </a:xfrm>
          <a:prstGeom prst="rect">
            <a:avLst/>
          </a:prstGeom>
          <a:noFill/>
          <a:ln/>
        </p:spPr>
        <p:txBody>
          <a:bodyPr wrap="square" lIns="0" tIns="0" rIns="0" bIns="0" rtlCol="0" anchor="ctr"/>
          <a:lstStyle/>
          <a:p>
            <a:pPr algn="ctr" indent="0" marL="0">
              <a:buNone/>
            </a:pPr>
            <a:r>
              <a:rPr lang="en-US" sz="1600" b="1" dirty="0">
                <a:solidFill>
                  <a:srgbClr val="0D2B3E"/>
                </a:solidFill>
              </a:rPr>
              <a:t>1</a:t>
            </a:r>
            <a:endParaRPr lang="en-US" sz="1600" dirty="0"/>
          </a:p>
        </p:txBody>
      </p:sp>
      <p:sp>
        <p:nvSpPr>
          <p:cNvPr id="8" name="Text 6"/>
          <p:cNvSpPr/>
          <p:nvPr/>
        </p:nvSpPr>
        <p:spPr>
          <a:xfrm>
            <a:off x="411480" y="2057400"/>
            <a:ext cx="1874520" cy="384048"/>
          </a:xfrm>
          <a:prstGeom prst="rect">
            <a:avLst/>
          </a:prstGeom>
          <a:noFill/>
          <a:ln/>
        </p:spPr>
        <p:txBody>
          <a:bodyPr wrap="square" lIns="0" tIns="0" rIns="0" bIns="0" rtlCol="0" anchor="ctr"/>
          <a:lstStyle/>
          <a:p>
            <a:pPr algn="ctr" indent="0" marL="0">
              <a:buNone/>
            </a:pPr>
            <a:r>
              <a:rPr lang="en-US" sz="1200" b="1" dirty="0">
                <a:solidFill>
                  <a:srgbClr val="065A82"/>
                </a:solidFill>
              </a:rPr>
              <a:t>Extract + Transform</a:t>
            </a:r>
            <a:endParaRPr lang="en-US" sz="1200" dirty="0"/>
          </a:p>
        </p:txBody>
      </p:sp>
      <p:sp>
        <p:nvSpPr>
          <p:cNvPr id="9" name="Text 7"/>
          <p:cNvSpPr/>
          <p:nvPr/>
        </p:nvSpPr>
        <p:spPr>
          <a:xfrm>
            <a:off x="429768" y="2505456"/>
            <a:ext cx="1828800" cy="384048"/>
          </a:xfrm>
          <a:prstGeom prst="rect">
            <a:avLst/>
          </a:prstGeom>
          <a:noFill/>
          <a:ln/>
        </p:spPr>
        <p:txBody>
          <a:bodyPr wrap="square" lIns="0" tIns="0" rIns="0" bIns="0" rtlCol="0" anchor="ctr"/>
          <a:lstStyle/>
          <a:p>
            <a:r>
              <a:rPr lang="en-US" sz="950" dirty="0">
                <a:solidFill>
                  <a:srgbClr val="0D2B3E"/>
                </a:solidFill>
              </a:rPr>
              <a:t>Open-Meteo API calls (6 locations)</a:t>
            </a:r>
            <a:endParaRPr lang="en-US" sz="950" dirty="0"/>
          </a:p>
        </p:txBody>
      </p:sp>
      <p:sp>
        <p:nvSpPr>
          <p:cNvPr id="10" name="Text 8"/>
          <p:cNvSpPr/>
          <p:nvPr/>
        </p:nvSpPr>
        <p:spPr>
          <a:xfrm>
            <a:off x="429768" y="2907792"/>
            <a:ext cx="1828800" cy="384048"/>
          </a:xfrm>
          <a:prstGeom prst="rect">
            <a:avLst/>
          </a:prstGeom>
          <a:noFill/>
          <a:ln/>
        </p:spPr>
        <p:txBody>
          <a:bodyPr wrap="square" lIns="0" tIns="0" rIns="0" bIns="0" rtlCol="0" anchor="ctr"/>
          <a:lstStyle/>
          <a:p>
            <a:r>
              <a:rPr lang="en-US" sz="950" dirty="0">
                <a:solidFill>
                  <a:srgbClr val="0D2B3E"/>
                </a:solidFill>
              </a:rPr>
              <a:t>Retry logic — 3 attempts, backoff</a:t>
            </a:r>
            <a:endParaRPr lang="en-US" sz="950" dirty="0"/>
          </a:p>
        </p:txBody>
      </p:sp>
      <p:sp>
        <p:nvSpPr>
          <p:cNvPr id="11" name="Text 9"/>
          <p:cNvSpPr/>
          <p:nvPr/>
        </p:nvSpPr>
        <p:spPr>
          <a:xfrm>
            <a:off x="429768" y="3310128"/>
            <a:ext cx="1828800" cy="384048"/>
          </a:xfrm>
          <a:prstGeom prst="rect">
            <a:avLst/>
          </a:prstGeom>
          <a:noFill/>
          <a:ln/>
        </p:spPr>
        <p:txBody>
          <a:bodyPr wrap="square" lIns="0" tIns="0" rIns="0" bIns="0" rtlCol="0" anchor="ctr"/>
          <a:lstStyle/>
          <a:p>
            <a:r>
              <a:rPr lang="en-US" sz="950" dirty="0">
                <a:solidFill>
                  <a:srgbClr val="0D2B3E"/>
                </a:solidFill>
              </a:rPr>
              <a:t>Hourly → daily aggregation</a:t>
            </a:r>
            <a:endParaRPr lang="en-US" sz="950" dirty="0"/>
          </a:p>
        </p:txBody>
      </p:sp>
      <p:sp>
        <p:nvSpPr>
          <p:cNvPr id="12" name="Text 10"/>
          <p:cNvSpPr/>
          <p:nvPr/>
        </p:nvSpPr>
        <p:spPr>
          <a:xfrm>
            <a:off x="429768" y="3712464"/>
            <a:ext cx="1828800" cy="384048"/>
          </a:xfrm>
          <a:prstGeom prst="rect">
            <a:avLst/>
          </a:prstGeom>
          <a:noFill/>
          <a:ln/>
        </p:spPr>
        <p:txBody>
          <a:bodyPr wrap="square" lIns="0" tIns="0" rIns="0" bIns="0" rtlCol="0" anchor="ctr"/>
          <a:lstStyle/>
          <a:p>
            <a:r>
              <a:rPr lang="en-US" sz="950" dirty="0">
                <a:solidFill>
                  <a:srgbClr val="0D2B3E"/>
                </a:solidFill>
              </a:rPr>
              <a:t>Derive flow_category, standardize units</a:t>
            </a:r>
            <a:endParaRPr lang="en-US" sz="950" dirty="0"/>
          </a:p>
        </p:txBody>
      </p:sp>
      <p:sp>
        <p:nvSpPr>
          <p:cNvPr id="13" name="Text 11"/>
          <p:cNvSpPr/>
          <p:nvPr/>
        </p:nvSpPr>
        <p:spPr>
          <a:xfrm>
            <a:off x="429768" y="4114800"/>
            <a:ext cx="1828800" cy="384048"/>
          </a:xfrm>
          <a:prstGeom prst="rect">
            <a:avLst/>
          </a:prstGeom>
          <a:noFill/>
          <a:ln/>
        </p:spPr>
        <p:txBody>
          <a:bodyPr wrap="square" lIns="0" tIns="0" rIns="0" bIns="0" rtlCol="0" anchor="ctr"/>
          <a:lstStyle/>
          <a:p>
            <a:r>
              <a:rPr lang="en-US" sz="950" dirty="0">
                <a:solidFill>
                  <a:srgbClr val="0D2B3E"/>
                </a:solidFill>
              </a:rPr>
              <a:t>Write intermediate CSVs</a:t>
            </a:r>
            <a:endParaRPr lang="en-US" sz="950" dirty="0"/>
          </a:p>
        </p:txBody>
      </p:sp>
      <p:sp>
        <p:nvSpPr>
          <p:cNvPr id="14" name="Shape 12"/>
          <p:cNvSpPr/>
          <p:nvPr/>
        </p:nvSpPr>
        <p:spPr>
          <a:xfrm>
            <a:off x="2404872" y="3108960"/>
            <a:ext cx="347472" cy="0"/>
          </a:xfrm>
          <a:prstGeom prst="line">
            <a:avLst/>
          </a:prstGeom>
          <a:noFill/>
          <a:ln w="25400">
            <a:solidFill>
              <a:srgbClr val="21C0A0"/>
            </a:solidFill>
            <a:prstDash val="solid"/>
          </a:ln>
        </p:spPr>
      </p:sp>
      <p:sp>
        <p:nvSpPr>
          <p:cNvPr id="15" name="Text 13"/>
          <p:cNvSpPr/>
          <p:nvPr/>
        </p:nvSpPr>
        <p:spPr>
          <a:xfrm>
            <a:off x="2624328" y="3017520"/>
            <a:ext cx="182880" cy="182880"/>
          </a:xfrm>
          <a:prstGeom prst="rect">
            <a:avLst/>
          </a:prstGeom>
          <a:noFill/>
          <a:ln/>
        </p:spPr>
        <p:txBody>
          <a:bodyPr wrap="square" lIns="0" tIns="0" rIns="0" bIns="0" rtlCol="0" anchor="ctr"/>
          <a:lstStyle/>
          <a:p>
            <a:pPr indent="0" marL="0">
              <a:buNone/>
            </a:pPr>
            <a:r>
              <a:rPr lang="en-US" sz="900" dirty="0">
                <a:solidFill>
                  <a:srgbClr val="21C0A0"/>
                </a:solidFill>
              </a:rPr>
              <a:t>▶</a:t>
            </a:r>
            <a:endParaRPr lang="en-US" sz="900" dirty="0"/>
          </a:p>
        </p:txBody>
      </p:sp>
      <p:sp>
        <p:nvSpPr>
          <p:cNvPr id="16" name="Shape 14"/>
          <p:cNvSpPr/>
          <p:nvPr/>
        </p:nvSpPr>
        <p:spPr>
          <a:xfrm>
            <a:off x="2468880" y="1389888"/>
            <a:ext cx="2057400" cy="3429000"/>
          </a:xfrm>
          <a:prstGeom prst="roundRect">
            <a:avLst>
              <a:gd name="adj" fmla="val 5333"/>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17" name="Shape 15"/>
          <p:cNvSpPr/>
          <p:nvPr/>
        </p:nvSpPr>
        <p:spPr>
          <a:xfrm>
            <a:off x="3246120" y="1463040"/>
            <a:ext cx="502920" cy="502920"/>
          </a:xfrm>
          <a:prstGeom prst="ellipse">
            <a:avLst/>
          </a:prstGeom>
          <a:solidFill>
            <a:srgbClr val="21C0A0"/>
          </a:solidFill>
          <a:ln w="12700">
            <a:solidFill>
              <a:srgbClr val="21C0A0"/>
            </a:solidFill>
            <a:prstDash val="solid"/>
          </a:ln>
        </p:spPr>
      </p:sp>
      <p:sp>
        <p:nvSpPr>
          <p:cNvPr id="18" name="Text 16"/>
          <p:cNvSpPr/>
          <p:nvPr/>
        </p:nvSpPr>
        <p:spPr>
          <a:xfrm>
            <a:off x="3246120" y="1463040"/>
            <a:ext cx="502920" cy="502920"/>
          </a:xfrm>
          <a:prstGeom prst="rect">
            <a:avLst/>
          </a:prstGeom>
          <a:noFill/>
          <a:ln/>
        </p:spPr>
        <p:txBody>
          <a:bodyPr wrap="square" lIns="0" tIns="0" rIns="0" bIns="0" rtlCol="0" anchor="ctr"/>
          <a:lstStyle/>
          <a:p>
            <a:pPr algn="ctr" indent="0" marL="0">
              <a:buNone/>
            </a:pPr>
            <a:r>
              <a:rPr lang="en-US" sz="1600" b="1" dirty="0">
                <a:solidFill>
                  <a:srgbClr val="0D2B3E"/>
                </a:solidFill>
              </a:rPr>
              <a:t>2</a:t>
            </a:r>
            <a:endParaRPr lang="en-US" sz="1600" dirty="0"/>
          </a:p>
        </p:txBody>
      </p:sp>
      <p:sp>
        <p:nvSpPr>
          <p:cNvPr id="19" name="Text 17"/>
          <p:cNvSpPr/>
          <p:nvPr/>
        </p:nvSpPr>
        <p:spPr>
          <a:xfrm>
            <a:off x="2560320" y="2057400"/>
            <a:ext cx="1874520" cy="384048"/>
          </a:xfrm>
          <a:prstGeom prst="rect">
            <a:avLst/>
          </a:prstGeom>
          <a:noFill/>
          <a:ln/>
        </p:spPr>
        <p:txBody>
          <a:bodyPr wrap="square" lIns="0" tIns="0" rIns="0" bIns="0" rtlCol="0" anchor="ctr"/>
          <a:lstStyle/>
          <a:p>
            <a:pPr algn="ctr" indent="0" marL="0">
              <a:buNone/>
            </a:pPr>
            <a:r>
              <a:rPr lang="en-US" sz="1200" b="1" dirty="0">
                <a:solidFill>
                  <a:srgbClr val="065A82"/>
                </a:solidFill>
              </a:rPr>
              <a:t>Validation</a:t>
            </a:r>
            <a:endParaRPr lang="en-US" sz="1200" dirty="0"/>
          </a:p>
        </p:txBody>
      </p:sp>
      <p:sp>
        <p:nvSpPr>
          <p:cNvPr id="20" name="Text 18"/>
          <p:cNvSpPr/>
          <p:nvPr/>
        </p:nvSpPr>
        <p:spPr>
          <a:xfrm>
            <a:off x="2578608" y="2505456"/>
            <a:ext cx="1828800" cy="384048"/>
          </a:xfrm>
          <a:prstGeom prst="rect">
            <a:avLst/>
          </a:prstGeom>
          <a:noFill/>
          <a:ln/>
        </p:spPr>
        <p:txBody>
          <a:bodyPr wrap="square" lIns="0" tIns="0" rIns="0" bIns="0" rtlCol="0" anchor="ctr"/>
          <a:lstStyle/>
          <a:p>
            <a:r>
              <a:rPr lang="en-US" sz="950" dirty="0">
                <a:solidFill>
                  <a:srgbClr val="0D2B3E"/>
                </a:solidFill>
              </a:rPr>
              <a:t>6 data-quality checks run</a:t>
            </a:r>
            <a:endParaRPr lang="en-US" sz="950" dirty="0"/>
          </a:p>
        </p:txBody>
      </p:sp>
      <p:sp>
        <p:nvSpPr>
          <p:cNvPr id="21" name="Text 19"/>
          <p:cNvSpPr/>
          <p:nvPr/>
        </p:nvSpPr>
        <p:spPr>
          <a:xfrm>
            <a:off x="2578608" y="2907792"/>
            <a:ext cx="1828800" cy="384048"/>
          </a:xfrm>
          <a:prstGeom prst="rect">
            <a:avLst/>
          </a:prstGeom>
          <a:noFill/>
          <a:ln/>
        </p:spPr>
        <p:txBody>
          <a:bodyPr wrap="square" lIns="0" tIns="0" rIns="0" bIns="0" rtlCol="0" anchor="ctr"/>
          <a:lstStyle/>
          <a:p>
            <a:r>
              <a:rPr lang="en-US" sz="950" dirty="0">
                <a:solidFill>
                  <a:srgbClr val="0D2B3E"/>
                </a:solidFill>
              </a:rPr>
              <a:t>4 hard failures abort pipeline</a:t>
            </a:r>
            <a:endParaRPr lang="en-US" sz="950" dirty="0"/>
          </a:p>
        </p:txBody>
      </p:sp>
      <p:sp>
        <p:nvSpPr>
          <p:cNvPr id="22" name="Text 20"/>
          <p:cNvSpPr/>
          <p:nvPr/>
        </p:nvSpPr>
        <p:spPr>
          <a:xfrm>
            <a:off x="2578608" y="3310128"/>
            <a:ext cx="1828800" cy="384048"/>
          </a:xfrm>
          <a:prstGeom prst="rect">
            <a:avLst/>
          </a:prstGeom>
          <a:noFill/>
          <a:ln/>
        </p:spPr>
        <p:txBody>
          <a:bodyPr wrap="square" lIns="0" tIns="0" rIns="0" bIns="0" rtlCol="0" anchor="ctr"/>
          <a:lstStyle/>
          <a:p>
            <a:r>
              <a:rPr lang="en-US" sz="950" dirty="0">
                <a:solidFill>
                  <a:srgbClr val="0D2B3E"/>
                </a:solidFill>
              </a:rPr>
              <a:t>2 soft failures warn &amp; continue</a:t>
            </a:r>
            <a:endParaRPr lang="en-US" sz="950" dirty="0"/>
          </a:p>
        </p:txBody>
      </p:sp>
      <p:sp>
        <p:nvSpPr>
          <p:cNvPr id="23" name="Text 21"/>
          <p:cNvSpPr/>
          <p:nvPr/>
        </p:nvSpPr>
        <p:spPr>
          <a:xfrm>
            <a:off x="2578608" y="3712464"/>
            <a:ext cx="1828800" cy="384048"/>
          </a:xfrm>
          <a:prstGeom prst="rect">
            <a:avLst/>
          </a:prstGeom>
          <a:noFill/>
          <a:ln/>
        </p:spPr>
        <p:txBody>
          <a:bodyPr wrap="square" lIns="0" tIns="0" rIns="0" bIns="0" rtlCol="0" anchor="ctr"/>
          <a:lstStyle/>
          <a:p>
            <a:r>
              <a:rPr lang="en-US" sz="950" dirty="0">
                <a:solidFill>
                  <a:srgbClr val="0D2B3E"/>
                </a:solidFill>
              </a:rPr>
              <a:t>Zero DB writes until all checks pass</a:t>
            </a:r>
            <a:endParaRPr lang="en-US" sz="950" dirty="0"/>
          </a:p>
        </p:txBody>
      </p:sp>
      <p:sp>
        <p:nvSpPr>
          <p:cNvPr id="24" name="Shape 22"/>
          <p:cNvSpPr/>
          <p:nvPr/>
        </p:nvSpPr>
        <p:spPr>
          <a:xfrm>
            <a:off x="4553712" y="3108960"/>
            <a:ext cx="347472" cy="0"/>
          </a:xfrm>
          <a:prstGeom prst="line">
            <a:avLst/>
          </a:prstGeom>
          <a:noFill/>
          <a:ln w="25400">
            <a:solidFill>
              <a:srgbClr val="21C0A0"/>
            </a:solidFill>
            <a:prstDash val="solid"/>
          </a:ln>
        </p:spPr>
      </p:sp>
      <p:sp>
        <p:nvSpPr>
          <p:cNvPr id="25" name="Text 23"/>
          <p:cNvSpPr/>
          <p:nvPr/>
        </p:nvSpPr>
        <p:spPr>
          <a:xfrm>
            <a:off x="4773168" y="3017520"/>
            <a:ext cx="182880" cy="182880"/>
          </a:xfrm>
          <a:prstGeom prst="rect">
            <a:avLst/>
          </a:prstGeom>
          <a:noFill/>
          <a:ln/>
        </p:spPr>
        <p:txBody>
          <a:bodyPr wrap="square" lIns="0" tIns="0" rIns="0" bIns="0" rtlCol="0" anchor="ctr"/>
          <a:lstStyle/>
          <a:p>
            <a:pPr indent="0" marL="0">
              <a:buNone/>
            </a:pPr>
            <a:r>
              <a:rPr lang="en-US" sz="900" dirty="0">
                <a:solidFill>
                  <a:srgbClr val="21C0A0"/>
                </a:solidFill>
              </a:rPr>
              <a:t>▶</a:t>
            </a:r>
            <a:endParaRPr lang="en-US" sz="900" dirty="0"/>
          </a:p>
        </p:txBody>
      </p:sp>
      <p:sp>
        <p:nvSpPr>
          <p:cNvPr id="26" name="Shape 24"/>
          <p:cNvSpPr/>
          <p:nvPr/>
        </p:nvSpPr>
        <p:spPr>
          <a:xfrm>
            <a:off x="4617720" y="1389888"/>
            <a:ext cx="2057400" cy="3429000"/>
          </a:xfrm>
          <a:prstGeom prst="roundRect">
            <a:avLst>
              <a:gd name="adj" fmla="val 5333"/>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27" name="Shape 25"/>
          <p:cNvSpPr/>
          <p:nvPr/>
        </p:nvSpPr>
        <p:spPr>
          <a:xfrm>
            <a:off x="5394960" y="1463040"/>
            <a:ext cx="502920" cy="502920"/>
          </a:xfrm>
          <a:prstGeom prst="ellipse">
            <a:avLst/>
          </a:prstGeom>
          <a:solidFill>
            <a:srgbClr val="21C0A0"/>
          </a:solidFill>
          <a:ln w="12700">
            <a:solidFill>
              <a:srgbClr val="21C0A0"/>
            </a:solidFill>
            <a:prstDash val="solid"/>
          </a:ln>
        </p:spPr>
      </p:sp>
      <p:sp>
        <p:nvSpPr>
          <p:cNvPr id="28" name="Text 26"/>
          <p:cNvSpPr/>
          <p:nvPr/>
        </p:nvSpPr>
        <p:spPr>
          <a:xfrm>
            <a:off x="5394960" y="1463040"/>
            <a:ext cx="502920" cy="502920"/>
          </a:xfrm>
          <a:prstGeom prst="rect">
            <a:avLst/>
          </a:prstGeom>
          <a:noFill/>
          <a:ln/>
        </p:spPr>
        <p:txBody>
          <a:bodyPr wrap="square" lIns="0" tIns="0" rIns="0" bIns="0" rtlCol="0" anchor="ctr"/>
          <a:lstStyle/>
          <a:p>
            <a:pPr algn="ctr" indent="0" marL="0">
              <a:buNone/>
            </a:pPr>
            <a:r>
              <a:rPr lang="en-US" sz="1600" b="1" dirty="0">
                <a:solidFill>
                  <a:srgbClr val="0D2B3E"/>
                </a:solidFill>
              </a:rPr>
              <a:t>3</a:t>
            </a:r>
            <a:endParaRPr lang="en-US" sz="1600" dirty="0"/>
          </a:p>
        </p:txBody>
      </p:sp>
      <p:sp>
        <p:nvSpPr>
          <p:cNvPr id="29" name="Text 27"/>
          <p:cNvSpPr/>
          <p:nvPr/>
        </p:nvSpPr>
        <p:spPr>
          <a:xfrm>
            <a:off x="4709160" y="2057400"/>
            <a:ext cx="1874520" cy="384048"/>
          </a:xfrm>
          <a:prstGeom prst="rect">
            <a:avLst/>
          </a:prstGeom>
          <a:noFill/>
          <a:ln/>
        </p:spPr>
        <p:txBody>
          <a:bodyPr wrap="square" lIns="0" tIns="0" rIns="0" bIns="0" rtlCol="0" anchor="ctr"/>
          <a:lstStyle/>
          <a:p>
            <a:pPr algn="ctr" indent="0" marL="0">
              <a:buNone/>
            </a:pPr>
            <a:r>
              <a:rPr lang="en-US" sz="1200" b="1" dirty="0">
                <a:solidFill>
                  <a:srgbClr val="065A82"/>
                </a:solidFill>
              </a:rPr>
              <a:t>Database Load</a:t>
            </a:r>
            <a:endParaRPr lang="en-US" sz="1200" dirty="0"/>
          </a:p>
        </p:txBody>
      </p:sp>
      <p:sp>
        <p:nvSpPr>
          <p:cNvPr id="30" name="Text 28"/>
          <p:cNvSpPr/>
          <p:nvPr/>
        </p:nvSpPr>
        <p:spPr>
          <a:xfrm>
            <a:off x="4727448" y="2505456"/>
            <a:ext cx="1828800" cy="384048"/>
          </a:xfrm>
          <a:prstGeom prst="rect">
            <a:avLst/>
          </a:prstGeom>
          <a:noFill/>
          <a:ln/>
        </p:spPr>
        <p:txBody>
          <a:bodyPr wrap="square" lIns="0" tIns="0" rIns="0" bIns="0" rtlCol="0" anchor="ctr"/>
          <a:lstStyle/>
          <a:p>
            <a:r>
              <a:rPr lang="en-US" sz="950" dirty="0">
                <a:solidFill>
                  <a:srgbClr val="0D2B3E"/>
                </a:solidFill>
              </a:rPr>
              <a:t>5-table schema on Supabase</a:t>
            </a:r>
            <a:endParaRPr lang="en-US" sz="950" dirty="0"/>
          </a:p>
        </p:txBody>
      </p:sp>
      <p:sp>
        <p:nvSpPr>
          <p:cNvPr id="31" name="Text 29"/>
          <p:cNvSpPr/>
          <p:nvPr/>
        </p:nvSpPr>
        <p:spPr>
          <a:xfrm>
            <a:off x="4727448" y="2907792"/>
            <a:ext cx="1828800" cy="384048"/>
          </a:xfrm>
          <a:prstGeom prst="rect">
            <a:avLst/>
          </a:prstGeom>
          <a:noFill/>
          <a:ln/>
        </p:spPr>
        <p:txBody>
          <a:bodyPr wrap="square" lIns="0" tIns="0" rIns="0" bIns="0" rtlCol="0" anchor="ctr"/>
          <a:lstStyle/>
          <a:p>
            <a:r>
              <a:rPr lang="en-US" sz="950" dirty="0">
                <a:solidFill>
                  <a:srgbClr val="0D2B3E"/>
                </a:solidFill>
              </a:rPr>
              <a:t>Incremental UPSERT load</a:t>
            </a:r>
            <a:endParaRPr lang="en-US" sz="950" dirty="0"/>
          </a:p>
        </p:txBody>
      </p:sp>
      <p:sp>
        <p:nvSpPr>
          <p:cNvPr id="32" name="Text 30"/>
          <p:cNvSpPr/>
          <p:nvPr/>
        </p:nvSpPr>
        <p:spPr>
          <a:xfrm>
            <a:off x="4727448" y="3310128"/>
            <a:ext cx="1828800" cy="384048"/>
          </a:xfrm>
          <a:prstGeom prst="rect">
            <a:avLst/>
          </a:prstGeom>
          <a:noFill/>
          <a:ln/>
        </p:spPr>
        <p:txBody>
          <a:bodyPr wrap="square" lIns="0" tIns="0" rIns="0" bIns="0" rtlCol="0" anchor="ctr"/>
          <a:lstStyle/>
          <a:p>
            <a:r>
              <a:rPr lang="en-US" sz="950" dirty="0">
                <a:solidFill>
                  <a:srgbClr val="0D2B3E"/>
                </a:solidFill>
              </a:rPr>
              <a:t>INSERT … ON CONFLICT DO UPDATE</a:t>
            </a:r>
            <a:endParaRPr lang="en-US" sz="950" dirty="0"/>
          </a:p>
        </p:txBody>
      </p:sp>
      <p:sp>
        <p:nvSpPr>
          <p:cNvPr id="33" name="Text 31"/>
          <p:cNvSpPr/>
          <p:nvPr/>
        </p:nvSpPr>
        <p:spPr>
          <a:xfrm>
            <a:off x="4727448" y="3712464"/>
            <a:ext cx="1828800" cy="384048"/>
          </a:xfrm>
          <a:prstGeom prst="rect">
            <a:avLst/>
          </a:prstGeom>
          <a:noFill/>
          <a:ln/>
        </p:spPr>
        <p:txBody>
          <a:bodyPr wrap="square" lIns="0" tIns="0" rIns="0" bIns="0" rtlCol="0" anchor="ctr"/>
          <a:lstStyle/>
          <a:p>
            <a:r>
              <a:rPr lang="en-US" sz="950" dirty="0">
                <a:solidFill>
                  <a:srgbClr val="0D2B3E"/>
                </a:solidFill>
              </a:rPr>
              <a:t>Full-refresh mode available</a:t>
            </a:r>
            <a:endParaRPr lang="en-US" sz="950" dirty="0"/>
          </a:p>
        </p:txBody>
      </p:sp>
      <p:sp>
        <p:nvSpPr>
          <p:cNvPr id="34" name="Shape 32"/>
          <p:cNvSpPr/>
          <p:nvPr/>
        </p:nvSpPr>
        <p:spPr>
          <a:xfrm>
            <a:off x="6702552" y="3108960"/>
            <a:ext cx="347472" cy="0"/>
          </a:xfrm>
          <a:prstGeom prst="line">
            <a:avLst/>
          </a:prstGeom>
          <a:noFill/>
          <a:ln w="25400">
            <a:solidFill>
              <a:srgbClr val="21C0A0"/>
            </a:solidFill>
            <a:prstDash val="solid"/>
          </a:ln>
        </p:spPr>
      </p:sp>
      <p:sp>
        <p:nvSpPr>
          <p:cNvPr id="35" name="Text 33"/>
          <p:cNvSpPr/>
          <p:nvPr/>
        </p:nvSpPr>
        <p:spPr>
          <a:xfrm>
            <a:off x="6922008" y="3017520"/>
            <a:ext cx="182880" cy="182880"/>
          </a:xfrm>
          <a:prstGeom prst="rect">
            <a:avLst/>
          </a:prstGeom>
          <a:noFill/>
          <a:ln/>
        </p:spPr>
        <p:txBody>
          <a:bodyPr wrap="square" lIns="0" tIns="0" rIns="0" bIns="0" rtlCol="0" anchor="ctr"/>
          <a:lstStyle/>
          <a:p>
            <a:pPr indent="0" marL="0">
              <a:buNone/>
            </a:pPr>
            <a:r>
              <a:rPr lang="en-US" sz="900" dirty="0">
                <a:solidFill>
                  <a:srgbClr val="21C0A0"/>
                </a:solidFill>
              </a:rPr>
              <a:t>▶</a:t>
            </a:r>
            <a:endParaRPr lang="en-US" sz="900" dirty="0"/>
          </a:p>
        </p:txBody>
      </p:sp>
      <p:sp>
        <p:nvSpPr>
          <p:cNvPr id="36" name="Shape 34"/>
          <p:cNvSpPr/>
          <p:nvPr/>
        </p:nvSpPr>
        <p:spPr>
          <a:xfrm>
            <a:off x="6766560" y="1389888"/>
            <a:ext cx="2057400" cy="3429000"/>
          </a:xfrm>
          <a:prstGeom prst="roundRect">
            <a:avLst>
              <a:gd name="adj" fmla="val 5333"/>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37" name="Shape 35"/>
          <p:cNvSpPr/>
          <p:nvPr/>
        </p:nvSpPr>
        <p:spPr>
          <a:xfrm>
            <a:off x="7543800" y="1463040"/>
            <a:ext cx="502920" cy="502920"/>
          </a:xfrm>
          <a:prstGeom prst="ellipse">
            <a:avLst/>
          </a:prstGeom>
          <a:solidFill>
            <a:srgbClr val="21C0A0"/>
          </a:solidFill>
          <a:ln w="12700">
            <a:solidFill>
              <a:srgbClr val="21C0A0"/>
            </a:solidFill>
            <a:prstDash val="solid"/>
          </a:ln>
        </p:spPr>
      </p:sp>
      <p:sp>
        <p:nvSpPr>
          <p:cNvPr id="38" name="Text 36"/>
          <p:cNvSpPr/>
          <p:nvPr/>
        </p:nvSpPr>
        <p:spPr>
          <a:xfrm>
            <a:off x="7543800" y="1463040"/>
            <a:ext cx="502920" cy="502920"/>
          </a:xfrm>
          <a:prstGeom prst="rect">
            <a:avLst/>
          </a:prstGeom>
          <a:noFill/>
          <a:ln/>
        </p:spPr>
        <p:txBody>
          <a:bodyPr wrap="square" lIns="0" tIns="0" rIns="0" bIns="0" rtlCol="0" anchor="ctr"/>
          <a:lstStyle/>
          <a:p>
            <a:pPr algn="ctr" indent="0" marL="0">
              <a:buNone/>
            </a:pPr>
            <a:r>
              <a:rPr lang="en-US" sz="1600" b="1" dirty="0">
                <a:solidFill>
                  <a:srgbClr val="0D2B3E"/>
                </a:solidFill>
              </a:rPr>
              <a:t>4</a:t>
            </a:r>
            <a:endParaRPr lang="en-US" sz="1600" dirty="0"/>
          </a:p>
        </p:txBody>
      </p:sp>
      <p:sp>
        <p:nvSpPr>
          <p:cNvPr id="39" name="Text 37"/>
          <p:cNvSpPr/>
          <p:nvPr/>
        </p:nvSpPr>
        <p:spPr>
          <a:xfrm>
            <a:off x="6858000" y="2057400"/>
            <a:ext cx="1874520" cy="384048"/>
          </a:xfrm>
          <a:prstGeom prst="rect">
            <a:avLst/>
          </a:prstGeom>
          <a:noFill/>
          <a:ln/>
        </p:spPr>
        <p:txBody>
          <a:bodyPr wrap="square" lIns="0" tIns="0" rIns="0" bIns="0" rtlCol="0" anchor="ctr"/>
          <a:lstStyle/>
          <a:p>
            <a:pPr algn="ctr" indent="0" marL="0">
              <a:buNone/>
            </a:pPr>
            <a:r>
              <a:rPr lang="en-US" sz="1200" b="1" dirty="0">
                <a:solidFill>
                  <a:srgbClr val="065A82"/>
                </a:solidFill>
              </a:rPr>
              <a:t>Fact Table Build</a:t>
            </a:r>
            <a:endParaRPr lang="en-US" sz="1200" dirty="0"/>
          </a:p>
        </p:txBody>
      </p:sp>
      <p:sp>
        <p:nvSpPr>
          <p:cNvPr id="40" name="Text 38"/>
          <p:cNvSpPr/>
          <p:nvPr/>
        </p:nvSpPr>
        <p:spPr>
          <a:xfrm>
            <a:off x="6876288" y="2505456"/>
            <a:ext cx="1828800" cy="384048"/>
          </a:xfrm>
          <a:prstGeom prst="rect">
            <a:avLst/>
          </a:prstGeom>
          <a:noFill/>
          <a:ln/>
        </p:spPr>
        <p:txBody>
          <a:bodyPr wrap="square" lIns="0" tIns="0" rIns="0" bIns="0" rtlCol="0" anchor="ctr"/>
          <a:lstStyle/>
          <a:p>
            <a:r>
              <a:rPr lang="en-US" sz="950" dirty="0">
                <a:solidFill>
                  <a:srgbClr val="0D2B3E"/>
                </a:solidFill>
              </a:rPr>
              <a:t>fishing_recommendation table</a:t>
            </a:r>
            <a:endParaRPr lang="en-US" sz="950" dirty="0"/>
          </a:p>
        </p:txBody>
      </p:sp>
      <p:sp>
        <p:nvSpPr>
          <p:cNvPr id="41" name="Text 39"/>
          <p:cNvSpPr/>
          <p:nvPr/>
        </p:nvSpPr>
        <p:spPr>
          <a:xfrm>
            <a:off x="6876288" y="2907792"/>
            <a:ext cx="1828800" cy="384048"/>
          </a:xfrm>
          <a:prstGeom prst="rect">
            <a:avLst/>
          </a:prstGeom>
          <a:noFill/>
          <a:ln/>
        </p:spPr>
        <p:txBody>
          <a:bodyPr wrap="square" lIns="0" tIns="0" rIns="0" bIns="0" rtlCol="0" anchor="ctr"/>
          <a:lstStyle/>
          <a:p>
            <a:r>
              <a:rPr lang="en-US" sz="950" dirty="0">
                <a:solidFill>
                  <a:srgbClr val="0D2B3E"/>
                </a:solidFill>
              </a:rPr>
              <a:t>safety_status computed per row</a:t>
            </a:r>
            <a:endParaRPr lang="en-US" sz="950" dirty="0"/>
          </a:p>
        </p:txBody>
      </p:sp>
      <p:sp>
        <p:nvSpPr>
          <p:cNvPr id="42" name="Text 40"/>
          <p:cNvSpPr/>
          <p:nvPr/>
        </p:nvSpPr>
        <p:spPr>
          <a:xfrm>
            <a:off x="6876288" y="3310128"/>
            <a:ext cx="1828800" cy="384048"/>
          </a:xfrm>
          <a:prstGeom prst="rect">
            <a:avLst/>
          </a:prstGeom>
          <a:noFill/>
          <a:ln/>
        </p:spPr>
        <p:txBody>
          <a:bodyPr wrap="square" lIns="0" tIns="0" rIns="0" bIns="0" rtlCol="0" anchor="ctr"/>
          <a:lstStyle/>
          <a:p>
            <a:r>
              <a:rPr lang="en-US" sz="950" dirty="0">
                <a:solidFill>
                  <a:srgbClr val="0D2B3E"/>
                </a:solidFill>
              </a:rPr>
              <a:t>fish_activity_score 0–100</a:t>
            </a:r>
            <a:endParaRPr lang="en-US" sz="950" dirty="0"/>
          </a:p>
        </p:txBody>
      </p:sp>
      <p:sp>
        <p:nvSpPr>
          <p:cNvPr id="43" name="Text 41"/>
          <p:cNvSpPr/>
          <p:nvPr/>
        </p:nvSpPr>
        <p:spPr>
          <a:xfrm>
            <a:off x="6876288" y="3712464"/>
            <a:ext cx="1828800" cy="384048"/>
          </a:xfrm>
          <a:prstGeom prst="rect">
            <a:avLst/>
          </a:prstGeom>
          <a:noFill/>
          <a:ln/>
        </p:spPr>
        <p:txBody>
          <a:bodyPr wrap="square" lIns="0" tIns="0" rIns="0" bIns="0" rtlCol="0" anchor="ctr"/>
          <a:lstStyle/>
          <a:p>
            <a:r>
              <a:rPr lang="en-US" sz="950" dirty="0">
                <a:solidFill>
                  <a:srgbClr val="0D2B3E"/>
                </a:solidFill>
              </a:rPr>
              <a:t>42 analytics-ready rows (6 × 7)</a:t>
            </a:r>
            <a:endParaRPr lang="en-US" sz="950" dirty="0"/>
          </a:p>
        </p:txBody>
      </p:sp>
      <p:sp>
        <p:nvSpPr>
          <p:cNvPr id="44" name="Shape 42"/>
          <p:cNvSpPr/>
          <p:nvPr/>
        </p:nvSpPr>
        <p:spPr>
          <a:xfrm>
            <a:off x="0" y="4754880"/>
            <a:ext cx="9144000" cy="384048"/>
          </a:xfrm>
          <a:prstGeom prst="rect">
            <a:avLst/>
          </a:prstGeom>
          <a:solidFill>
            <a:srgbClr val="065A82"/>
          </a:solidFill>
          <a:ln w="12700">
            <a:solidFill>
              <a:srgbClr val="065A82"/>
            </a:solidFill>
            <a:prstDash val="solid"/>
          </a:ln>
        </p:spPr>
      </p:sp>
      <p:sp>
        <p:nvSpPr>
          <p:cNvPr id="45" name="Text 43"/>
          <p:cNvSpPr/>
          <p:nvPr/>
        </p:nvSpPr>
        <p:spPr>
          <a:xfrm>
            <a:off x="274320" y="4754880"/>
            <a:ext cx="8595360" cy="384048"/>
          </a:xfrm>
          <a:prstGeom prst="rect">
            <a:avLst/>
          </a:prstGeom>
          <a:noFill/>
          <a:ln/>
        </p:spPr>
        <p:txBody>
          <a:bodyPr wrap="square" lIns="0" tIns="0" rIns="0" bIns="0" rtlCol="0" anchor="ctr"/>
          <a:lstStyle/>
          <a:p>
            <a:pPr algn="ctr" indent="0" marL="0">
              <a:buNone/>
            </a:pPr>
            <a:r>
              <a:rPr lang="en-US" sz="950" dirty="0">
                <a:solidFill>
                  <a:srgbClr val="21C0A0"/>
                </a:solidFill>
              </a:rPr>
              <a:t>Stack:  Python 3.12  ·  pandas  ·  requests  ·  SQLAlchemy + psycopg2  ·  python-dotenv  ·  Supabase PostgreSQL  ·  Plotly Dash</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502920" y="347472"/>
            <a:ext cx="2011680" cy="292608"/>
          </a:xfrm>
          <a:prstGeom prst="roundRect">
            <a:avLst>
              <a:gd name="adj" fmla="val 25000"/>
            </a:avLst>
          </a:prstGeom>
          <a:solidFill>
            <a:srgbClr val="21C0A0"/>
          </a:solidFill>
          <a:ln w="12700">
            <a:solidFill>
              <a:srgbClr val="21C0A0"/>
            </a:solidFill>
            <a:prstDash val="solid"/>
          </a:ln>
        </p:spPr>
      </p:sp>
      <p:sp>
        <p:nvSpPr>
          <p:cNvPr id="3" name="Text 1"/>
          <p:cNvSpPr/>
          <p:nvPr/>
        </p:nvSpPr>
        <p:spPr>
          <a:xfrm>
            <a:off x="502920" y="347472"/>
            <a:ext cx="2011680" cy="292608"/>
          </a:xfrm>
          <a:prstGeom prst="rect">
            <a:avLst/>
          </a:prstGeom>
          <a:noFill/>
          <a:ln/>
        </p:spPr>
        <p:txBody>
          <a:bodyPr wrap="square" lIns="0" tIns="0" rIns="0" bIns="0" rtlCol="0" anchor="ctr"/>
          <a:lstStyle/>
          <a:p>
            <a:pPr algn="ctr" indent="0" marL="0">
              <a:buNone/>
            </a:pPr>
            <a:r>
              <a:rPr lang="en-US" sz="900" b="1" dirty="0">
                <a:solidFill>
                  <a:srgbClr val="0D2B3E"/>
                </a:solidFill>
              </a:rPr>
              <a:t>DATABASE SCHEMA</a:t>
            </a:r>
            <a:endParaRPr lang="en-US" sz="900" dirty="0"/>
          </a:p>
        </p:txBody>
      </p:sp>
      <p:sp>
        <p:nvSpPr>
          <p:cNvPr id="4" name="Text 2"/>
          <p:cNvSpPr/>
          <p:nvPr/>
        </p:nvSpPr>
        <p:spPr>
          <a:xfrm>
            <a:off x="502920" y="658368"/>
            <a:ext cx="8046720" cy="54864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5-Table Normalized Schema  (3NF)</a:t>
            </a:r>
            <a:endParaRPr lang="en-US" sz="3200" dirty="0"/>
          </a:p>
        </p:txBody>
      </p:sp>
      <p:sp>
        <p:nvSpPr>
          <p:cNvPr id="5" name="Shape 3"/>
          <p:cNvSpPr/>
          <p:nvPr/>
        </p:nvSpPr>
        <p:spPr>
          <a:xfrm>
            <a:off x="228600" y="1389888"/>
            <a:ext cx="1627632" cy="3246120"/>
          </a:xfrm>
          <a:prstGeom prst="roundRect">
            <a:avLst>
              <a:gd name="adj" fmla="val 5618"/>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6" name="Shape 4"/>
          <p:cNvSpPr/>
          <p:nvPr/>
        </p:nvSpPr>
        <p:spPr>
          <a:xfrm>
            <a:off x="228600" y="1389888"/>
            <a:ext cx="1627632" cy="548640"/>
          </a:xfrm>
          <a:prstGeom prst="roundRect">
            <a:avLst>
              <a:gd name="adj" fmla="val 16667"/>
            </a:avLst>
          </a:prstGeom>
          <a:solidFill>
            <a:srgbClr val="3B6FA0"/>
          </a:solidFill>
          <a:ln w="12700">
            <a:solidFill>
              <a:srgbClr val="3B6FA0"/>
            </a:solidFill>
            <a:prstDash val="solid"/>
          </a:ln>
        </p:spPr>
      </p:sp>
      <p:sp>
        <p:nvSpPr>
          <p:cNvPr id="7" name="Shape 5"/>
          <p:cNvSpPr/>
          <p:nvPr/>
        </p:nvSpPr>
        <p:spPr>
          <a:xfrm>
            <a:off x="228600" y="1664208"/>
            <a:ext cx="1627632" cy="274320"/>
          </a:xfrm>
          <a:prstGeom prst="rect">
            <a:avLst/>
          </a:prstGeom>
          <a:solidFill>
            <a:srgbClr val="3B6FA0"/>
          </a:solidFill>
          <a:ln w="12700">
            <a:solidFill>
              <a:srgbClr val="3B6FA0"/>
            </a:solidFill>
            <a:prstDash val="solid"/>
          </a:ln>
        </p:spPr>
      </p:sp>
      <p:sp>
        <p:nvSpPr>
          <p:cNvPr id="8" name="Text 6"/>
          <p:cNvSpPr/>
          <p:nvPr/>
        </p:nvSpPr>
        <p:spPr>
          <a:xfrm>
            <a:off x="228600" y="1389888"/>
            <a:ext cx="1627632" cy="548640"/>
          </a:xfrm>
          <a:prstGeom prst="rect">
            <a:avLst/>
          </a:prstGeom>
          <a:noFill/>
          <a:ln/>
        </p:spPr>
        <p:txBody>
          <a:bodyPr wrap="square" lIns="0" tIns="0" rIns="0" bIns="0" rtlCol="0" anchor="ctr"/>
          <a:lstStyle/>
          <a:p>
            <a:pPr algn="ctr" indent="0" marL="0">
              <a:buNone/>
            </a:pPr>
            <a:r>
              <a:rPr lang="en-US" sz="1000" b="1" dirty="0">
                <a:solidFill>
                  <a:srgbClr val="FFFFFF"/>
                </a:solidFill>
              </a:rPr>
              <a:t>weather_code</a:t>
            </a:r>
            <a:endParaRPr lang="en-US" sz="1000" dirty="0"/>
          </a:p>
        </p:txBody>
      </p:sp>
      <p:sp>
        <p:nvSpPr>
          <p:cNvPr id="9" name="Shape 7"/>
          <p:cNvSpPr/>
          <p:nvPr/>
        </p:nvSpPr>
        <p:spPr>
          <a:xfrm>
            <a:off x="448056" y="1993392"/>
            <a:ext cx="1188720" cy="219456"/>
          </a:xfrm>
          <a:prstGeom prst="roundRect">
            <a:avLst>
              <a:gd name="adj" fmla="val 25000"/>
            </a:avLst>
          </a:prstGeom>
          <a:solidFill>
            <a:srgbClr val="F4F8FB"/>
          </a:solidFill>
          <a:ln w="6350">
            <a:solidFill>
              <a:srgbClr val="D0E4EF"/>
            </a:solidFill>
            <a:prstDash val="solid"/>
          </a:ln>
        </p:spPr>
      </p:sp>
      <p:sp>
        <p:nvSpPr>
          <p:cNvPr id="10" name="Text 8"/>
          <p:cNvSpPr/>
          <p:nvPr/>
        </p:nvSpPr>
        <p:spPr>
          <a:xfrm>
            <a:off x="448056" y="1993392"/>
            <a:ext cx="1188720" cy="219456"/>
          </a:xfrm>
          <a:prstGeom prst="rect">
            <a:avLst/>
          </a:prstGeom>
          <a:noFill/>
          <a:ln/>
        </p:spPr>
        <p:txBody>
          <a:bodyPr wrap="square" lIns="0" tIns="0" rIns="0" bIns="0" rtlCol="0" anchor="ctr"/>
          <a:lstStyle/>
          <a:p>
            <a:pPr algn="ctr" indent="0" marL="0">
              <a:buNone/>
            </a:pPr>
            <a:r>
              <a:rPr lang="en-US" sz="800" b="1" dirty="0">
                <a:solidFill>
                  <a:srgbClr val="64748B"/>
                </a:solidFill>
              </a:rPr>
              <a:t>Reference</a:t>
            </a:r>
            <a:endParaRPr lang="en-US" sz="800" dirty="0"/>
          </a:p>
        </p:txBody>
      </p:sp>
      <p:sp>
        <p:nvSpPr>
          <p:cNvPr id="11" name="Text 9"/>
          <p:cNvSpPr/>
          <p:nvPr/>
        </p:nvSpPr>
        <p:spPr>
          <a:xfrm>
            <a:off x="320040" y="2304288"/>
            <a:ext cx="1444752" cy="329184"/>
          </a:xfrm>
          <a:prstGeom prst="rect">
            <a:avLst/>
          </a:prstGeom>
          <a:noFill/>
          <a:ln/>
        </p:spPr>
        <p:txBody>
          <a:bodyPr wrap="square" lIns="0" tIns="0" rIns="0" bIns="0" rtlCol="0" anchor="ctr"/>
          <a:lstStyle/>
          <a:p>
            <a:r>
              <a:rPr lang="en-US" sz="850" dirty="0">
                <a:solidFill>
                  <a:srgbClr val="0D2B3E"/>
                </a:solidFill>
              </a:rPr>
              <a:t>code PK</a:t>
            </a:r>
            <a:endParaRPr lang="en-US" sz="850" dirty="0"/>
          </a:p>
        </p:txBody>
      </p:sp>
      <p:sp>
        <p:nvSpPr>
          <p:cNvPr id="12" name="Text 10"/>
          <p:cNvSpPr/>
          <p:nvPr/>
        </p:nvSpPr>
        <p:spPr>
          <a:xfrm>
            <a:off x="320040" y="2670048"/>
            <a:ext cx="1444752" cy="329184"/>
          </a:xfrm>
          <a:prstGeom prst="rect">
            <a:avLst/>
          </a:prstGeom>
          <a:noFill/>
          <a:ln/>
        </p:spPr>
        <p:txBody>
          <a:bodyPr wrap="square" lIns="0" tIns="0" rIns="0" bIns="0" rtlCol="0" anchor="ctr"/>
          <a:lstStyle/>
          <a:p>
            <a:r>
              <a:rPr lang="en-US" sz="850" dirty="0">
                <a:solidFill>
                  <a:srgbClr val="0D2B3E"/>
                </a:solidFill>
              </a:rPr>
              <a:t>description</a:t>
            </a:r>
            <a:endParaRPr lang="en-US" sz="850" dirty="0"/>
          </a:p>
        </p:txBody>
      </p:sp>
      <p:sp>
        <p:nvSpPr>
          <p:cNvPr id="13" name="Text 11"/>
          <p:cNvSpPr/>
          <p:nvPr/>
        </p:nvSpPr>
        <p:spPr>
          <a:xfrm>
            <a:off x="320040" y="3035808"/>
            <a:ext cx="1444752" cy="329184"/>
          </a:xfrm>
          <a:prstGeom prst="rect">
            <a:avLst/>
          </a:prstGeom>
          <a:noFill/>
          <a:ln/>
        </p:spPr>
        <p:txBody>
          <a:bodyPr wrap="square" lIns="0" tIns="0" rIns="0" bIns="0" rtlCol="0" anchor="ctr"/>
          <a:lstStyle/>
          <a:p>
            <a:r>
              <a:rPr lang="en-US" sz="850" dirty="0">
                <a:solidFill>
                  <a:srgbClr val="0D2B3E"/>
                </a:solidFill>
              </a:rPr>
              <a:t>icon</a:t>
            </a:r>
            <a:endParaRPr lang="en-US" sz="850" dirty="0"/>
          </a:p>
        </p:txBody>
      </p:sp>
      <p:sp>
        <p:nvSpPr>
          <p:cNvPr id="14" name="Text 12"/>
          <p:cNvSpPr/>
          <p:nvPr/>
        </p:nvSpPr>
        <p:spPr>
          <a:xfrm>
            <a:off x="320040" y="3401568"/>
            <a:ext cx="1444752" cy="329184"/>
          </a:xfrm>
          <a:prstGeom prst="rect">
            <a:avLst/>
          </a:prstGeom>
          <a:noFill/>
          <a:ln/>
        </p:spPr>
        <p:txBody>
          <a:bodyPr wrap="square" lIns="0" tIns="0" rIns="0" bIns="0" rtlCol="0" anchor="ctr"/>
          <a:lstStyle/>
          <a:p>
            <a:r>
              <a:rPr lang="en-US" sz="850" dirty="0">
                <a:solidFill>
                  <a:srgbClr val="0D2B3E"/>
                </a:solidFill>
              </a:rPr>
              <a:t>category</a:t>
            </a:r>
            <a:endParaRPr lang="en-US" sz="850" dirty="0"/>
          </a:p>
        </p:txBody>
      </p:sp>
      <p:sp>
        <p:nvSpPr>
          <p:cNvPr id="15" name="Shape 13"/>
          <p:cNvSpPr/>
          <p:nvPr/>
        </p:nvSpPr>
        <p:spPr>
          <a:xfrm>
            <a:off x="1965960" y="1389888"/>
            <a:ext cx="1627632" cy="3246120"/>
          </a:xfrm>
          <a:prstGeom prst="roundRect">
            <a:avLst>
              <a:gd name="adj" fmla="val 5618"/>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16" name="Shape 14"/>
          <p:cNvSpPr/>
          <p:nvPr/>
        </p:nvSpPr>
        <p:spPr>
          <a:xfrm>
            <a:off x="1965960" y="1389888"/>
            <a:ext cx="1627632" cy="548640"/>
          </a:xfrm>
          <a:prstGeom prst="roundRect">
            <a:avLst>
              <a:gd name="adj" fmla="val 16667"/>
            </a:avLst>
          </a:prstGeom>
          <a:solidFill>
            <a:srgbClr val="1C7293"/>
          </a:solidFill>
          <a:ln w="12700">
            <a:solidFill>
              <a:srgbClr val="1C7293"/>
            </a:solidFill>
            <a:prstDash val="solid"/>
          </a:ln>
        </p:spPr>
      </p:sp>
      <p:sp>
        <p:nvSpPr>
          <p:cNvPr id="17" name="Shape 15"/>
          <p:cNvSpPr/>
          <p:nvPr/>
        </p:nvSpPr>
        <p:spPr>
          <a:xfrm>
            <a:off x="1965960" y="1664208"/>
            <a:ext cx="1627632" cy="274320"/>
          </a:xfrm>
          <a:prstGeom prst="rect">
            <a:avLst/>
          </a:prstGeom>
          <a:solidFill>
            <a:srgbClr val="1C7293"/>
          </a:solidFill>
          <a:ln w="12700">
            <a:solidFill>
              <a:srgbClr val="1C7293"/>
            </a:solidFill>
            <a:prstDash val="solid"/>
          </a:ln>
        </p:spPr>
      </p:sp>
      <p:sp>
        <p:nvSpPr>
          <p:cNvPr id="18" name="Text 16"/>
          <p:cNvSpPr/>
          <p:nvPr/>
        </p:nvSpPr>
        <p:spPr>
          <a:xfrm>
            <a:off x="1965960" y="1389888"/>
            <a:ext cx="1627632" cy="548640"/>
          </a:xfrm>
          <a:prstGeom prst="rect">
            <a:avLst/>
          </a:prstGeom>
          <a:noFill/>
          <a:ln/>
        </p:spPr>
        <p:txBody>
          <a:bodyPr wrap="square" lIns="0" tIns="0" rIns="0" bIns="0" rtlCol="0" anchor="ctr"/>
          <a:lstStyle/>
          <a:p>
            <a:pPr algn="ctr" indent="0" marL="0">
              <a:buNone/>
            </a:pPr>
            <a:r>
              <a:rPr lang="en-US" sz="1000" b="1" dirty="0">
                <a:solidFill>
                  <a:srgbClr val="FFFFFF"/>
                </a:solidFill>
              </a:rPr>
              <a:t>location</a:t>
            </a:r>
            <a:endParaRPr lang="en-US" sz="1000" dirty="0"/>
          </a:p>
        </p:txBody>
      </p:sp>
      <p:sp>
        <p:nvSpPr>
          <p:cNvPr id="19" name="Shape 17"/>
          <p:cNvSpPr/>
          <p:nvPr/>
        </p:nvSpPr>
        <p:spPr>
          <a:xfrm>
            <a:off x="2185416" y="1993392"/>
            <a:ext cx="1188720" cy="219456"/>
          </a:xfrm>
          <a:prstGeom prst="roundRect">
            <a:avLst>
              <a:gd name="adj" fmla="val 25000"/>
            </a:avLst>
          </a:prstGeom>
          <a:solidFill>
            <a:srgbClr val="F4F8FB"/>
          </a:solidFill>
          <a:ln w="6350">
            <a:solidFill>
              <a:srgbClr val="D0E4EF"/>
            </a:solidFill>
            <a:prstDash val="solid"/>
          </a:ln>
        </p:spPr>
      </p:sp>
      <p:sp>
        <p:nvSpPr>
          <p:cNvPr id="20" name="Text 18"/>
          <p:cNvSpPr/>
          <p:nvPr/>
        </p:nvSpPr>
        <p:spPr>
          <a:xfrm>
            <a:off x="2185416" y="1993392"/>
            <a:ext cx="1188720" cy="219456"/>
          </a:xfrm>
          <a:prstGeom prst="rect">
            <a:avLst/>
          </a:prstGeom>
          <a:noFill/>
          <a:ln/>
        </p:spPr>
        <p:txBody>
          <a:bodyPr wrap="square" lIns="0" tIns="0" rIns="0" bIns="0" rtlCol="0" anchor="ctr"/>
          <a:lstStyle/>
          <a:p>
            <a:pPr algn="ctr" indent="0" marL="0">
              <a:buNone/>
            </a:pPr>
            <a:r>
              <a:rPr lang="en-US" sz="800" b="1" dirty="0">
                <a:solidFill>
                  <a:srgbClr val="64748B"/>
                </a:solidFill>
              </a:rPr>
              <a:t>Dimension</a:t>
            </a:r>
            <a:endParaRPr lang="en-US" sz="800" dirty="0"/>
          </a:p>
        </p:txBody>
      </p:sp>
      <p:sp>
        <p:nvSpPr>
          <p:cNvPr id="21" name="Text 19"/>
          <p:cNvSpPr/>
          <p:nvPr/>
        </p:nvSpPr>
        <p:spPr>
          <a:xfrm>
            <a:off x="2057400" y="2304288"/>
            <a:ext cx="1444752" cy="329184"/>
          </a:xfrm>
          <a:prstGeom prst="rect">
            <a:avLst/>
          </a:prstGeom>
          <a:noFill/>
          <a:ln/>
        </p:spPr>
        <p:txBody>
          <a:bodyPr wrap="square" lIns="0" tIns="0" rIns="0" bIns="0" rtlCol="0" anchor="ctr"/>
          <a:lstStyle/>
          <a:p>
            <a:r>
              <a:rPr lang="en-US" sz="850" dirty="0">
                <a:solidFill>
                  <a:srgbClr val="0D2B3E"/>
                </a:solidFill>
              </a:rPr>
              <a:t>location_id PK</a:t>
            </a:r>
            <a:endParaRPr lang="en-US" sz="850" dirty="0"/>
          </a:p>
        </p:txBody>
      </p:sp>
      <p:sp>
        <p:nvSpPr>
          <p:cNvPr id="22" name="Text 20"/>
          <p:cNvSpPr/>
          <p:nvPr/>
        </p:nvSpPr>
        <p:spPr>
          <a:xfrm>
            <a:off x="2057400" y="2670048"/>
            <a:ext cx="1444752" cy="329184"/>
          </a:xfrm>
          <a:prstGeom prst="rect">
            <a:avLst/>
          </a:prstGeom>
          <a:noFill/>
          <a:ln/>
        </p:spPr>
        <p:txBody>
          <a:bodyPr wrap="square" lIns="0" tIns="0" rIns="0" bIns="0" rtlCol="0" anchor="ctr"/>
          <a:lstStyle/>
          <a:p>
            <a:r>
              <a:rPr lang="en-US" sz="850" dirty="0">
                <a:solidFill>
                  <a:srgbClr val="0D2B3E"/>
                </a:solidFill>
              </a:rPr>
              <a:t>location_name</a:t>
            </a:r>
            <a:endParaRPr lang="en-US" sz="850" dirty="0"/>
          </a:p>
        </p:txBody>
      </p:sp>
      <p:sp>
        <p:nvSpPr>
          <p:cNvPr id="23" name="Text 21"/>
          <p:cNvSpPr/>
          <p:nvPr/>
        </p:nvSpPr>
        <p:spPr>
          <a:xfrm>
            <a:off x="2057400" y="3035808"/>
            <a:ext cx="1444752" cy="329184"/>
          </a:xfrm>
          <a:prstGeom prst="rect">
            <a:avLst/>
          </a:prstGeom>
          <a:noFill/>
          <a:ln/>
        </p:spPr>
        <p:txBody>
          <a:bodyPr wrap="square" lIns="0" tIns="0" rIns="0" bIns="0" rtlCol="0" anchor="ctr"/>
          <a:lstStyle/>
          <a:p>
            <a:r>
              <a:rPr lang="en-US" sz="850" dirty="0">
                <a:solidFill>
                  <a:srgbClr val="0D2B3E"/>
                </a:solidFill>
              </a:rPr>
              <a:t>latitude</a:t>
            </a:r>
            <a:endParaRPr lang="en-US" sz="850" dirty="0"/>
          </a:p>
        </p:txBody>
      </p:sp>
      <p:sp>
        <p:nvSpPr>
          <p:cNvPr id="24" name="Text 22"/>
          <p:cNvSpPr/>
          <p:nvPr/>
        </p:nvSpPr>
        <p:spPr>
          <a:xfrm>
            <a:off x="2057400" y="3401568"/>
            <a:ext cx="1444752" cy="329184"/>
          </a:xfrm>
          <a:prstGeom prst="rect">
            <a:avLst/>
          </a:prstGeom>
          <a:noFill/>
          <a:ln/>
        </p:spPr>
        <p:txBody>
          <a:bodyPr wrap="square" lIns="0" tIns="0" rIns="0" bIns="0" rtlCol="0" anchor="ctr"/>
          <a:lstStyle/>
          <a:p>
            <a:r>
              <a:rPr lang="en-US" sz="850" dirty="0">
                <a:solidFill>
                  <a:srgbClr val="0D2B3E"/>
                </a:solidFill>
              </a:rPr>
              <a:t>longitude</a:t>
            </a:r>
            <a:endParaRPr lang="en-US" sz="850" dirty="0"/>
          </a:p>
        </p:txBody>
      </p:sp>
      <p:sp>
        <p:nvSpPr>
          <p:cNvPr id="25" name="Shape 23"/>
          <p:cNvSpPr/>
          <p:nvPr/>
        </p:nvSpPr>
        <p:spPr>
          <a:xfrm>
            <a:off x="3703320" y="1389888"/>
            <a:ext cx="1627632" cy="3246120"/>
          </a:xfrm>
          <a:prstGeom prst="roundRect">
            <a:avLst>
              <a:gd name="adj" fmla="val 5618"/>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26" name="Shape 24"/>
          <p:cNvSpPr/>
          <p:nvPr/>
        </p:nvSpPr>
        <p:spPr>
          <a:xfrm>
            <a:off x="3703320" y="1389888"/>
            <a:ext cx="1627632" cy="548640"/>
          </a:xfrm>
          <a:prstGeom prst="roundRect">
            <a:avLst>
              <a:gd name="adj" fmla="val 16667"/>
            </a:avLst>
          </a:prstGeom>
          <a:solidFill>
            <a:srgbClr val="0D8A6A"/>
          </a:solidFill>
          <a:ln w="12700">
            <a:solidFill>
              <a:srgbClr val="0D8A6A"/>
            </a:solidFill>
            <a:prstDash val="solid"/>
          </a:ln>
        </p:spPr>
      </p:sp>
      <p:sp>
        <p:nvSpPr>
          <p:cNvPr id="27" name="Shape 25"/>
          <p:cNvSpPr/>
          <p:nvPr/>
        </p:nvSpPr>
        <p:spPr>
          <a:xfrm>
            <a:off x="3703320" y="1664208"/>
            <a:ext cx="1627632" cy="274320"/>
          </a:xfrm>
          <a:prstGeom prst="rect">
            <a:avLst/>
          </a:prstGeom>
          <a:solidFill>
            <a:srgbClr val="0D8A6A"/>
          </a:solidFill>
          <a:ln w="12700">
            <a:solidFill>
              <a:srgbClr val="0D8A6A"/>
            </a:solidFill>
            <a:prstDash val="solid"/>
          </a:ln>
        </p:spPr>
      </p:sp>
      <p:sp>
        <p:nvSpPr>
          <p:cNvPr id="28" name="Text 26"/>
          <p:cNvSpPr/>
          <p:nvPr/>
        </p:nvSpPr>
        <p:spPr>
          <a:xfrm>
            <a:off x="3703320" y="1389888"/>
            <a:ext cx="1627632" cy="548640"/>
          </a:xfrm>
          <a:prstGeom prst="rect">
            <a:avLst/>
          </a:prstGeom>
          <a:noFill/>
          <a:ln/>
        </p:spPr>
        <p:txBody>
          <a:bodyPr wrap="square" lIns="0" tIns="0" rIns="0" bIns="0" rtlCol="0" anchor="ctr"/>
          <a:lstStyle/>
          <a:p>
            <a:pPr algn="ctr" indent="0" marL="0">
              <a:buNone/>
            </a:pPr>
            <a:r>
              <a:rPr lang="en-US" sz="1000" b="1" dirty="0">
                <a:solidFill>
                  <a:srgbClr val="FFFFFF"/>
                </a:solidFill>
              </a:rPr>
              <a:t>weather_data</a:t>
            </a:r>
            <a:endParaRPr lang="en-US" sz="1000" dirty="0"/>
          </a:p>
        </p:txBody>
      </p:sp>
      <p:sp>
        <p:nvSpPr>
          <p:cNvPr id="29" name="Shape 27"/>
          <p:cNvSpPr/>
          <p:nvPr/>
        </p:nvSpPr>
        <p:spPr>
          <a:xfrm>
            <a:off x="3922776" y="1993392"/>
            <a:ext cx="1188720" cy="219456"/>
          </a:xfrm>
          <a:prstGeom prst="roundRect">
            <a:avLst>
              <a:gd name="adj" fmla="val 25000"/>
            </a:avLst>
          </a:prstGeom>
          <a:solidFill>
            <a:srgbClr val="F4F8FB"/>
          </a:solidFill>
          <a:ln w="6350">
            <a:solidFill>
              <a:srgbClr val="D0E4EF"/>
            </a:solidFill>
            <a:prstDash val="solid"/>
          </a:ln>
        </p:spPr>
      </p:sp>
      <p:sp>
        <p:nvSpPr>
          <p:cNvPr id="30" name="Text 28"/>
          <p:cNvSpPr/>
          <p:nvPr/>
        </p:nvSpPr>
        <p:spPr>
          <a:xfrm>
            <a:off x="3922776" y="1993392"/>
            <a:ext cx="1188720" cy="219456"/>
          </a:xfrm>
          <a:prstGeom prst="rect">
            <a:avLst/>
          </a:prstGeom>
          <a:noFill/>
          <a:ln/>
        </p:spPr>
        <p:txBody>
          <a:bodyPr wrap="square" lIns="0" tIns="0" rIns="0" bIns="0" rtlCol="0" anchor="ctr"/>
          <a:lstStyle/>
          <a:p>
            <a:pPr algn="ctr" indent="0" marL="0">
              <a:buNone/>
            </a:pPr>
            <a:r>
              <a:rPr lang="en-US" sz="800" b="1" dirty="0">
                <a:solidFill>
                  <a:srgbClr val="64748B"/>
                </a:solidFill>
              </a:rPr>
              <a:t>Fact</a:t>
            </a:r>
            <a:endParaRPr lang="en-US" sz="800" dirty="0"/>
          </a:p>
        </p:txBody>
      </p:sp>
      <p:sp>
        <p:nvSpPr>
          <p:cNvPr id="31" name="Text 29"/>
          <p:cNvSpPr/>
          <p:nvPr/>
        </p:nvSpPr>
        <p:spPr>
          <a:xfrm>
            <a:off x="3794760" y="2304288"/>
            <a:ext cx="1444752" cy="329184"/>
          </a:xfrm>
          <a:prstGeom prst="rect">
            <a:avLst/>
          </a:prstGeom>
          <a:noFill/>
          <a:ln/>
        </p:spPr>
        <p:txBody>
          <a:bodyPr wrap="square" lIns="0" tIns="0" rIns="0" bIns="0" rtlCol="0" anchor="ctr"/>
          <a:lstStyle/>
          <a:p>
            <a:r>
              <a:rPr lang="en-US" sz="850" dirty="0">
                <a:solidFill>
                  <a:srgbClr val="0D2B3E"/>
                </a:solidFill>
              </a:rPr>
              <a:t>weather_id PK</a:t>
            </a:r>
            <a:endParaRPr lang="en-US" sz="850" dirty="0"/>
          </a:p>
        </p:txBody>
      </p:sp>
      <p:sp>
        <p:nvSpPr>
          <p:cNvPr id="32" name="Text 30"/>
          <p:cNvSpPr/>
          <p:nvPr/>
        </p:nvSpPr>
        <p:spPr>
          <a:xfrm>
            <a:off x="3794760" y="2670048"/>
            <a:ext cx="1444752" cy="329184"/>
          </a:xfrm>
          <a:prstGeom prst="rect">
            <a:avLst/>
          </a:prstGeom>
          <a:noFill/>
          <a:ln/>
        </p:spPr>
        <p:txBody>
          <a:bodyPr wrap="square" lIns="0" tIns="0" rIns="0" bIns="0" rtlCol="0" anchor="ctr"/>
          <a:lstStyle/>
          <a:p>
            <a:r>
              <a:rPr lang="en-US" sz="850" dirty="0">
                <a:solidFill>
                  <a:srgbClr val="0D2B3E"/>
                </a:solidFill>
              </a:rPr>
              <a:t>location_id FK</a:t>
            </a:r>
            <a:endParaRPr lang="en-US" sz="850" dirty="0"/>
          </a:p>
        </p:txBody>
      </p:sp>
      <p:sp>
        <p:nvSpPr>
          <p:cNvPr id="33" name="Text 31"/>
          <p:cNvSpPr/>
          <p:nvPr/>
        </p:nvSpPr>
        <p:spPr>
          <a:xfrm>
            <a:off x="3794760" y="3035808"/>
            <a:ext cx="1444752" cy="329184"/>
          </a:xfrm>
          <a:prstGeom prst="rect">
            <a:avLst/>
          </a:prstGeom>
          <a:noFill/>
          <a:ln/>
        </p:spPr>
        <p:txBody>
          <a:bodyPr wrap="square" lIns="0" tIns="0" rIns="0" bIns="0" rtlCol="0" anchor="ctr"/>
          <a:lstStyle/>
          <a:p>
            <a:r>
              <a:rPr lang="en-US" sz="850" dirty="0">
                <a:solidFill>
                  <a:srgbClr val="0D2B3E"/>
                </a:solidFill>
              </a:rPr>
              <a:t>date</a:t>
            </a:r>
            <a:endParaRPr lang="en-US" sz="850" dirty="0"/>
          </a:p>
        </p:txBody>
      </p:sp>
      <p:sp>
        <p:nvSpPr>
          <p:cNvPr id="34" name="Text 32"/>
          <p:cNvSpPr/>
          <p:nvPr/>
        </p:nvSpPr>
        <p:spPr>
          <a:xfrm>
            <a:off x="3794760" y="3401568"/>
            <a:ext cx="1444752" cy="329184"/>
          </a:xfrm>
          <a:prstGeom prst="rect">
            <a:avLst/>
          </a:prstGeom>
          <a:noFill/>
          <a:ln/>
        </p:spPr>
        <p:txBody>
          <a:bodyPr wrap="square" lIns="0" tIns="0" rIns="0" bIns="0" rtlCol="0" anchor="ctr"/>
          <a:lstStyle/>
          <a:p>
            <a:r>
              <a:rPr lang="en-US" sz="850" dirty="0">
                <a:solidFill>
                  <a:srgbClr val="0D2B3E"/>
                </a:solidFill>
              </a:rPr>
              <a:t>temp_f · wind · precip · pressure · weather_code FK</a:t>
            </a:r>
            <a:endParaRPr lang="en-US" sz="850" dirty="0"/>
          </a:p>
        </p:txBody>
      </p:sp>
      <p:sp>
        <p:nvSpPr>
          <p:cNvPr id="35" name="Shape 33"/>
          <p:cNvSpPr/>
          <p:nvPr/>
        </p:nvSpPr>
        <p:spPr>
          <a:xfrm>
            <a:off x="5440680" y="1389888"/>
            <a:ext cx="1627632" cy="3246120"/>
          </a:xfrm>
          <a:prstGeom prst="roundRect">
            <a:avLst>
              <a:gd name="adj" fmla="val 5618"/>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36" name="Shape 34"/>
          <p:cNvSpPr/>
          <p:nvPr/>
        </p:nvSpPr>
        <p:spPr>
          <a:xfrm>
            <a:off x="5440680" y="1389888"/>
            <a:ext cx="1627632" cy="548640"/>
          </a:xfrm>
          <a:prstGeom prst="roundRect">
            <a:avLst>
              <a:gd name="adj" fmla="val 16667"/>
            </a:avLst>
          </a:prstGeom>
          <a:solidFill>
            <a:srgbClr val="0D8A6A"/>
          </a:solidFill>
          <a:ln w="12700">
            <a:solidFill>
              <a:srgbClr val="0D8A6A"/>
            </a:solidFill>
            <a:prstDash val="solid"/>
          </a:ln>
        </p:spPr>
      </p:sp>
      <p:sp>
        <p:nvSpPr>
          <p:cNvPr id="37" name="Shape 35"/>
          <p:cNvSpPr/>
          <p:nvPr/>
        </p:nvSpPr>
        <p:spPr>
          <a:xfrm>
            <a:off x="5440680" y="1664208"/>
            <a:ext cx="1627632" cy="274320"/>
          </a:xfrm>
          <a:prstGeom prst="rect">
            <a:avLst/>
          </a:prstGeom>
          <a:solidFill>
            <a:srgbClr val="0D8A6A"/>
          </a:solidFill>
          <a:ln w="12700">
            <a:solidFill>
              <a:srgbClr val="0D8A6A"/>
            </a:solidFill>
            <a:prstDash val="solid"/>
          </a:ln>
        </p:spPr>
      </p:sp>
      <p:sp>
        <p:nvSpPr>
          <p:cNvPr id="38" name="Text 36"/>
          <p:cNvSpPr/>
          <p:nvPr/>
        </p:nvSpPr>
        <p:spPr>
          <a:xfrm>
            <a:off x="5440680" y="1389888"/>
            <a:ext cx="1627632" cy="548640"/>
          </a:xfrm>
          <a:prstGeom prst="rect">
            <a:avLst/>
          </a:prstGeom>
          <a:noFill/>
          <a:ln/>
        </p:spPr>
        <p:txBody>
          <a:bodyPr wrap="square" lIns="0" tIns="0" rIns="0" bIns="0" rtlCol="0" anchor="ctr"/>
          <a:lstStyle/>
          <a:p>
            <a:pPr algn="ctr" indent="0" marL="0">
              <a:buNone/>
            </a:pPr>
            <a:r>
              <a:rPr lang="en-US" sz="1000" b="1" dirty="0">
                <a:solidFill>
                  <a:srgbClr val="FFFFFF"/>
                </a:solidFill>
              </a:rPr>
              <a:t>river_flood</a:t>
            </a:r>
            <a:endParaRPr lang="en-US" sz="1000" dirty="0"/>
          </a:p>
          <a:p>
            <a:pPr algn="ctr" indent="0" marL="0">
              <a:buNone/>
            </a:pPr>
            <a:r>
              <a:rPr lang="en-US" sz="1000" b="1" dirty="0">
                <a:solidFill>
                  <a:srgbClr val="FFFFFF"/>
                </a:solidFill>
              </a:rPr>
              <a:t>_data</a:t>
            </a:r>
            <a:endParaRPr lang="en-US" sz="1000" dirty="0"/>
          </a:p>
        </p:txBody>
      </p:sp>
      <p:sp>
        <p:nvSpPr>
          <p:cNvPr id="39" name="Shape 37"/>
          <p:cNvSpPr/>
          <p:nvPr/>
        </p:nvSpPr>
        <p:spPr>
          <a:xfrm>
            <a:off x="5660136" y="1993392"/>
            <a:ext cx="1188720" cy="219456"/>
          </a:xfrm>
          <a:prstGeom prst="roundRect">
            <a:avLst>
              <a:gd name="adj" fmla="val 25000"/>
            </a:avLst>
          </a:prstGeom>
          <a:solidFill>
            <a:srgbClr val="F4F8FB"/>
          </a:solidFill>
          <a:ln w="6350">
            <a:solidFill>
              <a:srgbClr val="D0E4EF"/>
            </a:solidFill>
            <a:prstDash val="solid"/>
          </a:ln>
        </p:spPr>
      </p:sp>
      <p:sp>
        <p:nvSpPr>
          <p:cNvPr id="40" name="Text 38"/>
          <p:cNvSpPr/>
          <p:nvPr/>
        </p:nvSpPr>
        <p:spPr>
          <a:xfrm>
            <a:off x="5660136" y="1993392"/>
            <a:ext cx="1188720" cy="219456"/>
          </a:xfrm>
          <a:prstGeom prst="rect">
            <a:avLst/>
          </a:prstGeom>
          <a:noFill/>
          <a:ln/>
        </p:spPr>
        <p:txBody>
          <a:bodyPr wrap="square" lIns="0" tIns="0" rIns="0" bIns="0" rtlCol="0" anchor="ctr"/>
          <a:lstStyle/>
          <a:p>
            <a:pPr algn="ctr" indent="0" marL="0">
              <a:buNone/>
            </a:pPr>
            <a:r>
              <a:rPr lang="en-US" sz="800" b="1" dirty="0">
                <a:solidFill>
                  <a:srgbClr val="64748B"/>
                </a:solidFill>
              </a:rPr>
              <a:t>Fact</a:t>
            </a:r>
            <a:endParaRPr lang="en-US" sz="800" dirty="0"/>
          </a:p>
        </p:txBody>
      </p:sp>
      <p:sp>
        <p:nvSpPr>
          <p:cNvPr id="41" name="Text 39"/>
          <p:cNvSpPr/>
          <p:nvPr/>
        </p:nvSpPr>
        <p:spPr>
          <a:xfrm>
            <a:off x="5532120" y="2304288"/>
            <a:ext cx="1444752" cy="329184"/>
          </a:xfrm>
          <a:prstGeom prst="rect">
            <a:avLst/>
          </a:prstGeom>
          <a:noFill/>
          <a:ln/>
        </p:spPr>
        <p:txBody>
          <a:bodyPr wrap="square" lIns="0" tIns="0" rIns="0" bIns="0" rtlCol="0" anchor="ctr"/>
          <a:lstStyle/>
          <a:p>
            <a:r>
              <a:rPr lang="en-US" sz="850" dirty="0">
                <a:solidFill>
                  <a:srgbClr val="0D2B3E"/>
                </a:solidFill>
              </a:rPr>
              <a:t>flood_id PK</a:t>
            </a:r>
            <a:endParaRPr lang="en-US" sz="850" dirty="0"/>
          </a:p>
        </p:txBody>
      </p:sp>
      <p:sp>
        <p:nvSpPr>
          <p:cNvPr id="42" name="Text 40"/>
          <p:cNvSpPr/>
          <p:nvPr/>
        </p:nvSpPr>
        <p:spPr>
          <a:xfrm>
            <a:off x="5532120" y="2670048"/>
            <a:ext cx="1444752" cy="329184"/>
          </a:xfrm>
          <a:prstGeom prst="rect">
            <a:avLst/>
          </a:prstGeom>
          <a:noFill/>
          <a:ln/>
        </p:spPr>
        <p:txBody>
          <a:bodyPr wrap="square" lIns="0" tIns="0" rIns="0" bIns="0" rtlCol="0" anchor="ctr"/>
          <a:lstStyle/>
          <a:p>
            <a:r>
              <a:rPr lang="en-US" sz="850" dirty="0">
                <a:solidFill>
                  <a:srgbClr val="0D2B3E"/>
                </a:solidFill>
              </a:rPr>
              <a:t>location_id FK</a:t>
            </a:r>
            <a:endParaRPr lang="en-US" sz="850" dirty="0"/>
          </a:p>
        </p:txBody>
      </p:sp>
      <p:sp>
        <p:nvSpPr>
          <p:cNvPr id="43" name="Text 41"/>
          <p:cNvSpPr/>
          <p:nvPr/>
        </p:nvSpPr>
        <p:spPr>
          <a:xfrm>
            <a:off x="5532120" y="3035808"/>
            <a:ext cx="1444752" cy="329184"/>
          </a:xfrm>
          <a:prstGeom prst="rect">
            <a:avLst/>
          </a:prstGeom>
          <a:noFill/>
          <a:ln/>
        </p:spPr>
        <p:txBody>
          <a:bodyPr wrap="square" lIns="0" tIns="0" rIns="0" bIns="0" rtlCol="0" anchor="ctr"/>
          <a:lstStyle/>
          <a:p>
            <a:r>
              <a:rPr lang="en-US" sz="850" dirty="0">
                <a:solidFill>
                  <a:srgbClr val="0D2B3E"/>
                </a:solidFill>
              </a:rPr>
              <a:t>date</a:t>
            </a:r>
            <a:endParaRPr lang="en-US" sz="850" dirty="0"/>
          </a:p>
        </p:txBody>
      </p:sp>
      <p:sp>
        <p:nvSpPr>
          <p:cNvPr id="44" name="Text 42"/>
          <p:cNvSpPr/>
          <p:nvPr/>
        </p:nvSpPr>
        <p:spPr>
          <a:xfrm>
            <a:off x="5532120" y="3401568"/>
            <a:ext cx="1444752" cy="329184"/>
          </a:xfrm>
          <a:prstGeom prst="rect">
            <a:avLst/>
          </a:prstGeom>
          <a:noFill/>
          <a:ln/>
        </p:spPr>
        <p:txBody>
          <a:bodyPr wrap="square" lIns="0" tIns="0" rIns="0" bIns="0" rtlCol="0" anchor="ctr"/>
          <a:lstStyle/>
          <a:p>
            <a:r>
              <a:rPr lang="en-US" sz="850" dirty="0">
                <a:solidFill>
                  <a:srgbClr val="0D2B3E"/>
                </a:solidFill>
              </a:rPr>
              <a:t>discharge_m3s</a:t>
            </a:r>
            <a:endParaRPr lang="en-US" sz="850" dirty="0"/>
          </a:p>
        </p:txBody>
      </p:sp>
      <p:sp>
        <p:nvSpPr>
          <p:cNvPr id="45" name="Text 43"/>
          <p:cNvSpPr/>
          <p:nvPr/>
        </p:nvSpPr>
        <p:spPr>
          <a:xfrm>
            <a:off x="5532120" y="3767328"/>
            <a:ext cx="1444752" cy="329184"/>
          </a:xfrm>
          <a:prstGeom prst="rect">
            <a:avLst/>
          </a:prstGeom>
          <a:noFill/>
          <a:ln/>
        </p:spPr>
        <p:txBody>
          <a:bodyPr wrap="square" lIns="0" tIns="0" rIns="0" bIns="0" rtlCol="0" anchor="ctr"/>
          <a:lstStyle/>
          <a:p>
            <a:r>
              <a:rPr lang="en-US" sz="850" dirty="0">
                <a:solidFill>
                  <a:srgbClr val="0D2B3E"/>
                </a:solidFill>
              </a:rPr>
              <a:t>flow_category</a:t>
            </a:r>
            <a:endParaRPr lang="en-US" sz="850" dirty="0"/>
          </a:p>
        </p:txBody>
      </p:sp>
      <p:sp>
        <p:nvSpPr>
          <p:cNvPr id="46" name="Shape 44"/>
          <p:cNvSpPr/>
          <p:nvPr/>
        </p:nvSpPr>
        <p:spPr>
          <a:xfrm>
            <a:off x="7178040" y="1389888"/>
            <a:ext cx="1627632" cy="3246120"/>
          </a:xfrm>
          <a:prstGeom prst="roundRect">
            <a:avLst>
              <a:gd name="adj" fmla="val 5618"/>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47" name="Shape 45"/>
          <p:cNvSpPr/>
          <p:nvPr/>
        </p:nvSpPr>
        <p:spPr>
          <a:xfrm>
            <a:off x="7178040" y="1389888"/>
            <a:ext cx="1627632" cy="548640"/>
          </a:xfrm>
          <a:prstGeom prst="roundRect">
            <a:avLst>
              <a:gd name="adj" fmla="val 16667"/>
            </a:avLst>
          </a:prstGeom>
          <a:solidFill>
            <a:srgbClr val="21C0A0"/>
          </a:solidFill>
          <a:ln w="12700">
            <a:solidFill>
              <a:srgbClr val="21C0A0"/>
            </a:solidFill>
            <a:prstDash val="solid"/>
          </a:ln>
        </p:spPr>
      </p:sp>
      <p:sp>
        <p:nvSpPr>
          <p:cNvPr id="48" name="Shape 46"/>
          <p:cNvSpPr/>
          <p:nvPr/>
        </p:nvSpPr>
        <p:spPr>
          <a:xfrm>
            <a:off x="7178040" y="1664208"/>
            <a:ext cx="1627632" cy="274320"/>
          </a:xfrm>
          <a:prstGeom prst="rect">
            <a:avLst/>
          </a:prstGeom>
          <a:solidFill>
            <a:srgbClr val="21C0A0"/>
          </a:solidFill>
          <a:ln w="12700">
            <a:solidFill>
              <a:srgbClr val="21C0A0"/>
            </a:solidFill>
            <a:prstDash val="solid"/>
          </a:ln>
        </p:spPr>
      </p:sp>
      <p:sp>
        <p:nvSpPr>
          <p:cNvPr id="49" name="Text 47"/>
          <p:cNvSpPr/>
          <p:nvPr/>
        </p:nvSpPr>
        <p:spPr>
          <a:xfrm>
            <a:off x="7178040" y="1389888"/>
            <a:ext cx="1627632" cy="548640"/>
          </a:xfrm>
          <a:prstGeom prst="rect">
            <a:avLst/>
          </a:prstGeom>
          <a:noFill/>
          <a:ln/>
        </p:spPr>
        <p:txBody>
          <a:bodyPr wrap="square" lIns="0" tIns="0" rIns="0" bIns="0" rtlCol="0" anchor="ctr"/>
          <a:lstStyle/>
          <a:p>
            <a:pPr algn="ctr" indent="0" marL="0">
              <a:buNone/>
            </a:pPr>
            <a:r>
              <a:rPr lang="en-US" sz="1000" b="1" dirty="0">
                <a:solidFill>
                  <a:srgbClr val="FFFFFF"/>
                </a:solidFill>
              </a:rPr>
              <a:t>fishing</a:t>
            </a:r>
            <a:endParaRPr lang="en-US" sz="1000" dirty="0"/>
          </a:p>
          <a:p>
            <a:pPr algn="ctr" indent="0" marL="0">
              <a:buNone/>
            </a:pPr>
            <a:r>
              <a:rPr lang="en-US" sz="1000" b="1" dirty="0">
                <a:solidFill>
                  <a:srgbClr val="FFFFFF"/>
                </a:solidFill>
              </a:rPr>
              <a:t>_recommendation</a:t>
            </a:r>
            <a:endParaRPr lang="en-US" sz="1000" dirty="0"/>
          </a:p>
        </p:txBody>
      </p:sp>
      <p:sp>
        <p:nvSpPr>
          <p:cNvPr id="50" name="Shape 48"/>
          <p:cNvSpPr/>
          <p:nvPr/>
        </p:nvSpPr>
        <p:spPr>
          <a:xfrm>
            <a:off x="7397496" y="1993392"/>
            <a:ext cx="1188720" cy="219456"/>
          </a:xfrm>
          <a:prstGeom prst="roundRect">
            <a:avLst>
              <a:gd name="adj" fmla="val 25000"/>
            </a:avLst>
          </a:prstGeom>
          <a:solidFill>
            <a:srgbClr val="F4F8FB"/>
          </a:solidFill>
          <a:ln w="6350">
            <a:solidFill>
              <a:srgbClr val="D0E4EF"/>
            </a:solidFill>
            <a:prstDash val="solid"/>
          </a:ln>
        </p:spPr>
      </p:sp>
      <p:sp>
        <p:nvSpPr>
          <p:cNvPr id="51" name="Text 49"/>
          <p:cNvSpPr/>
          <p:nvPr/>
        </p:nvSpPr>
        <p:spPr>
          <a:xfrm>
            <a:off x="7397496" y="1993392"/>
            <a:ext cx="1188720" cy="219456"/>
          </a:xfrm>
          <a:prstGeom prst="rect">
            <a:avLst/>
          </a:prstGeom>
          <a:noFill/>
          <a:ln/>
        </p:spPr>
        <p:txBody>
          <a:bodyPr wrap="square" lIns="0" tIns="0" rIns="0" bIns="0" rtlCol="0" anchor="ctr"/>
          <a:lstStyle/>
          <a:p>
            <a:pPr algn="ctr" indent="0" marL="0">
              <a:buNone/>
            </a:pPr>
            <a:r>
              <a:rPr lang="en-US" sz="800" b="1" dirty="0">
                <a:solidFill>
                  <a:srgbClr val="64748B"/>
                </a:solidFill>
              </a:rPr>
              <a:t>Analytics Fact</a:t>
            </a:r>
            <a:endParaRPr lang="en-US" sz="800" dirty="0"/>
          </a:p>
        </p:txBody>
      </p:sp>
      <p:sp>
        <p:nvSpPr>
          <p:cNvPr id="52" name="Text 50"/>
          <p:cNvSpPr/>
          <p:nvPr/>
        </p:nvSpPr>
        <p:spPr>
          <a:xfrm>
            <a:off x="7269480" y="2304288"/>
            <a:ext cx="1444752" cy="329184"/>
          </a:xfrm>
          <a:prstGeom prst="rect">
            <a:avLst/>
          </a:prstGeom>
          <a:noFill/>
          <a:ln/>
        </p:spPr>
        <p:txBody>
          <a:bodyPr wrap="square" lIns="0" tIns="0" rIns="0" bIns="0" rtlCol="0" anchor="ctr"/>
          <a:lstStyle/>
          <a:p>
            <a:r>
              <a:rPr lang="en-US" sz="850" dirty="0">
                <a:solidFill>
                  <a:srgbClr val="0D2B3E"/>
                </a:solidFill>
              </a:rPr>
              <a:t>rec_id PK</a:t>
            </a:r>
            <a:endParaRPr lang="en-US" sz="850" dirty="0"/>
          </a:p>
        </p:txBody>
      </p:sp>
      <p:sp>
        <p:nvSpPr>
          <p:cNvPr id="53" name="Text 51"/>
          <p:cNvSpPr/>
          <p:nvPr/>
        </p:nvSpPr>
        <p:spPr>
          <a:xfrm>
            <a:off x="7269480" y="2670048"/>
            <a:ext cx="1444752" cy="329184"/>
          </a:xfrm>
          <a:prstGeom prst="rect">
            <a:avLst/>
          </a:prstGeom>
          <a:noFill/>
          <a:ln/>
        </p:spPr>
        <p:txBody>
          <a:bodyPr wrap="square" lIns="0" tIns="0" rIns="0" bIns="0" rtlCol="0" anchor="ctr"/>
          <a:lstStyle/>
          <a:p>
            <a:r>
              <a:rPr lang="en-US" sz="850" dirty="0">
                <a:solidFill>
                  <a:srgbClr val="0D2B3E"/>
                </a:solidFill>
              </a:rPr>
              <a:t>location_id FK</a:t>
            </a:r>
            <a:endParaRPr lang="en-US" sz="850" dirty="0"/>
          </a:p>
        </p:txBody>
      </p:sp>
      <p:sp>
        <p:nvSpPr>
          <p:cNvPr id="54" name="Text 52"/>
          <p:cNvSpPr/>
          <p:nvPr/>
        </p:nvSpPr>
        <p:spPr>
          <a:xfrm>
            <a:off x="7269480" y="3035808"/>
            <a:ext cx="1444752" cy="329184"/>
          </a:xfrm>
          <a:prstGeom prst="rect">
            <a:avLst/>
          </a:prstGeom>
          <a:noFill/>
          <a:ln/>
        </p:spPr>
        <p:txBody>
          <a:bodyPr wrap="square" lIns="0" tIns="0" rIns="0" bIns="0" rtlCol="0" anchor="ctr"/>
          <a:lstStyle/>
          <a:p>
            <a:r>
              <a:rPr lang="en-US" sz="850" dirty="0">
                <a:solidFill>
                  <a:srgbClr val="0D2B3E"/>
                </a:solidFill>
              </a:rPr>
              <a:t>date</a:t>
            </a:r>
            <a:endParaRPr lang="en-US" sz="850" dirty="0"/>
          </a:p>
        </p:txBody>
      </p:sp>
      <p:sp>
        <p:nvSpPr>
          <p:cNvPr id="55" name="Text 53"/>
          <p:cNvSpPr/>
          <p:nvPr/>
        </p:nvSpPr>
        <p:spPr>
          <a:xfrm>
            <a:off x="7269480" y="3401568"/>
            <a:ext cx="1444752" cy="329184"/>
          </a:xfrm>
          <a:prstGeom prst="rect">
            <a:avLst/>
          </a:prstGeom>
          <a:noFill/>
          <a:ln/>
        </p:spPr>
        <p:txBody>
          <a:bodyPr wrap="square" lIns="0" tIns="0" rIns="0" bIns="0" rtlCol="0" anchor="ctr"/>
          <a:lstStyle/>
          <a:p>
            <a:r>
              <a:rPr lang="en-US" sz="850" dirty="0">
                <a:solidFill>
                  <a:srgbClr val="0D2B3E"/>
                </a:solidFill>
              </a:rPr>
              <a:t>weather_id FK · flood_id FK</a:t>
            </a:r>
            <a:endParaRPr lang="en-US" sz="850" dirty="0"/>
          </a:p>
        </p:txBody>
      </p:sp>
      <p:sp>
        <p:nvSpPr>
          <p:cNvPr id="56" name="Text 54"/>
          <p:cNvSpPr/>
          <p:nvPr/>
        </p:nvSpPr>
        <p:spPr>
          <a:xfrm>
            <a:off x="7269480" y="3767328"/>
            <a:ext cx="1444752" cy="329184"/>
          </a:xfrm>
          <a:prstGeom prst="rect">
            <a:avLst/>
          </a:prstGeom>
          <a:noFill/>
          <a:ln/>
        </p:spPr>
        <p:txBody>
          <a:bodyPr wrap="square" lIns="0" tIns="0" rIns="0" bIns="0" rtlCol="0" anchor="ctr"/>
          <a:lstStyle/>
          <a:p>
            <a:r>
              <a:rPr lang="en-US" sz="850" dirty="0">
                <a:solidFill>
                  <a:srgbClr val="0D2B3E"/>
                </a:solidFill>
              </a:rPr>
              <a:t>safety_status</a:t>
            </a:r>
            <a:endParaRPr lang="en-US" sz="850" dirty="0"/>
          </a:p>
        </p:txBody>
      </p:sp>
      <p:sp>
        <p:nvSpPr>
          <p:cNvPr id="57" name="Text 55"/>
          <p:cNvSpPr/>
          <p:nvPr/>
        </p:nvSpPr>
        <p:spPr>
          <a:xfrm>
            <a:off x="7269480" y="4133088"/>
            <a:ext cx="1444752" cy="329184"/>
          </a:xfrm>
          <a:prstGeom prst="rect">
            <a:avLst/>
          </a:prstGeom>
          <a:noFill/>
          <a:ln/>
        </p:spPr>
        <p:txBody>
          <a:bodyPr wrap="square" lIns="0" tIns="0" rIns="0" bIns="0" rtlCol="0" anchor="ctr"/>
          <a:lstStyle/>
          <a:p>
            <a:r>
              <a:rPr lang="en-US" sz="850" dirty="0">
                <a:solidFill>
                  <a:srgbClr val="0D2B3E"/>
                </a:solidFill>
              </a:rPr>
              <a:t>fish_activity_score</a:t>
            </a:r>
            <a:endParaRPr lang="en-US" sz="850" dirty="0"/>
          </a:p>
        </p:txBody>
      </p:sp>
      <p:sp>
        <p:nvSpPr>
          <p:cNvPr id="58" name="Text 56"/>
          <p:cNvSpPr/>
          <p:nvPr/>
        </p:nvSpPr>
        <p:spPr>
          <a:xfrm>
            <a:off x="274320" y="4718304"/>
            <a:ext cx="8595360" cy="329184"/>
          </a:xfrm>
          <a:prstGeom prst="rect">
            <a:avLst/>
          </a:prstGeom>
          <a:noFill/>
          <a:ln/>
        </p:spPr>
        <p:txBody>
          <a:bodyPr wrap="square" lIns="0" tIns="0" rIns="0" bIns="0" rtlCol="0" anchor="ctr"/>
          <a:lstStyle/>
          <a:p>
            <a:pPr algn="ctr" indent="0" marL="0">
              <a:buNone/>
            </a:pPr>
            <a:r>
              <a:rPr lang="en-US" sz="850" i="1" dirty="0">
                <a:solidFill>
                  <a:srgbClr val="1C7293"/>
                </a:solidFill>
              </a:rPr>
              <a:t>weather_code → weather_data     location → weather_data, river_flood_data, fishing_recommendation     weather_data / river_flood_data → fishing_recommendation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502920" y="347472"/>
            <a:ext cx="2011680" cy="292608"/>
          </a:xfrm>
          <a:prstGeom prst="roundRect">
            <a:avLst>
              <a:gd name="adj" fmla="val 25000"/>
            </a:avLst>
          </a:prstGeom>
          <a:solidFill>
            <a:srgbClr val="21C0A0"/>
          </a:solidFill>
          <a:ln w="12700">
            <a:solidFill>
              <a:srgbClr val="21C0A0"/>
            </a:solidFill>
            <a:prstDash val="solid"/>
          </a:ln>
        </p:spPr>
      </p:sp>
      <p:sp>
        <p:nvSpPr>
          <p:cNvPr id="3" name="Text 1"/>
          <p:cNvSpPr/>
          <p:nvPr/>
        </p:nvSpPr>
        <p:spPr>
          <a:xfrm>
            <a:off x="502920" y="347472"/>
            <a:ext cx="2011680" cy="292608"/>
          </a:xfrm>
          <a:prstGeom prst="rect">
            <a:avLst/>
          </a:prstGeom>
          <a:noFill/>
          <a:ln/>
        </p:spPr>
        <p:txBody>
          <a:bodyPr wrap="square" lIns="0" tIns="0" rIns="0" bIns="0" rtlCol="0" anchor="ctr"/>
          <a:lstStyle/>
          <a:p>
            <a:pPr algn="ctr" indent="0" marL="0">
              <a:buNone/>
            </a:pPr>
            <a:r>
              <a:rPr lang="en-US" sz="900" b="1" dirty="0">
                <a:solidFill>
                  <a:srgbClr val="0D2B3E"/>
                </a:solidFill>
              </a:rPr>
              <a:t>DATA QUALITY</a:t>
            </a:r>
            <a:endParaRPr lang="en-US" sz="900" dirty="0"/>
          </a:p>
        </p:txBody>
      </p:sp>
      <p:sp>
        <p:nvSpPr>
          <p:cNvPr id="4" name="Text 2"/>
          <p:cNvSpPr/>
          <p:nvPr/>
        </p:nvSpPr>
        <p:spPr>
          <a:xfrm>
            <a:off x="502920" y="658368"/>
            <a:ext cx="8046720" cy="5486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6 Validation Checks — Before Any DB Write</a:t>
            </a:r>
            <a:endParaRPr lang="en-US" sz="3000" dirty="0"/>
          </a:p>
        </p:txBody>
      </p:sp>
      <p:sp>
        <p:nvSpPr>
          <p:cNvPr id="5" name="Shape 3"/>
          <p:cNvSpPr/>
          <p:nvPr/>
        </p:nvSpPr>
        <p:spPr>
          <a:xfrm>
            <a:off x="365760" y="1371600"/>
            <a:ext cx="8412480" cy="493776"/>
          </a:xfrm>
          <a:prstGeom prst="roundRect">
            <a:avLst>
              <a:gd name="adj" fmla="val 12963"/>
            </a:avLst>
          </a:prstGeom>
          <a:solidFill>
            <a:srgbClr val="EFF6FF"/>
          </a:solidFill>
          <a:ln w="6350">
            <a:solidFill>
              <a:srgbClr val="BFDBFE"/>
            </a:solidFill>
            <a:prstDash val="solid"/>
          </a:ln>
        </p:spPr>
      </p:sp>
      <p:sp>
        <p:nvSpPr>
          <p:cNvPr id="6" name="Shape 4"/>
          <p:cNvSpPr/>
          <p:nvPr/>
        </p:nvSpPr>
        <p:spPr>
          <a:xfrm>
            <a:off x="475488" y="1453896"/>
            <a:ext cx="329184" cy="329184"/>
          </a:xfrm>
          <a:prstGeom prst="ellipse">
            <a:avLst/>
          </a:prstGeom>
          <a:solidFill>
            <a:srgbClr val="1C7293"/>
          </a:solidFill>
          <a:ln w="12700">
            <a:solidFill>
              <a:srgbClr val="FFFFFF"/>
            </a:solidFill>
            <a:prstDash val="solid"/>
          </a:ln>
        </p:spPr>
      </p:sp>
      <p:sp>
        <p:nvSpPr>
          <p:cNvPr id="7" name="Text 5"/>
          <p:cNvSpPr/>
          <p:nvPr/>
        </p:nvSpPr>
        <p:spPr>
          <a:xfrm>
            <a:off x="475488" y="14538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Text 6"/>
          <p:cNvSpPr/>
          <p:nvPr/>
        </p:nvSpPr>
        <p:spPr>
          <a:xfrm>
            <a:off x="932688" y="1444752"/>
            <a:ext cx="2926080" cy="347472"/>
          </a:xfrm>
          <a:prstGeom prst="rect">
            <a:avLst/>
          </a:prstGeom>
          <a:noFill/>
          <a:ln/>
        </p:spPr>
        <p:txBody>
          <a:bodyPr wrap="square" lIns="0" tIns="0" rIns="0" bIns="0" rtlCol="0" anchor="ctr"/>
          <a:lstStyle/>
          <a:p>
            <a:pPr indent="0" marL="0">
              <a:buNone/>
            </a:pPr>
            <a:r>
              <a:rPr lang="en-US" sz="1150" b="1" dirty="0">
                <a:solidFill>
                  <a:srgbClr val="0D2B3E"/>
                </a:solidFill>
              </a:rPr>
              <a:t>API Response Validation</a:t>
            </a:r>
            <a:endParaRPr lang="en-US" sz="1150" dirty="0"/>
          </a:p>
        </p:txBody>
      </p:sp>
      <p:sp>
        <p:nvSpPr>
          <p:cNvPr id="9" name="Shape 7"/>
          <p:cNvSpPr/>
          <p:nvPr/>
        </p:nvSpPr>
        <p:spPr>
          <a:xfrm>
            <a:off x="3913632" y="1490472"/>
            <a:ext cx="822960" cy="237744"/>
          </a:xfrm>
          <a:prstGeom prst="roundRect">
            <a:avLst>
              <a:gd name="adj" fmla="val 23077"/>
            </a:avLst>
          </a:prstGeom>
          <a:solidFill>
            <a:srgbClr val="F4F8FB"/>
          </a:solidFill>
          <a:ln w="6350">
            <a:solidFill>
              <a:srgbClr val="D0E4EF"/>
            </a:solidFill>
            <a:prstDash val="solid"/>
          </a:ln>
        </p:spPr>
      </p:sp>
      <p:sp>
        <p:nvSpPr>
          <p:cNvPr id="10" name="Text 8"/>
          <p:cNvSpPr/>
          <p:nvPr/>
        </p:nvSpPr>
        <p:spPr>
          <a:xfrm>
            <a:off x="3913632" y="1490472"/>
            <a:ext cx="822960" cy="237744"/>
          </a:xfrm>
          <a:prstGeom prst="rect">
            <a:avLst/>
          </a:prstGeom>
          <a:noFill/>
          <a:ln/>
        </p:spPr>
        <p:txBody>
          <a:bodyPr wrap="square" lIns="0" tIns="0" rIns="0" bIns="0" rtlCol="0" anchor="ctr"/>
          <a:lstStyle/>
          <a:p>
            <a:pPr algn="ctr" indent="0" marL="0">
              <a:buNone/>
            </a:pPr>
            <a:r>
              <a:rPr lang="en-US" sz="850" dirty="0">
                <a:solidFill>
                  <a:srgbClr val="64748B"/>
                </a:solidFill>
              </a:rPr>
              <a:t>Extract</a:t>
            </a:r>
            <a:endParaRPr lang="en-US" sz="850" dirty="0"/>
          </a:p>
        </p:txBody>
      </p:sp>
      <p:sp>
        <p:nvSpPr>
          <p:cNvPr id="11" name="Shape 9"/>
          <p:cNvSpPr/>
          <p:nvPr/>
        </p:nvSpPr>
        <p:spPr>
          <a:xfrm>
            <a:off x="4846320" y="1490472"/>
            <a:ext cx="1188720" cy="237744"/>
          </a:xfrm>
          <a:prstGeom prst="roundRect">
            <a:avLst>
              <a:gd name="adj" fmla="val 23077"/>
            </a:avLst>
          </a:prstGeom>
          <a:solidFill>
            <a:srgbClr val="FEE2E2"/>
          </a:solidFill>
          <a:ln w="6350">
            <a:solidFill>
              <a:srgbClr val="D0E4EF"/>
            </a:solidFill>
            <a:prstDash val="solid"/>
          </a:ln>
        </p:spPr>
      </p:sp>
      <p:sp>
        <p:nvSpPr>
          <p:cNvPr id="12" name="Text 10"/>
          <p:cNvSpPr/>
          <p:nvPr/>
        </p:nvSpPr>
        <p:spPr>
          <a:xfrm>
            <a:off x="4846320" y="1490472"/>
            <a:ext cx="1188720" cy="237744"/>
          </a:xfrm>
          <a:prstGeom prst="rect">
            <a:avLst/>
          </a:prstGeom>
          <a:noFill/>
          <a:ln/>
        </p:spPr>
        <p:txBody>
          <a:bodyPr wrap="square" lIns="0" tIns="0" rIns="0" bIns="0" rtlCol="0" anchor="ctr"/>
          <a:lstStyle/>
          <a:p>
            <a:pPr algn="ctr" indent="0" marL="0">
              <a:buNone/>
            </a:pPr>
            <a:r>
              <a:rPr lang="en-US" sz="850" b="1" dirty="0">
                <a:solidFill>
                  <a:srgbClr val="B91C1C"/>
                </a:solidFill>
              </a:rPr>
              <a:t>Hard</a:t>
            </a:r>
            <a:endParaRPr lang="en-US" sz="850" dirty="0"/>
          </a:p>
        </p:txBody>
      </p:sp>
      <p:sp>
        <p:nvSpPr>
          <p:cNvPr id="13" name="Text 11"/>
          <p:cNvSpPr/>
          <p:nvPr/>
        </p:nvSpPr>
        <p:spPr>
          <a:xfrm>
            <a:off x="6172200" y="1463040"/>
            <a:ext cx="2487168" cy="329184"/>
          </a:xfrm>
          <a:prstGeom prst="rect">
            <a:avLst/>
          </a:prstGeom>
          <a:noFill/>
          <a:ln/>
        </p:spPr>
        <p:txBody>
          <a:bodyPr wrap="square" lIns="0" tIns="0" rIns="0" bIns="0" rtlCol="0" anchor="ctr"/>
          <a:lstStyle/>
          <a:p>
            <a:pPr indent="0" marL="0">
              <a:buNone/>
            </a:pPr>
            <a:r>
              <a:rPr lang="en-US" sz="950" dirty="0">
                <a:solidFill>
                  <a:srgbClr val="64748B"/>
                </a:solidFill>
              </a:rPr>
              <a:t>Required fields + non-empty time arrays present</a:t>
            </a:r>
            <a:endParaRPr lang="en-US" sz="950" dirty="0"/>
          </a:p>
        </p:txBody>
      </p:sp>
      <p:sp>
        <p:nvSpPr>
          <p:cNvPr id="14" name="Shape 12"/>
          <p:cNvSpPr/>
          <p:nvPr/>
        </p:nvSpPr>
        <p:spPr>
          <a:xfrm>
            <a:off x="365760" y="1929384"/>
            <a:ext cx="8412480" cy="493776"/>
          </a:xfrm>
          <a:prstGeom prst="roundRect">
            <a:avLst>
              <a:gd name="adj" fmla="val 12963"/>
            </a:avLst>
          </a:prstGeom>
          <a:solidFill>
            <a:srgbClr val="EFF6FF"/>
          </a:solidFill>
          <a:ln w="6350">
            <a:solidFill>
              <a:srgbClr val="BFDBFE"/>
            </a:solidFill>
            <a:prstDash val="solid"/>
          </a:ln>
        </p:spPr>
      </p:sp>
      <p:sp>
        <p:nvSpPr>
          <p:cNvPr id="15" name="Shape 13"/>
          <p:cNvSpPr/>
          <p:nvPr/>
        </p:nvSpPr>
        <p:spPr>
          <a:xfrm>
            <a:off x="475488" y="2011680"/>
            <a:ext cx="329184" cy="329184"/>
          </a:xfrm>
          <a:prstGeom prst="ellipse">
            <a:avLst/>
          </a:prstGeom>
          <a:solidFill>
            <a:srgbClr val="1C7293"/>
          </a:solidFill>
          <a:ln w="12700">
            <a:solidFill>
              <a:srgbClr val="FFFFFF"/>
            </a:solidFill>
            <a:prstDash val="solid"/>
          </a:ln>
        </p:spPr>
      </p:sp>
      <p:sp>
        <p:nvSpPr>
          <p:cNvPr id="16" name="Text 14"/>
          <p:cNvSpPr/>
          <p:nvPr/>
        </p:nvSpPr>
        <p:spPr>
          <a:xfrm>
            <a:off x="475488" y="20116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7" name="Text 15"/>
          <p:cNvSpPr/>
          <p:nvPr/>
        </p:nvSpPr>
        <p:spPr>
          <a:xfrm>
            <a:off x="932688" y="2002536"/>
            <a:ext cx="2926080" cy="347472"/>
          </a:xfrm>
          <a:prstGeom prst="rect">
            <a:avLst/>
          </a:prstGeom>
          <a:noFill/>
          <a:ln/>
        </p:spPr>
        <p:txBody>
          <a:bodyPr wrap="square" lIns="0" tIns="0" rIns="0" bIns="0" rtlCol="0" anchor="ctr"/>
          <a:lstStyle/>
          <a:p>
            <a:pPr indent="0" marL="0">
              <a:buNone/>
            </a:pPr>
            <a:r>
              <a:rPr lang="en-US" sz="1150" b="1" dirty="0">
                <a:solidFill>
                  <a:srgbClr val="0D2B3E"/>
                </a:solidFill>
              </a:rPr>
              <a:t>Null Check — Critical Columns</a:t>
            </a:r>
            <a:endParaRPr lang="en-US" sz="1150" dirty="0"/>
          </a:p>
        </p:txBody>
      </p:sp>
      <p:sp>
        <p:nvSpPr>
          <p:cNvPr id="18" name="Shape 16"/>
          <p:cNvSpPr/>
          <p:nvPr/>
        </p:nvSpPr>
        <p:spPr>
          <a:xfrm>
            <a:off x="3913632" y="2048256"/>
            <a:ext cx="822960" cy="237744"/>
          </a:xfrm>
          <a:prstGeom prst="roundRect">
            <a:avLst>
              <a:gd name="adj" fmla="val 23077"/>
            </a:avLst>
          </a:prstGeom>
          <a:solidFill>
            <a:srgbClr val="F4F8FB"/>
          </a:solidFill>
          <a:ln w="6350">
            <a:solidFill>
              <a:srgbClr val="D0E4EF"/>
            </a:solidFill>
            <a:prstDash val="solid"/>
          </a:ln>
        </p:spPr>
      </p:sp>
      <p:sp>
        <p:nvSpPr>
          <p:cNvPr id="19" name="Text 17"/>
          <p:cNvSpPr/>
          <p:nvPr/>
        </p:nvSpPr>
        <p:spPr>
          <a:xfrm>
            <a:off x="3913632" y="2048256"/>
            <a:ext cx="822960" cy="237744"/>
          </a:xfrm>
          <a:prstGeom prst="rect">
            <a:avLst/>
          </a:prstGeom>
          <a:noFill/>
          <a:ln/>
        </p:spPr>
        <p:txBody>
          <a:bodyPr wrap="square" lIns="0" tIns="0" rIns="0" bIns="0" rtlCol="0" anchor="ctr"/>
          <a:lstStyle/>
          <a:p>
            <a:pPr algn="ctr" indent="0" marL="0">
              <a:buNone/>
            </a:pPr>
            <a:r>
              <a:rPr lang="en-US" sz="850" dirty="0">
                <a:solidFill>
                  <a:srgbClr val="64748B"/>
                </a:solidFill>
              </a:rPr>
              <a:t>Load</a:t>
            </a:r>
            <a:endParaRPr lang="en-US" sz="850" dirty="0"/>
          </a:p>
        </p:txBody>
      </p:sp>
      <p:sp>
        <p:nvSpPr>
          <p:cNvPr id="20" name="Shape 18"/>
          <p:cNvSpPr/>
          <p:nvPr/>
        </p:nvSpPr>
        <p:spPr>
          <a:xfrm>
            <a:off x="4846320" y="2048256"/>
            <a:ext cx="1188720" cy="237744"/>
          </a:xfrm>
          <a:prstGeom prst="roundRect">
            <a:avLst>
              <a:gd name="adj" fmla="val 23077"/>
            </a:avLst>
          </a:prstGeom>
          <a:solidFill>
            <a:srgbClr val="FEE2E2"/>
          </a:solidFill>
          <a:ln w="6350">
            <a:solidFill>
              <a:srgbClr val="D0E4EF"/>
            </a:solidFill>
            <a:prstDash val="solid"/>
          </a:ln>
        </p:spPr>
      </p:sp>
      <p:sp>
        <p:nvSpPr>
          <p:cNvPr id="21" name="Text 19"/>
          <p:cNvSpPr/>
          <p:nvPr/>
        </p:nvSpPr>
        <p:spPr>
          <a:xfrm>
            <a:off x="4846320" y="2048256"/>
            <a:ext cx="1188720" cy="237744"/>
          </a:xfrm>
          <a:prstGeom prst="rect">
            <a:avLst/>
          </a:prstGeom>
          <a:noFill/>
          <a:ln/>
        </p:spPr>
        <p:txBody>
          <a:bodyPr wrap="square" lIns="0" tIns="0" rIns="0" bIns="0" rtlCol="0" anchor="ctr"/>
          <a:lstStyle/>
          <a:p>
            <a:pPr algn="ctr" indent="0" marL="0">
              <a:buNone/>
            </a:pPr>
            <a:r>
              <a:rPr lang="en-US" sz="850" b="1" dirty="0">
                <a:solidFill>
                  <a:srgbClr val="B91C1C"/>
                </a:solidFill>
              </a:rPr>
              <a:t>Hard</a:t>
            </a:r>
            <a:endParaRPr lang="en-US" sz="850" dirty="0"/>
          </a:p>
        </p:txBody>
      </p:sp>
      <p:sp>
        <p:nvSpPr>
          <p:cNvPr id="22" name="Text 20"/>
          <p:cNvSpPr/>
          <p:nvPr/>
        </p:nvSpPr>
        <p:spPr>
          <a:xfrm>
            <a:off x="6172200" y="2020824"/>
            <a:ext cx="2487168" cy="329184"/>
          </a:xfrm>
          <a:prstGeom prst="rect">
            <a:avLst/>
          </a:prstGeom>
          <a:noFill/>
          <a:ln/>
        </p:spPr>
        <p:txBody>
          <a:bodyPr wrap="square" lIns="0" tIns="0" rIns="0" bIns="0" rtlCol="0" anchor="ctr"/>
          <a:lstStyle/>
          <a:p>
            <a:pPr indent="0" marL="0">
              <a:buNone/>
            </a:pPr>
            <a:r>
              <a:rPr lang="en-US" sz="950" dirty="0">
                <a:solidFill>
                  <a:srgbClr val="64748B"/>
                </a:solidFill>
              </a:rPr>
              <a:t>location_id and date have zero nulls</a:t>
            </a:r>
            <a:endParaRPr lang="en-US" sz="950" dirty="0"/>
          </a:p>
        </p:txBody>
      </p:sp>
      <p:sp>
        <p:nvSpPr>
          <p:cNvPr id="23" name="Shape 21"/>
          <p:cNvSpPr/>
          <p:nvPr/>
        </p:nvSpPr>
        <p:spPr>
          <a:xfrm>
            <a:off x="365760" y="2487168"/>
            <a:ext cx="8412480" cy="493776"/>
          </a:xfrm>
          <a:prstGeom prst="roundRect">
            <a:avLst>
              <a:gd name="adj" fmla="val 12963"/>
            </a:avLst>
          </a:prstGeom>
          <a:solidFill>
            <a:srgbClr val="EFF6FF"/>
          </a:solidFill>
          <a:ln w="6350">
            <a:solidFill>
              <a:srgbClr val="BFDBFE"/>
            </a:solidFill>
            <a:prstDash val="solid"/>
          </a:ln>
        </p:spPr>
      </p:sp>
      <p:sp>
        <p:nvSpPr>
          <p:cNvPr id="24" name="Shape 22"/>
          <p:cNvSpPr/>
          <p:nvPr/>
        </p:nvSpPr>
        <p:spPr>
          <a:xfrm>
            <a:off x="475488" y="2569464"/>
            <a:ext cx="329184" cy="329184"/>
          </a:xfrm>
          <a:prstGeom prst="ellipse">
            <a:avLst/>
          </a:prstGeom>
          <a:solidFill>
            <a:srgbClr val="1C7293"/>
          </a:solidFill>
          <a:ln w="12700">
            <a:solidFill>
              <a:srgbClr val="FFFFFF"/>
            </a:solidFill>
            <a:prstDash val="solid"/>
          </a:ln>
        </p:spPr>
      </p:sp>
      <p:sp>
        <p:nvSpPr>
          <p:cNvPr id="25" name="Text 23"/>
          <p:cNvSpPr/>
          <p:nvPr/>
        </p:nvSpPr>
        <p:spPr>
          <a:xfrm>
            <a:off x="475488" y="256946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6" name="Text 24"/>
          <p:cNvSpPr/>
          <p:nvPr/>
        </p:nvSpPr>
        <p:spPr>
          <a:xfrm>
            <a:off x="932688" y="2560320"/>
            <a:ext cx="2926080" cy="347472"/>
          </a:xfrm>
          <a:prstGeom prst="rect">
            <a:avLst/>
          </a:prstGeom>
          <a:noFill/>
          <a:ln/>
        </p:spPr>
        <p:txBody>
          <a:bodyPr wrap="square" lIns="0" tIns="0" rIns="0" bIns="0" rtlCol="0" anchor="ctr"/>
          <a:lstStyle/>
          <a:p>
            <a:pPr indent="0" marL="0">
              <a:buNone/>
            </a:pPr>
            <a:r>
              <a:rPr lang="en-US" sz="1150" b="1" dirty="0">
                <a:solidFill>
                  <a:srgbClr val="0D2B3E"/>
                </a:solidFill>
              </a:rPr>
              <a:t>Duplicate Detection</a:t>
            </a:r>
            <a:endParaRPr lang="en-US" sz="1150" dirty="0"/>
          </a:p>
        </p:txBody>
      </p:sp>
      <p:sp>
        <p:nvSpPr>
          <p:cNvPr id="27" name="Shape 25"/>
          <p:cNvSpPr/>
          <p:nvPr/>
        </p:nvSpPr>
        <p:spPr>
          <a:xfrm>
            <a:off x="3913632" y="2606040"/>
            <a:ext cx="822960" cy="237744"/>
          </a:xfrm>
          <a:prstGeom prst="roundRect">
            <a:avLst>
              <a:gd name="adj" fmla="val 23077"/>
            </a:avLst>
          </a:prstGeom>
          <a:solidFill>
            <a:srgbClr val="F4F8FB"/>
          </a:solidFill>
          <a:ln w="6350">
            <a:solidFill>
              <a:srgbClr val="D0E4EF"/>
            </a:solidFill>
            <a:prstDash val="solid"/>
          </a:ln>
        </p:spPr>
      </p:sp>
      <p:sp>
        <p:nvSpPr>
          <p:cNvPr id="28" name="Text 26"/>
          <p:cNvSpPr/>
          <p:nvPr/>
        </p:nvSpPr>
        <p:spPr>
          <a:xfrm>
            <a:off x="3913632" y="2606040"/>
            <a:ext cx="822960" cy="237744"/>
          </a:xfrm>
          <a:prstGeom prst="rect">
            <a:avLst/>
          </a:prstGeom>
          <a:noFill/>
          <a:ln/>
        </p:spPr>
        <p:txBody>
          <a:bodyPr wrap="square" lIns="0" tIns="0" rIns="0" bIns="0" rtlCol="0" anchor="ctr"/>
          <a:lstStyle/>
          <a:p>
            <a:pPr algn="ctr" indent="0" marL="0">
              <a:buNone/>
            </a:pPr>
            <a:r>
              <a:rPr lang="en-US" sz="850" dirty="0">
                <a:solidFill>
                  <a:srgbClr val="64748B"/>
                </a:solidFill>
              </a:rPr>
              <a:t>Load</a:t>
            </a:r>
            <a:endParaRPr lang="en-US" sz="850" dirty="0"/>
          </a:p>
        </p:txBody>
      </p:sp>
      <p:sp>
        <p:nvSpPr>
          <p:cNvPr id="29" name="Shape 27"/>
          <p:cNvSpPr/>
          <p:nvPr/>
        </p:nvSpPr>
        <p:spPr>
          <a:xfrm>
            <a:off x="4846320" y="2606040"/>
            <a:ext cx="1188720" cy="237744"/>
          </a:xfrm>
          <a:prstGeom prst="roundRect">
            <a:avLst>
              <a:gd name="adj" fmla="val 23077"/>
            </a:avLst>
          </a:prstGeom>
          <a:solidFill>
            <a:srgbClr val="FEE2E2"/>
          </a:solidFill>
          <a:ln w="6350">
            <a:solidFill>
              <a:srgbClr val="D0E4EF"/>
            </a:solidFill>
            <a:prstDash val="solid"/>
          </a:ln>
        </p:spPr>
      </p:sp>
      <p:sp>
        <p:nvSpPr>
          <p:cNvPr id="30" name="Text 28"/>
          <p:cNvSpPr/>
          <p:nvPr/>
        </p:nvSpPr>
        <p:spPr>
          <a:xfrm>
            <a:off x="4846320" y="2606040"/>
            <a:ext cx="1188720" cy="237744"/>
          </a:xfrm>
          <a:prstGeom prst="rect">
            <a:avLst/>
          </a:prstGeom>
          <a:noFill/>
          <a:ln/>
        </p:spPr>
        <p:txBody>
          <a:bodyPr wrap="square" lIns="0" tIns="0" rIns="0" bIns="0" rtlCol="0" anchor="ctr"/>
          <a:lstStyle/>
          <a:p>
            <a:pPr algn="ctr" indent="0" marL="0">
              <a:buNone/>
            </a:pPr>
            <a:r>
              <a:rPr lang="en-US" sz="850" b="1" dirty="0">
                <a:solidFill>
                  <a:srgbClr val="B91C1C"/>
                </a:solidFill>
              </a:rPr>
              <a:t>Hard</a:t>
            </a:r>
            <a:endParaRPr lang="en-US" sz="850" dirty="0"/>
          </a:p>
        </p:txBody>
      </p:sp>
      <p:sp>
        <p:nvSpPr>
          <p:cNvPr id="31" name="Text 29"/>
          <p:cNvSpPr/>
          <p:nvPr/>
        </p:nvSpPr>
        <p:spPr>
          <a:xfrm>
            <a:off x="6172200" y="2578608"/>
            <a:ext cx="2487168" cy="329184"/>
          </a:xfrm>
          <a:prstGeom prst="rect">
            <a:avLst/>
          </a:prstGeom>
          <a:noFill/>
          <a:ln/>
        </p:spPr>
        <p:txBody>
          <a:bodyPr wrap="square" lIns="0" tIns="0" rIns="0" bIns="0" rtlCol="0" anchor="ctr"/>
          <a:lstStyle/>
          <a:p>
            <a:pPr indent="0" marL="0">
              <a:buNone/>
            </a:pPr>
            <a:r>
              <a:rPr lang="en-US" sz="950" dirty="0">
                <a:solidFill>
                  <a:srgbClr val="64748B"/>
                </a:solidFill>
              </a:rPr>
              <a:t>(location_id, date) is unique in both tables</a:t>
            </a:r>
            <a:endParaRPr lang="en-US" sz="950" dirty="0"/>
          </a:p>
        </p:txBody>
      </p:sp>
      <p:sp>
        <p:nvSpPr>
          <p:cNvPr id="32" name="Shape 30"/>
          <p:cNvSpPr/>
          <p:nvPr/>
        </p:nvSpPr>
        <p:spPr>
          <a:xfrm>
            <a:off x="365760" y="3044952"/>
            <a:ext cx="8412480" cy="493776"/>
          </a:xfrm>
          <a:prstGeom prst="roundRect">
            <a:avLst>
              <a:gd name="adj" fmla="val 12963"/>
            </a:avLst>
          </a:prstGeom>
          <a:solidFill>
            <a:srgbClr val="EFF6FF"/>
          </a:solidFill>
          <a:ln w="6350">
            <a:solidFill>
              <a:srgbClr val="BFDBFE"/>
            </a:solidFill>
            <a:prstDash val="solid"/>
          </a:ln>
        </p:spPr>
      </p:sp>
      <p:sp>
        <p:nvSpPr>
          <p:cNvPr id="33" name="Shape 31"/>
          <p:cNvSpPr/>
          <p:nvPr/>
        </p:nvSpPr>
        <p:spPr>
          <a:xfrm>
            <a:off x="475488" y="3127248"/>
            <a:ext cx="329184" cy="329184"/>
          </a:xfrm>
          <a:prstGeom prst="ellipse">
            <a:avLst/>
          </a:prstGeom>
          <a:solidFill>
            <a:srgbClr val="1C7293"/>
          </a:solidFill>
          <a:ln w="12700">
            <a:solidFill>
              <a:srgbClr val="FFFFFF"/>
            </a:solidFill>
            <a:prstDash val="solid"/>
          </a:ln>
        </p:spPr>
      </p:sp>
      <p:sp>
        <p:nvSpPr>
          <p:cNvPr id="34" name="Text 32"/>
          <p:cNvSpPr/>
          <p:nvPr/>
        </p:nvSpPr>
        <p:spPr>
          <a:xfrm>
            <a:off x="475488" y="3127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35" name="Text 33"/>
          <p:cNvSpPr/>
          <p:nvPr/>
        </p:nvSpPr>
        <p:spPr>
          <a:xfrm>
            <a:off x="932688" y="3118104"/>
            <a:ext cx="2926080" cy="347472"/>
          </a:xfrm>
          <a:prstGeom prst="rect">
            <a:avLst/>
          </a:prstGeom>
          <a:noFill/>
          <a:ln/>
        </p:spPr>
        <p:txBody>
          <a:bodyPr wrap="square" lIns="0" tIns="0" rIns="0" bIns="0" rtlCol="0" anchor="ctr"/>
          <a:lstStyle/>
          <a:p>
            <a:pPr indent="0" marL="0">
              <a:buNone/>
            </a:pPr>
            <a:r>
              <a:rPr lang="en-US" sz="1150" b="1" dirty="0">
                <a:solidFill>
                  <a:srgbClr val="0D2B3E"/>
                </a:solidFill>
              </a:rPr>
              <a:t>Referential Integrity</a:t>
            </a:r>
            <a:endParaRPr lang="en-US" sz="1150" dirty="0"/>
          </a:p>
        </p:txBody>
      </p:sp>
      <p:sp>
        <p:nvSpPr>
          <p:cNvPr id="36" name="Shape 34"/>
          <p:cNvSpPr/>
          <p:nvPr/>
        </p:nvSpPr>
        <p:spPr>
          <a:xfrm>
            <a:off x="3913632" y="3163824"/>
            <a:ext cx="822960" cy="237744"/>
          </a:xfrm>
          <a:prstGeom prst="roundRect">
            <a:avLst>
              <a:gd name="adj" fmla="val 23077"/>
            </a:avLst>
          </a:prstGeom>
          <a:solidFill>
            <a:srgbClr val="F4F8FB"/>
          </a:solidFill>
          <a:ln w="6350">
            <a:solidFill>
              <a:srgbClr val="D0E4EF"/>
            </a:solidFill>
            <a:prstDash val="solid"/>
          </a:ln>
        </p:spPr>
      </p:sp>
      <p:sp>
        <p:nvSpPr>
          <p:cNvPr id="37" name="Text 35"/>
          <p:cNvSpPr/>
          <p:nvPr/>
        </p:nvSpPr>
        <p:spPr>
          <a:xfrm>
            <a:off x="3913632" y="3163824"/>
            <a:ext cx="822960" cy="237744"/>
          </a:xfrm>
          <a:prstGeom prst="rect">
            <a:avLst/>
          </a:prstGeom>
          <a:noFill/>
          <a:ln/>
        </p:spPr>
        <p:txBody>
          <a:bodyPr wrap="square" lIns="0" tIns="0" rIns="0" bIns="0" rtlCol="0" anchor="ctr"/>
          <a:lstStyle/>
          <a:p>
            <a:pPr algn="ctr" indent="0" marL="0">
              <a:buNone/>
            </a:pPr>
            <a:r>
              <a:rPr lang="en-US" sz="850" dirty="0">
                <a:solidFill>
                  <a:srgbClr val="64748B"/>
                </a:solidFill>
              </a:rPr>
              <a:t>Load</a:t>
            </a:r>
            <a:endParaRPr lang="en-US" sz="850" dirty="0"/>
          </a:p>
        </p:txBody>
      </p:sp>
      <p:sp>
        <p:nvSpPr>
          <p:cNvPr id="38" name="Shape 36"/>
          <p:cNvSpPr/>
          <p:nvPr/>
        </p:nvSpPr>
        <p:spPr>
          <a:xfrm>
            <a:off x="4846320" y="3163824"/>
            <a:ext cx="1188720" cy="237744"/>
          </a:xfrm>
          <a:prstGeom prst="roundRect">
            <a:avLst>
              <a:gd name="adj" fmla="val 23077"/>
            </a:avLst>
          </a:prstGeom>
          <a:solidFill>
            <a:srgbClr val="FEE2E2"/>
          </a:solidFill>
          <a:ln w="6350">
            <a:solidFill>
              <a:srgbClr val="D0E4EF"/>
            </a:solidFill>
            <a:prstDash val="solid"/>
          </a:ln>
        </p:spPr>
      </p:sp>
      <p:sp>
        <p:nvSpPr>
          <p:cNvPr id="39" name="Text 37"/>
          <p:cNvSpPr/>
          <p:nvPr/>
        </p:nvSpPr>
        <p:spPr>
          <a:xfrm>
            <a:off x="4846320" y="3163824"/>
            <a:ext cx="1188720" cy="237744"/>
          </a:xfrm>
          <a:prstGeom prst="rect">
            <a:avLst/>
          </a:prstGeom>
          <a:noFill/>
          <a:ln/>
        </p:spPr>
        <p:txBody>
          <a:bodyPr wrap="square" lIns="0" tIns="0" rIns="0" bIns="0" rtlCol="0" anchor="ctr"/>
          <a:lstStyle/>
          <a:p>
            <a:pPr algn="ctr" indent="0" marL="0">
              <a:buNone/>
            </a:pPr>
            <a:r>
              <a:rPr lang="en-US" sz="850" b="1" dirty="0">
                <a:solidFill>
                  <a:srgbClr val="B91C1C"/>
                </a:solidFill>
              </a:rPr>
              <a:t>Hard</a:t>
            </a:r>
            <a:endParaRPr lang="en-US" sz="850" dirty="0"/>
          </a:p>
        </p:txBody>
      </p:sp>
      <p:sp>
        <p:nvSpPr>
          <p:cNvPr id="40" name="Text 38"/>
          <p:cNvSpPr/>
          <p:nvPr/>
        </p:nvSpPr>
        <p:spPr>
          <a:xfrm>
            <a:off x="6172200" y="3136392"/>
            <a:ext cx="2487168" cy="329184"/>
          </a:xfrm>
          <a:prstGeom prst="rect">
            <a:avLst/>
          </a:prstGeom>
          <a:noFill/>
          <a:ln/>
        </p:spPr>
        <p:txBody>
          <a:bodyPr wrap="square" lIns="0" tIns="0" rIns="0" bIns="0" rtlCol="0" anchor="ctr"/>
          <a:lstStyle/>
          <a:p>
            <a:pPr indent="0" marL="0">
              <a:buNone/>
            </a:pPr>
            <a:r>
              <a:rPr lang="en-US" sz="950" dirty="0">
                <a:solidFill>
                  <a:srgbClr val="64748B"/>
                </a:solidFill>
              </a:rPr>
              <a:t>Every location_id exists in the seed set</a:t>
            </a:r>
            <a:endParaRPr lang="en-US" sz="950" dirty="0"/>
          </a:p>
        </p:txBody>
      </p:sp>
      <p:sp>
        <p:nvSpPr>
          <p:cNvPr id="41" name="Shape 39"/>
          <p:cNvSpPr/>
          <p:nvPr/>
        </p:nvSpPr>
        <p:spPr>
          <a:xfrm>
            <a:off x="365760" y="3602736"/>
            <a:ext cx="8412480" cy="493776"/>
          </a:xfrm>
          <a:prstGeom prst="roundRect">
            <a:avLst>
              <a:gd name="adj" fmla="val 12963"/>
            </a:avLst>
          </a:prstGeom>
          <a:solidFill>
            <a:srgbClr val="FFFBEB"/>
          </a:solidFill>
          <a:ln w="6350">
            <a:solidFill>
              <a:srgbClr val="FDE68A"/>
            </a:solidFill>
            <a:prstDash val="solid"/>
          </a:ln>
        </p:spPr>
      </p:sp>
      <p:sp>
        <p:nvSpPr>
          <p:cNvPr id="42" name="Shape 40"/>
          <p:cNvSpPr/>
          <p:nvPr/>
        </p:nvSpPr>
        <p:spPr>
          <a:xfrm>
            <a:off x="475488" y="3685032"/>
            <a:ext cx="329184" cy="329184"/>
          </a:xfrm>
          <a:prstGeom prst="ellipse">
            <a:avLst/>
          </a:prstGeom>
          <a:solidFill>
            <a:srgbClr val="A16207"/>
          </a:solidFill>
          <a:ln w="12700">
            <a:solidFill>
              <a:srgbClr val="FFFFFF"/>
            </a:solidFill>
            <a:prstDash val="solid"/>
          </a:ln>
        </p:spPr>
      </p:sp>
      <p:sp>
        <p:nvSpPr>
          <p:cNvPr id="43" name="Text 41"/>
          <p:cNvSpPr/>
          <p:nvPr/>
        </p:nvSpPr>
        <p:spPr>
          <a:xfrm>
            <a:off x="475488" y="36850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44" name="Text 42"/>
          <p:cNvSpPr/>
          <p:nvPr/>
        </p:nvSpPr>
        <p:spPr>
          <a:xfrm>
            <a:off x="932688" y="3675888"/>
            <a:ext cx="2926080" cy="347472"/>
          </a:xfrm>
          <a:prstGeom prst="rect">
            <a:avLst/>
          </a:prstGeom>
          <a:noFill/>
          <a:ln/>
        </p:spPr>
        <p:txBody>
          <a:bodyPr wrap="square" lIns="0" tIns="0" rIns="0" bIns="0" rtlCol="0" anchor="ctr"/>
          <a:lstStyle/>
          <a:p>
            <a:pPr indent="0" marL="0">
              <a:buNone/>
            </a:pPr>
            <a:r>
              <a:rPr lang="en-US" sz="1150" b="1" dirty="0">
                <a:solidFill>
                  <a:srgbClr val="0D2B3E"/>
                </a:solidFill>
              </a:rPr>
              <a:t>Numeric Range Validation</a:t>
            </a:r>
            <a:endParaRPr lang="en-US" sz="1150" dirty="0"/>
          </a:p>
        </p:txBody>
      </p:sp>
      <p:sp>
        <p:nvSpPr>
          <p:cNvPr id="45" name="Shape 43"/>
          <p:cNvSpPr/>
          <p:nvPr/>
        </p:nvSpPr>
        <p:spPr>
          <a:xfrm>
            <a:off x="3913632" y="3721608"/>
            <a:ext cx="822960" cy="237744"/>
          </a:xfrm>
          <a:prstGeom prst="roundRect">
            <a:avLst>
              <a:gd name="adj" fmla="val 23077"/>
            </a:avLst>
          </a:prstGeom>
          <a:solidFill>
            <a:srgbClr val="F4F8FB"/>
          </a:solidFill>
          <a:ln w="6350">
            <a:solidFill>
              <a:srgbClr val="D0E4EF"/>
            </a:solidFill>
            <a:prstDash val="solid"/>
          </a:ln>
        </p:spPr>
      </p:sp>
      <p:sp>
        <p:nvSpPr>
          <p:cNvPr id="46" name="Text 44"/>
          <p:cNvSpPr/>
          <p:nvPr/>
        </p:nvSpPr>
        <p:spPr>
          <a:xfrm>
            <a:off x="3913632" y="3721608"/>
            <a:ext cx="822960" cy="237744"/>
          </a:xfrm>
          <a:prstGeom prst="rect">
            <a:avLst/>
          </a:prstGeom>
          <a:noFill/>
          <a:ln/>
        </p:spPr>
        <p:txBody>
          <a:bodyPr wrap="square" lIns="0" tIns="0" rIns="0" bIns="0" rtlCol="0" anchor="ctr"/>
          <a:lstStyle/>
          <a:p>
            <a:pPr algn="ctr" indent="0" marL="0">
              <a:buNone/>
            </a:pPr>
            <a:r>
              <a:rPr lang="en-US" sz="850" dirty="0">
                <a:solidFill>
                  <a:srgbClr val="64748B"/>
                </a:solidFill>
              </a:rPr>
              <a:t>Load</a:t>
            </a:r>
            <a:endParaRPr lang="en-US" sz="850" dirty="0"/>
          </a:p>
        </p:txBody>
      </p:sp>
      <p:sp>
        <p:nvSpPr>
          <p:cNvPr id="47" name="Shape 45"/>
          <p:cNvSpPr/>
          <p:nvPr/>
        </p:nvSpPr>
        <p:spPr>
          <a:xfrm>
            <a:off x="4846320" y="3721608"/>
            <a:ext cx="1188720" cy="237744"/>
          </a:xfrm>
          <a:prstGeom prst="roundRect">
            <a:avLst>
              <a:gd name="adj" fmla="val 23077"/>
            </a:avLst>
          </a:prstGeom>
          <a:solidFill>
            <a:srgbClr val="FEF3C7"/>
          </a:solidFill>
          <a:ln w="6350">
            <a:solidFill>
              <a:srgbClr val="D0E4EF"/>
            </a:solidFill>
            <a:prstDash val="solid"/>
          </a:ln>
        </p:spPr>
      </p:sp>
      <p:sp>
        <p:nvSpPr>
          <p:cNvPr id="48" name="Text 46"/>
          <p:cNvSpPr/>
          <p:nvPr/>
        </p:nvSpPr>
        <p:spPr>
          <a:xfrm>
            <a:off x="4846320" y="3721608"/>
            <a:ext cx="1188720" cy="237744"/>
          </a:xfrm>
          <a:prstGeom prst="rect">
            <a:avLst/>
          </a:prstGeom>
          <a:noFill/>
          <a:ln/>
        </p:spPr>
        <p:txBody>
          <a:bodyPr wrap="square" lIns="0" tIns="0" rIns="0" bIns="0" rtlCol="0" anchor="ctr"/>
          <a:lstStyle/>
          <a:p>
            <a:pPr algn="ctr" indent="0" marL="0">
              <a:buNone/>
            </a:pPr>
            <a:r>
              <a:rPr lang="en-US" sz="850" b="1" dirty="0">
                <a:solidFill>
                  <a:srgbClr val="92400E"/>
                </a:solidFill>
              </a:rPr>
              <a:t>Soft (warn)</a:t>
            </a:r>
            <a:endParaRPr lang="en-US" sz="850" dirty="0"/>
          </a:p>
        </p:txBody>
      </p:sp>
      <p:sp>
        <p:nvSpPr>
          <p:cNvPr id="49" name="Text 47"/>
          <p:cNvSpPr/>
          <p:nvPr/>
        </p:nvSpPr>
        <p:spPr>
          <a:xfrm>
            <a:off x="6172200" y="3694176"/>
            <a:ext cx="2487168" cy="329184"/>
          </a:xfrm>
          <a:prstGeom prst="rect">
            <a:avLst/>
          </a:prstGeom>
          <a:noFill/>
          <a:ln/>
        </p:spPr>
        <p:txBody>
          <a:bodyPr wrap="square" lIns="0" tIns="0" rIns="0" bIns="0" rtlCol="0" anchor="ctr"/>
          <a:lstStyle/>
          <a:p>
            <a:pPr indent="0" marL="0">
              <a:buNone/>
            </a:pPr>
            <a:r>
              <a:rPr lang="en-US" sz="950" dirty="0">
                <a:solidFill>
                  <a:srgbClr val="64748B"/>
                </a:solidFill>
              </a:rPr>
              <a:t>Temp, wind, precip, pressure, discharge in bounds</a:t>
            </a:r>
            <a:endParaRPr lang="en-US" sz="950" dirty="0"/>
          </a:p>
        </p:txBody>
      </p:sp>
      <p:sp>
        <p:nvSpPr>
          <p:cNvPr id="50" name="Shape 48"/>
          <p:cNvSpPr/>
          <p:nvPr/>
        </p:nvSpPr>
        <p:spPr>
          <a:xfrm>
            <a:off x="365760" y="4160520"/>
            <a:ext cx="8412480" cy="493776"/>
          </a:xfrm>
          <a:prstGeom prst="roundRect">
            <a:avLst>
              <a:gd name="adj" fmla="val 12963"/>
            </a:avLst>
          </a:prstGeom>
          <a:solidFill>
            <a:srgbClr val="FFFBEB"/>
          </a:solidFill>
          <a:ln w="6350">
            <a:solidFill>
              <a:srgbClr val="FDE68A"/>
            </a:solidFill>
            <a:prstDash val="solid"/>
          </a:ln>
        </p:spPr>
      </p:sp>
      <p:sp>
        <p:nvSpPr>
          <p:cNvPr id="51" name="Shape 49"/>
          <p:cNvSpPr/>
          <p:nvPr/>
        </p:nvSpPr>
        <p:spPr>
          <a:xfrm>
            <a:off x="475488" y="4242816"/>
            <a:ext cx="329184" cy="329184"/>
          </a:xfrm>
          <a:prstGeom prst="ellipse">
            <a:avLst/>
          </a:prstGeom>
          <a:solidFill>
            <a:srgbClr val="A16207"/>
          </a:solidFill>
          <a:ln w="12700">
            <a:solidFill>
              <a:srgbClr val="FFFFFF"/>
            </a:solidFill>
            <a:prstDash val="solid"/>
          </a:ln>
        </p:spPr>
      </p:sp>
      <p:sp>
        <p:nvSpPr>
          <p:cNvPr id="52" name="Text 50"/>
          <p:cNvSpPr/>
          <p:nvPr/>
        </p:nvSpPr>
        <p:spPr>
          <a:xfrm>
            <a:off x="475488" y="42428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53" name="Text 51"/>
          <p:cNvSpPr/>
          <p:nvPr/>
        </p:nvSpPr>
        <p:spPr>
          <a:xfrm>
            <a:off x="932688" y="4233672"/>
            <a:ext cx="2926080" cy="347472"/>
          </a:xfrm>
          <a:prstGeom prst="rect">
            <a:avLst/>
          </a:prstGeom>
          <a:noFill/>
          <a:ln/>
        </p:spPr>
        <p:txBody>
          <a:bodyPr wrap="square" lIns="0" tIns="0" rIns="0" bIns="0" rtlCol="0" anchor="ctr"/>
          <a:lstStyle/>
          <a:p>
            <a:pPr indent="0" marL="0">
              <a:buNone/>
            </a:pPr>
            <a:r>
              <a:rPr lang="en-US" sz="1150" b="1" dirty="0">
                <a:solidFill>
                  <a:srgbClr val="0D2B3E"/>
                </a:solidFill>
              </a:rPr>
              <a:t>Row Count per Location</a:t>
            </a:r>
            <a:endParaRPr lang="en-US" sz="1150" dirty="0"/>
          </a:p>
        </p:txBody>
      </p:sp>
      <p:sp>
        <p:nvSpPr>
          <p:cNvPr id="54" name="Shape 52"/>
          <p:cNvSpPr/>
          <p:nvPr/>
        </p:nvSpPr>
        <p:spPr>
          <a:xfrm>
            <a:off x="3913632" y="4279392"/>
            <a:ext cx="822960" cy="237744"/>
          </a:xfrm>
          <a:prstGeom prst="roundRect">
            <a:avLst>
              <a:gd name="adj" fmla="val 23077"/>
            </a:avLst>
          </a:prstGeom>
          <a:solidFill>
            <a:srgbClr val="F4F8FB"/>
          </a:solidFill>
          <a:ln w="6350">
            <a:solidFill>
              <a:srgbClr val="D0E4EF"/>
            </a:solidFill>
            <a:prstDash val="solid"/>
          </a:ln>
        </p:spPr>
      </p:sp>
      <p:sp>
        <p:nvSpPr>
          <p:cNvPr id="55" name="Text 53"/>
          <p:cNvSpPr/>
          <p:nvPr/>
        </p:nvSpPr>
        <p:spPr>
          <a:xfrm>
            <a:off x="3913632" y="4279392"/>
            <a:ext cx="822960" cy="237744"/>
          </a:xfrm>
          <a:prstGeom prst="rect">
            <a:avLst/>
          </a:prstGeom>
          <a:noFill/>
          <a:ln/>
        </p:spPr>
        <p:txBody>
          <a:bodyPr wrap="square" lIns="0" tIns="0" rIns="0" bIns="0" rtlCol="0" anchor="ctr"/>
          <a:lstStyle/>
          <a:p>
            <a:pPr algn="ctr" indent="0" marL="0">
              <a:buNone/>
            </a:pPr>
            <a:r>
              <a:rPr lang="en-US" sz="850" dirty="0">
                <a:solidFill>
                  <a:srgbClr val="64748B"/>
                </a:solidFill>
              </a:rPr>
              <a:t>Load</a:t>
            </a:r>
            <a:endParaRPr lang="en-US" sz="850" dirty="0"/>
          </a:p>
        </p:txBody>
      </p:sp>
      <p:sp>
        <p:nvSpPr>
          <p:cNvPr id="56" name="Shape 54"/>
          <p:cNvSpPr/>
          <p:nvPr/>
        </p:nvSpPr>
        <p:spPr>
          <a:xfrm>
            <a:off x="4846320" y="4279392"/>
            <a:ext cx="1188720" cy="237744"/>
          </a:xfrm>
          <a:prstGeom prst="roundRect">
            <a:avLst>
              <a:gd name="adj" fmla="val 23077"/>
            </a:avLst>
          </a:prstGeom>
          <a:solidFill>
            <a:srgbClr val="FEF3C7"/>
          </a:solidFill>
          <a:ln w="6350">
            <a:solidFill>
              <a:srgbClr val="D0E4EF"/>
            </a:solidFill>
            <a:prstDash val="solid"/>
          </a:ln>
        </p:spPr>
      </p:sp>
      <p:sp>
        <p:nvSpPr>
          <p:cNvPr id="57" name="Text 55"/>
          <p:cNvSpPr/>
          <p:nvPr/>
        </p:nvSpPr>
        <p:spPr>
          <a:xfrm>
            <a:off x="4846320" y="4279392"/>
            <a:ext cx="1188720" cy="237744"/>
          </a:xfrm>
          <a:prstGeom prst="rect">
            <a:avLst/>
          </a:prstGeom>
          <a:noFill/>
          <a:ln/>
        </p:spPr>
        <p:txBody>
          <a:bodyPr wrap="square" lIns="0" tIns="0" rIns="0" bIns="0" rtlCol="0" anchor="ctr"/>
          <a:lstStyle/>
          <a:p>
            <a:pPr algn="ctr" indent="0" marL="0">
              <a:buNone/>
            </a:pPr>
            <a:r>
              <a:rPr lang="en-US" sz="850" b="1" dirty="0">
                <a:solidFill>
                  <a:srgbClr val="92400E"/>
                </a:solidFill>
              </a:rPr>
              <a:t>Soft (warn)</a:t>
            </a:r>
            <a:endParaRPr lang="en-US" sz="850" dirty="0"/>
          </a:p>
        </p:txBody>
      </p:sp>
      <p:sp>
        <p:nvSpPr>
          <p:cNvPr id="58" name="Text 56"/>
          <p:cNvSpPr/>
          <p:nvPr/>
        </p:nvSpPr>
        <p:spPr>
          <a:xfrm>
            <a:off x="6172200" y="4251960"/>
            <a:ext cx="2487168" cy="329184"/>
          </a:xfrm>
          <a:prstGeom prst="rect">
            <a:avLst/>
          </a:prstGeom>
          <a:noFill/>
          <a:ln/>
        </p:spPr>
        <p:txBody>
          <a:bodyPr wrap="square" lIns="0" tIns="0" rIns="0" bIns="0" rtlCol="0" anchor="ctr"/>
          <a:lstStyle/>
          <a:p>
            <a:pPr indent="0" marL="0">
              <a:buNone/>
            </a:pPr>
            <a:r>
              <a:rPr lang="en-US" sz="950" dirty="0">
                <a:solidFill>
                  <a:srgbClr val="64748B"/>
                </a:solidFill>
              </a:rPr>
              <a:t>Each location produces exactly 7 rows</a:t>
            </a:r>
            <a:endParaRPr lang="en-US" sz="950" dirty="0"/>
          </a:p>
        </p:txBody>
      </p:sp>
      <p:sp>
        <p:nvSpPr>
          <p:cNvPr id="59" name="Shape 57"/>
          <p:cNvSpPr/>
          <p:nvPr/>
        </p:nvSpPr>
        <p:spPr>
          <a:xfrm>
            <a:off x="365760" y="4773168"/>
            <a:ext cx="164592" cy="164592"/>
          </a:xfrm>
          <a:prstGeom prst="ellipse">
            <a:avLst/>
          </a:prstGeom>
          <a:solidFill>
            <a:srgbClr val="1C7293"/>
          </a:solidFill>
          <a:ln w="12700">
            <a:solidFill>
              <a:srgbClr val="FFFFFF"/>
            </a:solidFill>
            <a:prstDash val="solid"/>
          </a:ln>
        </p:spPr>
      </p:sp>
      <p:sp>
        <p:nvSpPr>
          <p:cNvPr id="60" name="Text 58"/>
          <p:cNvSpPr/>
          <p:nvPr/>
        </p:nvSpPr>
        <p:spPr>
          <a:xfrm>
            <a:off x="594360" y="4754880"/>
            <a:ext cx="3200400" cy="201168"/>
          </a:xfrm>
          <a:prstGeom prst="rect">
            <a:avLst/>
          </a:prstGeom>
          <a:noFill/>
          <a:ln/>
        </p:spPr>
        <p:txBody>
          <a:bodyPr wrap="square" lIns="0" tIns="0" rIns="0" bIns="0" rtlCol="0" anchor="ctr"/>
          <a:lstStyle/>
          <a:p>
            <a:pPr indent="0" marL="0">
              <a:buNone/>
            </a:pPr>
            <a:r>
              <a:rPr lang="en-US" sz="900" dirty="0">
                <a:solidFill>
                  <a:srgbClr val="64748B"/>
                </a:solidFill>
              </a:rPr>
              <a:t>Hard = aborts pipeline  —  no partial writes</a:t>
            </a:r>
            <a:endParaRPr lang="en-US" sz="900" dirty="0"/>
          </a:p>
        </p:txBody>
      </p:sp>
      <p:sp>
        <p:nvSpPr>
          <p:cNvPr id="61" name="Shape 59"/>
          <p:cNvSpPr/>
          <p:nvPr/>
        </p:nvSpPr>
        <p:spPr>
          <a:xfrm>
            <a:off x="4114800" y="4773168"/>
            <a:ext cx="164592" cy="164592"/>
          </a:xfrm>
          <a:prstGeom prst="ellipse">
            <a:avLst/>
          </a:prstGeom>
          <a:solidFill>
            <a:srgbClr val="A16207"/>
          </a:solidFill>
          <a:ln w="12700">
            <a:solidFill>
              <a:srgbClr val="FFFFFF"/>
            </a:solidFill>
            <a:prstDash val="solid"/>
          </a:ln>
        </p:spPr>
      </p:sp>
      <p:sp>
        <p:nvSpPr>
          <p:cNvPr id="62" name="Text 60"/>
          <p:cNvSpPr/>
          <p:nvPr/>
        </p:nvSpPr>
        <p:spPr>
          <a:xfrm>
            <a:off x="4343400" y="4754880"/>
            <a:ext cx="3200400" cy="201168"/>
          </a:xfrm>
          <a:prstGeom prst="rect">
            <a:avLst/>
          </a:prstGeom>
          <a:noFill/>
          <a:ln/>
        </p:spPr>
        <p:txBody>
          <a:bodyPr wrap="square" lIns="0" tIns="0" rIns="0" bIns="0" rtlCol="0" anchor="ctr"/>
          <a:lstStyle/>
          <a:p>
            <a:pPr indent="0" marL="0">
              <a:buNone/>
            </a:pPr>
            <a:r>
              <a:rPr lang="en-US" sz="900" dirty="0">
                <a:solidFill>
                  <a:srgbClr val="64748B"/>
                </a:solidFill>
              </a:rPr>
              <a:t>Soft = logs warning, pipeline continues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502920" y="256032"/>
            <a:ext cx="2011680" cy="292608"/>
          </a:xfrm>
          <a:prstGeom prst="roundRect">
            <a:avLst>
              <a:gd name="adj" fmla="val 25000"/>
            </a:avLst>
          </a:prstGeom>
          <a:solidFill>
            <a:srgbClr val="21C0A0"/>
          </a:solidFill>
          <a:ln w="12700">
            <a:solidFill>
              <a:srgbClr val="21C0A0"/>
            </a:solidFill>
            <a:prstDash val="solid"/>
          </a:ln>
        </p:spPr>
      </p:sp>
      <p:sp>
        <p:nvSpPr>
          <p:cNvPr id="3" name="Text 1"/>
          <p:cNvSpPr/>
          <p:nvPr/>
        </p:nvSpPr>
        <p:spPr>
          <a:xfrm>
            <a:off x="502920" y="256032"/>
            <a:ext cx="2011680" cy="292608"/>
          </a:xfrm>
          <a:prstGeom prst="rect">
            <a:avLst/>
          </a:prstGeom>
          <a:noFill/>
          <a:ln/>
        </p:spPr>
        <p:txBody>
          <a:bodyPr wrap="square" lIns="0" tIns="0" rIns="0" bIns="0" rtlCol="0" anchor="ctr"/>
          <a:lstStyle/>
          <a:p>
            <a:pPr algn="ctr" indent="0" marL="0">
              <a:buNone/>
            </a:pPr>
            <a:r>
              <a:rPr lang="en-US" sz="900" b="1" dirty="0">
                <a:solidFill>
                  <a:srgbClr val="0D2B3E"/>
                </a:solidFill>
              </a:rPr>
              <a:t>DASHBOARD DEMONSTRATION</a:t>
            </a:r>
            <a:endParaRPr lang="en-US" sz="900" dirty="0"/>
          </a:p>
        </p:txBody>
      </p:sp>
      <p:sp>
        <p:nvSpPr>
          <p:cNvPr id="4" name="Text 2"/>
          <p:cNvSpPr/>
          <p:nvPr/>
        </p:nvSpPr>
        <p:spPr>
          <a:xfrm>
            <a:off x="411480" y="566928"/>
            <a:ext cx="6858000" cy="420624"/>
          </a:xfrm>
          <a:prstGeom prst="rect">
            <a:avLst/>
          </a:prstGeom>
          <a:noFill/>
          <a:ln/>
        </p:spPr>
        <p:txBody>
          <a:bodyPr wrap="square" lIns="0" tIns="0" rIns="0" bIns="0" rtlCol="0" anchor="ctr"/>
          <a:lstStyle/>
          <a:p>
            <a:pPr indent="0" marL="0">
              <a:buNone/>
            </a:pPr>
            <a:r>
              <a:rPr lang="en-US" sz="2600" b="1" dirty="0">
                <a:solidFill>
                  <a:srgbClr val="065A82"/>
                </a:solidFill>
                <a:latin typeface="Cambria" pitchFamily="34" charset="0"/>
                <a:ea typeface="Cambria" pitchFamily="34" charset="-122"/>
                <a:cs typeface="Cambria" pitchFamily="34" charset="-120"/>
              </a:rPr>
              <a:t>Louisville Waterways Fishing Outlook</a:t>
            </a:r>
            <a:endParaRPr lang="en-US" sz="2600" dirty="0"/>
          </a:p>
        </p:txBody>
      </p:sp>
      <p:sp>
        <p:nvSpPr>
          <p:cNvPr id="5" name="Text 3"/>
          <p:cNvSpPr/>
          <p:nvPr/>
        </p:nvSpPr>
        <p:spPr>
          <a:xfrm>
            <a:off x="411480" y="1005840"/>
            <a:ext cx="8321040" cy="237744"/>
          </a:xfrm>
          <a:prstGeom prst="rect">
            <a:avLst/>
          </a:prstGeom>
          <a:noFill/>
          <a:ln/>
        </p:spPr>
        <p:txBody>
          <a:bodyPr wrap="square" lIns="0" tIns="0" rIns="0" bIns="0" rtlCol="0" anchor="ctr"/>
          <a:lstStyle/>
          <a:p>
            <a:pPr indent="0" marL="0">
              <a:buNone/>
            </a:pPr>
            <a:r>
              <a:rPr lang="en-US" sz="950" dirty="0">
                <a:solidFill>
                  <a:srgbClr val="64748B"/>
                </a:solidFill>
              </a:rPr>
              <a:t>Live Plotly Dash  ·  localhost:8050  ·  Reads from Supabase vw_fishing_outlook</a:t>
            </a:r>
            <a:endParaRPr lang="en-US" sz="950" dirty="0"/>
          </a:p>
        </p:txBody>
      </p:sp>
      <p:sp>
        <p:nvSpPr>
          <p:cNvPr id="6" name="Shape 4"/>
          <p:cNvSpPr/>
          <p:nvPr/>
        </p:nvSpPr>
        <p:spPr>
          <a:xfrm>
            <a:off x="320040" y="1316736"/>
            <a:ext cx="2029968" cy="804672"/>
          </a:xfrm>
          <a:prstGeom prst="roundRect">
            <a:avLst>
              <a:gd name="adj" fmla="val 11364"/>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7" name="Shape 5"/>
          <p:cNvSpPr/>
          <p:nvPr/>
        </p:nvSpPr>
        <p:spPr>
          <a:xfrm>
            <a:off x="320040" y="1316736"/>
            <a:ext cx="2029968" cy="54864"/>
          </a:xfrm>
          <a:prstGeom prst="rect">
            <a:avLst/>
          </a:prstGeom>
          <a:solidFill>
            <a:srgbClr val="2563EB"/>
          </a:solidFill>
          <a:ln w="12700">
            <a:solidFill>
              <a:srgbClr val="2563EB"/>
            </a:solidFill>
            <a:prstDash val="solid"/>
          </a:ln>
        </p:spPr>
      </p:sp>
      <p:sp>
        <p:nvSpPr>
          <p:cNvPr id="8" name="Text 6"/>
          <p:cNvSpPr/>
          <p:nvPr/>
        </p:nvSpPr>
        <p:spPr>
          <a:xfrm>
            <a:off x="393192" y="1371600"/>
            <a:ext cx="1883664" cy="384048"/>
          </a:xfrm>
          <a:prstGeom prst="rect">
            <a:avLst/>
          </a:prstGeom>
          <a:noFill/>
          <a:ln/>
        </p:spPr>
        <p:txBody>
          <a:bodyPr wrap="square" lIns="0" tIns="0" rIns="0" bIns="0" rtlCol="0" anchor="ctr"/>
          <a:lstStyle/>
          <a:p>
            <a:pPr algn="ctr" indent="0" marL="0">
              <a:buNone/>
            </a:pPr>
            <a:r>
              <a:rPr lang="en-US" sz="2000" b="1" dirty="0">
                <a:solidFill>
                  <a:srgbClr val="2563EB"/>
                </a:solidFill>
              </a:rPr>
              <a:t>6</a:t>
            </a:r>
            <a:endParaRPr lang="en-US" sz="2000" dirty="0"/>
          </a:p>
        </p:txBody>
      </p:sp>
      <p:sp>
        <p:nvSpPr>
          <p:cNvPr id="9" name="Text 7"/>
          <p:cNvSpPr/>
          <p:nvPr/>
        </p:nvSpPr>
        <p:spPr>
          <a:xfrm>
            <a:off x="393192" y="1755648"/>
            <a:ext cx="1883664" cy="329184"/>
          </a:xfrm>
          <a:prstGeom prst="rect">
            <a:avLst/>
          </a:prstGeom>
          <a:noFill/>
          <a:ln/>
        </p:spPr>
        <p:txBody>
          <a:bodyPr wrap="square" lIns="0" tIns="0" rIns="0" bIns="0" rtlCol="0" anchor="t"/>
          <a:lstStyle/>
          <a:p>
            <a:pPr algn="ctr" indent="0" marL="0">
              <a:buNone/>
            </a:pPr>
            <a:r>
              <a:rPr lang="en-US" sz="800" dirty="0">
                <a:solidFill>
                  <a:srgbClr val="64748B"/>
                </a:solidFill>
              </a:rPr>
              <a:t>Locations</a:t>
            </a:r>
            <a:endParaRPr lang="en-US" sz="800" dirty="0"/>
          </a:p>
          <a:p>
            <a:pPr algn="ctr" indent="0" marL="0">
              <a:buNone/>
            </a:pPr>
            <a:r>
              <a:rPr lang="en-US" sz="800" dirty="0">
                <a:solidFill>
                  <a:srgbClr val="64748B"/>
                </a:solidFill>
              </a:rPr>
              <a:t>Tracked</a:t>
            </a:r>
            <a:endParaRPr lang="en-US" sz="800" dirty="0"/>
          </a:p>
        </p:txBody>
      </p:sp>
      <p:sp>
        <p:nvSpPr>
          <p:cNvPr id="10" name="Shape 8"/>
          <p:cNvSpPr/>
          <p:nvPr/>
        </p:nvSpPr>
        <p:spPr>
          <a:xfrm>
            <a:off x="2459736" y="1316736"/>
            <a:ext cx="2029968" cy="804672"/>
          </a:xfrm>
          <a:prstGeom prst="roundRect">
            <a:avLst>
              <a:gd name="adj" fmla="val 11364"/>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11" name="Shape 9"/>
          <p:cNvSpPr/>
          <p:nvPr/>
        </p:nvSpPr>
        <p:spPr>
          <a:xfrm>
            <a:off x="2459736" y="1316736"/>
            <a:ext cx="2029968" cy="54864"/>
          </a:xfrm>
          <a:prstGeom prst="rect">
            <a:avLst/>
          </a:prstGeom>
          <a:solidFill>
            <a:srgbClr val="15803D"/>
          </a:solidFill>
          <a:ln w="12700">
            <a:solidFill>
              <a:srgbClr val="15803D"/>
            </a:solidFill>
            <a:prstDash val="solid"/>
          </a:ln>
        </p:spPr>
      </p:sp>
      <p:sp>
        <p:nvSpPr>
          <p:cNvPr id="12" name="Text 10"/>
          <p:cNvSpPr/>
          <p:nvPr/>
        </p:nvSpPr>
        <p:spPr>
          <a:xfrm>
            <a:off x="2532888" y="1371600"/>
            <a:ext cx="1883664" cy="384048"/>
          </a:xfrm>
          <a:prstGeom prst="rect">
            <a:avLst/>
          </a:prstGeom>
          <a:noFill/>
          <a:ln/>
        </p:spPr>
        <p:txBody>
          <a:bodyPr wrap="square" lIns="0" tIns="0" rIns="0" bIns="0" rtlCol="0" anchor="ctr"/>
          <a:lstStyle/>
          <a:p>
            <a:pPr algn="ctr" indent="0" marL="0">
              <a:buNone/>
            </a:pPr>
            <a:r>
              <a:rPr lang="en-US" sz="2000" b="1" dirty="0">
                <a:solidFill>
                  <a:srgbClr val="15803D"/>
                </a:solidFill>
              </a:rPr>
              <a:t>28/42</a:t>
            </a:r>
            <a:endParaRPr lang="en-US" sz="2000" dirty="0"/>
          </a:p>
        </p:txBody>
      </p:sp>
      <p:sp>
        <p:nvSpPr>
          <p:cNvPr id="13" name="Text 11"/>
          <p:cNvSpPr/>
          <p:nvPr/>
        </p:nvSpPr>
        <p:spPr>
          <a:xfrm>
            <a:off x="2532888" y="1755648"/>
            <a:ext cx="1883664" cy="329184"/>
          </a:xfrm>
          <a:prstGeom prst="rect">
            <a:avLst/>
          </a:prstGeom>
          <a:noFill/>
          <a:ln/>
        </p:spPr>
        <p:txBody>
          <a:bodyPr wrap="square" lIns="0" tIns="0" rIns="0" bIns="0" rtlCol="0" anchor="t"/>
          <a:lstStyle/>
          <a:p>
            <a:pPr algn="ctr" indent="0" marL="0">
              <a:buNone/>
            </a:pPr>
            <a:r>
              <a:rPr lang="en-US" sz="800" dirty="0">
                <a:solidFill>
                  <a:srgbClr val="64748B"/>
                </a:solidFill>
              </a:rPr>
              <a:t>Safe Day</a:t>
            </a:r>
            <a:endParaRPr lang="en-US" sz="800" dirty="0"/>
          </a:p>
          <a:p>
            <a:pPr algn="ctr" indent="0" marL="0">
              <a:buNone/>
            </a:pPr>
            <a:r>
              <a:rPr lang="en-US" sz="800" dirty="0">
                <a:solidFill>
                  <a:srgbClr val="64748B"/>
                </a:solidFill>
              </a:rPr>
              <a:t>Slots</a:t>
            </a:r>
            <a:endParaRPr lang="en-US" sz="800" dirty="0"/>
          </a:p>
        </p:txBody>
      </p:sp>
      <p:sp>
        <p:nvSpPr>
          <p:cNvPr id="14" name="Shape 12"/>
          <p:cNvSpPr/>
          <p:nvPr/>
        </p:nvSpPr>
        <p:spPr>
          <a:xfrm>
            <a:off x="4599432" y="1316736"/>
            <a:ext cx="2029968" cy="804672"/>
          </a:xfrm>
          <a:prstGeom prst="roundRect">
            <a:avLst>
              <a:gd name="adj" fmla="val 11364"/>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15" name="Shape 13"/>
          <p:cNvSpPr/>
          <p:nvPr/>
        </p:nvSpPr>
        <p:spPr>
          <a:xfrm>
            <a:off x="4599432" y="1316736"/>
            <a:ext cx="2029968" cy="54864"/>
          </a:xfrm>
          <a:prstGeom prst="rect">
            <a:avLst/>
          </a:prstGeom>
          <a:solidFill>
            <a:srgbClr val="21C0A0"/>
          </a:solidFill>
          <a:ln w="12700">
            <a:solidFill>
              <a:srgbClr val="21C0A0"/>
            </a:solidFill>
            <a:prstDash val="solid"/>
          </a:ln>
        </p:spPr>
      </p:sp>
      <p:sp>
        <p:nvSpPr>
          <p:cNvPr id="16" name="Text 14"/>
          <p:cNvSpPr/>
          <p:nvPr/>
        </p:nvSpPr>
        <p:spPr>
          <a:xfrm>
            <a:off x="4672584" y="1371600"/>
            <a:ext cx="1883664" cy="384048"/>
          </a:xfrm>
          <a:prstGeom prst="rect">
            <a:avLst/>
          </a:prstGeom>
          <a:noFill/>
          <a:ln/>
        </p:spPr>
        <p:txBody>
          <a:bodyPr wrap="square" lIns="0" tIns="0" rIns="0" bIns="0" rtlCol="0" anchor="ctr"/>
          <a:lstStyle/>
          <a:p>
            <a:pPr algn="ctr" indent="0" marL="0">
              <a:buNone/>
            </a:pPr>
            <a:r>
              <a:rPr lang="en-US" sz="2000" b="1" dirty="0">
                <a:solidFill>
                  <a:srgbClr val="21C0A0"/>
                </a:solidFill>
              </a:rPr>
              <a:t>71</a:t>
            </a:r>
            <a:endParaRPr lang="en-US" sz="2000" dirty="0"/>
          </a:p>
        </p:txBody>
      </p:sp>
      <p:sp>
        <p:nvSpPr>
          <p:cNvPr id="17" name="Text 15"/>
          <p:cNvSpPr/>
          <p:nvPr/>
        </p:nvSpPr>
        <p:spPr>
          <a:xfrm>
            <a:off x="4672584" y="1755648"/>
            <a:ext cx="1883664" cy="329184"/>
          </a:xfrm>
          <a:prstGeom prst="rect">
            <a:avLst/>
          </a:prstGeom>
          <a:noFill/>
          <a:ln/>
        </p:spPr>
        <p:txBody>
          <a:bodyPr wrap="square" lIns="0" tIns="0" rIns="0" bIns="0" rtlCol="0" anchor="t"/>
          <a:lstStyle/>
          <a:p>
            <a:pPr algn="ctr" indent="0" marL="0">
              <a:buNone/>
            </a:pPr>
            <a:r>
              <a:rPr lang="en-US" sz="800" dirty="0">
                <a:solidFill>
                  <a:srgbClr val="64748B"/>
                </a:solidFill>
              </a:rPr>
              <a:t>Avg Activity</a:t>
            </a:r>
            <a:endParaRPr lang="en-US" sz="800" dirty="0"/>
          </a:p>
          <a:p>
            <a:pPr algn="ctr" indent="0" marL="0">
              <a:buNone/>
            </a:pPr>
            <a:r>
              <a:rPr lang="en-US" sz="800" dirty="0">
                <a:solidFill>
                  <a:srgbClr val="64748B"/>
                </a:solidFill>
              </a:rPr>
              <a:t>Score</a:t>
            </a:r>
            <a:endParaRPr lang="en-US" sz="800" dirty="0"/>
          </a:p>
        </p:txBody>
      </p:sp>
      <p:sp>
        <p:nvSpPr>
          <p:cNvPr id="18" name="Shape 16"/>
          <p:cNvSpPr/>
          <p:nvPr/>
        </p:nvSpPr>
        <p:spPr>
          <a:xfrm>
            <a:off x="6739128" y="1316736"/>
            <a:ext cx="2029968" cy="804672"/>
          </a:xfrm>
          <a:prstGeom prst="roundRect">
            <a:avLst>
              <a:gd name="adj" fmla="val 11364"/>
            </a:avLst>
          </a:prstGeom>
          <a:solidFill>
            <a:srgbClr val="FFFFFF"/>
          </a:solidFill>
          <a:ln w="6350">
            <a:solidFill>
              <a:srgbClr val="D0E4EF"/>
            </a:solidFill>
            <a:prstDash val="solid"/>
          </a:ln>
          <a:effectLst>
            <a:outerShdw sx="100000" sy="100000" kx="0" ky="0" algn="bl" rotWithShape="0" blurRad="76200" dist="25400" dir="2700000">
              <a:srgbClr val="000000">
                <a:alpha val="10000"/>
              </a:srgbClr>
            </a:outerShdw>
          </a:effectLst>
        </p:spPr>
      </p:sp>
      <p:sp>
        <p:nvSpPr>
          <p:cNvPr id="19" name="Shape 17"/>
          <p:cNvSpPr/>
          <p:nvPr/>
        </p:nvSpPr>
        <p:spPr>
          <a:xfrm>
            <a:off x="6739128" y="1316736"/>
            <a:ext cx="2029968" cy="54864"/>
          </a:xfrm>
          <a:prstGeom prst="rect">
            <a:avLst/>
          </a:prstGeom>
          <a:solidFill>
            <a:srgbClr val="9333EA"/>
          </a:solidFill>
          <a:ln w="12700">
            <a:solidFill>
              <a:srgbClr val="9333EA"/>
            </a:solidFill>
            <a:prstDash val="solid"/>
          </a:ln>
        </p:spPr>
      </p:sp>
      <p:sp>
        <p:nvSpPr>
          <p:cNvPr id="20" name="Text 18"/>
          <p:cNvSpPr/>
          <p:nvPr/>
        </p:nvSpPr>
        <p:spPr>
          <a:xfrm>
            <a:off x="6812280" y="1371600"/>
            <a:ext cx="1883664" cy="384048"/>
          </a:xfrm>
          <a:prstGeom prst="rect">
            <a:avLst/>
          </a:prstGeom>
          <a:noFill/>
          <a:ln/>
        </p:spPr>
        <p:txBody>
          <a:bodyPr wrap="square" lIns="0" tIns="0" rIns="0" bIns="0" rtlCol="0" anchor="ctr"/>
          <a:lstStyle/>
          <a:p>
            <a:pPr algn="ctr" indent="0" marL="0">
              <a:buNone/>
            </a:pPr>
            <a:r>
              <a:rPr lang="en-US" sz="1300" b="1" dirty="0">
                <a:solidFill>
                  <a:srgbClr val="9333EA"/>
                </a:solidFill>
              </a:rPr>
              <a:t>Taylorsville</a:t>
            </a:r>
            <a:endParaRPr lang="en-US" sz="1300" dirty="0"/>
          </a:p>
        </p:txBody>
      </p:sp>
      <p:sp>
        <p:nvSpPr>
          <p:cNvPr id="21" name="Text 19"/>
          <p:cNvSpPr/>
          <p:nvPr/>
        </p:nvSpPr>
        <p:spPr>
          <a:xfrm>
            <a:off x="6812280" y="1755648"/>
            <a:ext cx="1883664" cy="329184"/>
          </a:xfrm>
          <a:prstGeom prst="rect">
            <a:avLst/>
          </a:prstGeom>
          <a:noFill/>
          <a:ln/>
        </p:spPr>
        <p:txBody>
          <a:bodyPr wrap="square" lIns="0" tIns="0" rIns="0" bIns="0" rtlCol="0" anchor="t"/>
          <a:lstStyle/>
          <a:p>
            <a:pPr algn="ctr" indent="0" marL="0">
              <a:buNone/>
            </a:pPr>
            <a:r>
              <a:rPr lang="en-US" sz="800" dirty="0">
                <a:solidFill>
                  <a:srgbClr val="64748B"/>
                </a:solidFill>
              </a:rPr>
              <a:t>Best Spot</a:t>
            </a:r>
            <a:endParaRPr lang="en-US" sz="800" dirty="0"/>
          </a:p>
          <a:p>
            <a:pPr algn="ctr" indent="0" marL="0">
              <a:buNone/>
            </a:pPr>
            <a:r>
              <a:rPr lang="en-US" sz="800" dirty="0">
                <a:solidFill>
                  <a:srgbClr val="64748B"/>
                </a:solidFill>
              </a:rPr>
              <a:t>Score: 89</a:t>
            </a:r>
            <a:endParaRPr lang="en-US" sz="800" dirty="0"/>
          </a:p>
        </p:txBody>
      </p:sp>
      <p:sp>
        <p:nvSpPr>
          <p:cNvPr id="22" name="Text 20"/>
          <p:cNvSpPr/>
          <p:nvPr/>
        </p:nvSpPr>
        <p:spPr>
          <a:xfrm>
            <a:off x="320040" y="2212848"/>
            <a:ext cx="1371600" cy="201168"/>
          </a:xfrm>
          <a:prstGeom prst="rect">
            <a:avLst/>
          </a:prstGeom>
          <a:noFill/>
          <a:ln/>
        </p:spPr>
        <p:txBody>
          <a:bodyPr wrap="square" lIns="0" tIns="0" rIns="0" bIns="0" rtlCol="0" anchor="ctr"/>
          <a:lstStyle/>
          <a:p>
            <a:pPr indent="0" marL="0">
              <a:buNone/>
            </a:pPr>
            <a:r>
              <a:rPr lang="en-US" sz="900" b="1" dirty="0">
                <a:solidFill>
                  <a:srgbClr val="065A82"/>
                </a:solidFill>
              </a:rPr>
              <a:t>Fish Activity Heatmap</a:t>
            </a:r>
            <a:endParaRPr lang="en-US" sz="900" dirty="0"/>
          </a:p>
        </p:txBody>
      </p:sp>
      <p:sp>
        <p:nvSpPr>
          <p:cNvPr id="23" name="Text 21"/>
          <p:cNvSpPr/>
          <p:nvPr/>
        </p:nvSpPr>
        <p:spPr>
          <a:xfrm>
            <a:off x="1709928" y="2212848"/>
            <a:ext cx="3291840" cy="201168"/>
          </a:xfrm>
          <a:prstGeom prst="rect">
            <a:avLst/>
          </a:prstGeom>
          <a:noFill/>
          <a:ln/>
        </p:spPr>
        <p:txBody>
          <a:bodyPr wrap="square" lIns="0" tIns="0" rIns="0" bIns="0" rtlCol="0" anchor="ctr"/>
          <a:lstStyle/>
          <a:p>
            <a:pPr indent="0" marL="0">
              <a:buNone/>
            </a:pPr>
            <a:r>
              <a:rPr lang="en-US" sz="800" dirty="0">
                <a:solidFill>
                  <a:srgbClr val="64748B"/>
                </a:solidFill>
              </a:rPr>
              <a:t>0 = poor  →  100 = excellent</a:t>
            </a:r>
            <a:endParaRPr lang="en-US" sz="800" dirty="0"/>
          </a:p>
        </p:txBody>
      </p:sp>
      <p:sp>
        <p:nvSpPr>
          <p:cNvPr id="24" name="Text 22"/>
          <p:cNvSpPr/>
          <p:nvPr/>
        </p:nvSpPr>
        <p:spPr>
          <a:xfrm>
            <a:off x="1316736" y="2240280"/>
            <a:ext cx="502920" cy="182880"/>
          </a:xfrm>
          <a:prstGeom prst="rect">
            <a:avLst/>
          </a:prstGeom>
          <a:noFill/>
          <a:ln/>
        </p:spPr>
        <p:txBody>
          <a:bodyPr wrap="square" lIns="0" tIns="0" rIns="0" bIns="0" rtlCol="0" anchor="ctr"/>
          <a:lstStyle/>
          <a:p>
            <a:pPr algn="ctr" indent="0" marL="0">
              <a:buNone/>
            </a:pPr>
            <a:r>
              <a:rPr lang="en-US" sz="700" dirty="0">
                <a:solidFill>
                  <a:srgbClr val="64748B"/>
                </a:solidFill>
              </a:rPr>
              <a:t>Mon</a:t>
            </a:r>
            <a:endParaRPr lang="en-US" sz="700" dirty="0"/>
          </a:p>
        </p:txBody>
      </p:sp>
      <p:sp>
        <p:nvSpPr>
          <p:cNvPr id="25" name="Text 23"/>
          <p:cNvSpPr/>
          <p:nvPr/>
        </p:nvSpPr>
        <p:spPr>
          <a:xfrm>
            <a:off x="1819656" y="2240280"/>
            <a:ext cx="502920" cy="182880"/>
          </a:xfrm>
          <a:prstGeom prst="rect">
            <a:avLst/>
          </a:prstGeom>
          <a:noFill/>
          <a:ln/>
        </p:spPr>
        <p:txBody>
          <a:bodyPr wrap="square" lIns="0" tIns="0" rIns="0" bIns="0" rtlCol="0" anchor="ctr"/>
          <a:lstStyle/>
          <a:p>
            <a:pPr algn="ctr" indent="0" marL="0">
              <a:buNone/>
            </a:pPr>
            <a:r>
              <a:rPr lang="en-US" sz="700" dirty="0">
                <a:solidFill>
                  <a:srgbClr val="64748B"/>
                </a:solidFill>
              </a:rPr>
              <a:t>Tue</a:t>
            </a:r>
            <a:endParaRPr lang="en-US" sz="700" dirty="0"/>
          </a:p>
        </p:txBody>
      </p:sp>
      <p:sp>
        <p:nvSpPr>
          <p:cNvPr id="26" name="Text 24"/>
          <p:cNvSpPr/>
          <p:nvPr/>
        </p:nvSpPr>
        <p:spPr>
          <a:xfrm>
            <a:off x="2322576" y="2240280"/>
            <a:ext cx="502920" cy="182880"/>
          </a:xfrm>
          <a:prstGeom prst="rect">
            <a:avLst/>
          </a:prstGeom>
          <a:noFill/>
          <a:ln/>
        </p:spPr>
        <p:txBody>
          <a:bodyPr wrap="square" lIns="0" tIns="0" rIns="0" bIns="0" rtlCol="0" anchor="ctr"/>
          <a:lstStyle/>
          <a:p>
            <a:pPr algn="ctr" indent="0" marL="0">
              <a:buNone/>
            </a:pPr>
            <a:r>
              <a:rPr lang="en-US" sz="700" dirty="0">
                <a:solidFill>
                  <a:srgbClr val="64748B"/>
                </a:solidFill>
              </a:rPr>
              <a:t>Wed</a:t>
            </a:r>
            <a:endParaRPr lang="en-US" sz="700" dirty="0"/>
          </a:p>
        </p:txBody>
      </p:sp>
      <p:sp>
        <p:nvSpPr>
          <p:cNvPr id="27" name="Text 25"/>
          <p:cNvSpPr/>
          <p:nvPr/>
        </p:nvSpPr>
        <p:spPr>
          <a:xfrm>
            <a:off x="2825496" y="2240280"/>
            <a:ext cx="502920" cy="182880"/>
          </a:xfrm>
          <a:prstGeom prst="rect">
            <a:avLst/>
          </a:prstGeom>
          <a:noFill/>
          <a:ln/>
        </p:spPr>
        <p:txBody>
          <a:bodyPr wrap="square" lIns="0" tIns="0" rIns="0" bIns="0" rtlCol="0" anchor="ctr"/>
          <a:lstStyle/>
          <a:p>
            <a:pPr algn="ctr" indent="0" marL="0">
              <a:buNone/>
            </a:pPr>
            <a:r>
              <a:rPr lang="en-US" sz="700" dirty="0">
                <a:solidFill>
                  <a:srgbClr val="64748B"/>
                </a:solidFill>
              </a:rPr>
              <a:t>Thu</a:t>
            </a:r>
            <a:endParaRPr lang="en-US" sz="700" dirty="0"/>
          </a:p>
        </p:txBody>
      </p:sp>
      <p:sp>
        <p:nvSpPr>
          <p:cNvPr id="28" name="Text 26"/>
          <p:cNvSpPr/>
          <p:nvPr/>
        </p:nvSpPr>
        <p:spPr>
          <a:xfrm>
            <a:off x="3328416" y="2240280"/>
            <a:ext cx="502920" cy="182880"/>
          </a:xfrm>
          <a:prstGeom prst="rect">
            <a:avLst/>
          </a:prstGeom>
          <a:noFill/>
          <a:ln/>
        </p:spPr>
        <p:txBody>
          <a:bodyPr wrap="square" lIns="0" tIns="0" rIns="0" bIns="0" rtlCol="0" anchor="ctr"/>
          <a:lstStyle/>
          <a:p>
            <a:pPr algn="ctr" indent="0" marL="0">
              <a:buNone/>
            </a:pPr>
            <a:r>
              <a:rPr lang="en-US" sz="700" dirty="0">
                <a:solidFill>
                  <a:srgbClr val="64748B"/>
                </a:solidFill>
              </a:rPr>
              <a:t>Fri</a:t>
            </a:r>
            <a:endParaRPr lang="en-US" sz="700" dirty="0"/>
          </a:p>
        </p:txBody>
      </p:sp>
      <p:sp>
        <p:nvSpPr>
          <p:cNvPr id="29" name="Text 27"/>
          <p:cNvSpPr/>
          <p:nvPr/>
        </p:nvSpPr>
        <p:spPr>
          <a:xfrm>
            <a:off x="3831336" y="2240280"/>
            <a:ext cx="502920" cy="182880"/>
          </a:xfrm>
          <a:prstGeom prst="rect">
            <a:avLst/>
          </a:prstGeom>
          <a:noFill/>
          <a:ln/>
        </p:spPr>
        <p:txBody>
          <a:bodyPr wrap="square" lIns="0" tIns="0" rIns="0" bIns="0" rtlCol="0" anchor="ctr"/>
          <a:lstStyle/>
          <a:p>
            <a:pPr algn="ctr" indent="0" marL="0">
              <a:buNone/>
            </a:pPr>
            <a:r>
              <a:rPr lang="en-US" sz="700" dirty="0">
                <a:solidFill>
                  <a:srgbClr val="64748B"/>
                </a:solidFill>
              </a:rPr>
              <a:t>Sat</a:t>
            </a:r>
            <a:endParaRPr lang="en-US" sz="700" dirty="0"/>
          </a:p>
        </p:txBody>
      </p:sp>
      <p:sp>
        <p:nvSpPr>
          <p:cNvPr id="30" name="Text 28"/>
          <p:cNvSpPr/>
          <p:nvPr/>
        </p:nvSpPr>
        <p:spPr>
          <a:xfrm>
            <a:off x="4334256" y="2240280"/>
            <a:ext cx="502920" cy="182880"/>
          </a:xfrm>
          <a:prstGeom prst="rect">
            <a:avLst/>
          </a:prstGeom>
          <a:noFill/>
          <a:ln/>
        </p:spPr>
        <p:txBody>
          <a:bodyPr wrap="square" lIns="0" tIns="0" rIns="0" bIns="0" rtlCol="0" anchor="ctr"/>
          <a:lstStyle/>
          <a:p>
            <a:pPr algn="ctr" indent="0" marL="0">
              <a:buNone/>
            </a:pPr>
            <a:r>
              <a:rPr lang="en-US" sz="700" dirty="0">
                <a:solidFill>
                  <a:srgbClr val="64748B"/>
                </a:solidFill>
              </a:rPr>
              <a:t>Sun</a:t>
            </a:r>
            <a:endParaRPr lang="en-US" sz="700" dirty="0"/>
          </a:p>
        </p:txBody>
      </p:sp>
      <p:sp>
        <p:nvSpPr>
          <p:cNvPr id="31" name="Text 29"/>
          <p:cNvSpPr/>
          <p:nvPr/>
        </p:nvSpPr>
        <p:spPr>
          <a:xfrm>
            <a:off x="320040" y="2478024"/>
            <a:ext cx="978408" cy="233172"/>
          </a:xfrm>
          <a:prstGeom prst="rect">
            <a:avLst/>
          </a:prstGeom>
          <a:noFill/>
          <a:ln/>
        </p:spPr>
        <p:txBody>
          <a:bodyPr wrap="square" lIns="0" tIns="0" rIns="0" bIns="0" rtlCol="0" anchor="ctr"/>
          <a:lstStyle/>
          <a:p>
            <a:pPr indent="0" marL="0">
              <a:buNone/>
            </a:pPr>
            <a:r>
              <a:rPr lang="en-US" sz="650" dirty="0">
                <a:solidFill>
                  <a:srgbClr val="0D2B3E"/>
                </a:solidFill>
              </a:rPr>
              <a:t>Taylorsville Lk</a:t>
            </a:r>
            <a:endParaRPr lang="en-US" sz="650" dirty="0"/>
          </a:p>
        </p:txBody>
      </p:sp>
      <p:sp>
        <p:nvSpPr>
          <p:cNvPr id="32" name="Shape 30"/>
          <p:cNvSpPr/>
          <p:nvPr/>
        </p:nvSpPr>
        <p:spPr>
          <a:xfrm>
            <a:off x="1335024" y="2459736"/>
            <a:ext cx="466344" cy="251460"/>
          </a:xfrm>
          <a:prstGeom prst="rect">
            <a:avLst/>
          </a:prstGeom>
          <a:solidFill>
            <a:srgbClr val="1A7A4A"/>
          </a:solidFill>
          <a:ln w="6350">
            <a:solidFill>
              <a:srgbClr val="FFFFFF"/>
            </a:solidFill>
            <a:prstDash val="solid"/>
          </a:ln>
        </p:spPr>
      </p:sp>
      <p:sp>
        <p:nvSpPr>
          <p:cNvPr id="33" name="Text 31"/>
          <p:cNvSpPr/>
          <p:nvPr/>
        </p:nvSpPr>
        <p:spPr>
          <a:xfrm>
            <a:off x="1335024" y="245973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89</a:t>
            </a:r>
            <a:endParaRPr lang="en-US" sz="700" dirty="0"/>
          </a:p>
        </p:txBody>
      </p:sp>
      <p:sp>
        <p:nvSpPr>
          <p:cNvPr id="34" name="Shape 32"/>
          <p:cNvSpPr/>
          <p:nvPr/>
        </p:nvSpPr>
        <p:spPr>
          <a:xfrm>
            <a:off x="1837944" y="2459736"/>
            <a:ext cx="466344" cy="251460"/>
          </a:xfrm>
          <a:prstGeom prst="rect">
            <a:avLst/>
          </a:prstGeom>
          <a:solidFill>
            <a:srgbClr val="1A7A4A"/>
          </a:solidFill>
          <a:ln w="6350">
            <a:solidFill>
              <a:srgbClr val="FFFFFF"/>
            </a:solidFill>
            <a:prstDash val="solid"/>
          </a:ln>
        </p:spPr>
      </p:sp>
      <p:sp>
        <p:nvSpPr>
          <p:cNvPr id="35" name="Text 33"/>
          <p:cNvSpPr/>
          <p:nvPr/>
        </p:nvSpPr>
        <p:spPr>
          <a:xfrm>
            <a:off x="1837944" y="245973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85</a:t>
            </a:r>
            <a:endParaRPr lang="en-US" sz="700" dirty="0"/>
          </a:p>
        </p:txBody>
      </p:sp>
      <p:sp>
        <p:nvSpPr>
          <p:cNvPr id="36" name="Shape 34"/>
          <p:cNvSpPr/>
          <p:nvPr/>
        </p:nvSpPr>
        <p:spPr>
          <a:xfrm>
            <a:off x="2340864" y="2459736"/>
            <a:ext cx="466344" cy="251460"/>
          </a:xfrm>
          <a:prstGeom prst="rect">
            <a:avLst/>
          </a:prstGeom>
          <a:solidFill>
            <a:srgbClr val="1A7A4A"/>
          </a:solidFill>
          <a:ln w="6350">
            <a:solidFill>
              <a:srgbClr val="FFFFFF"/>
            </a:solidFill>
            <a:prstDash val="solid"/>
          </a:ln>
        </p:spPr>
      </p:sp>
      <p:sp>
        <p:nvSpPr>
          <p:cNvPr id="37" name="Text 35"/>
          <p:cNvSpPr/>
          <p:nvPr/>
        </p:nvSpPr>
        <p:spPr>
          <a:xfrm>
            <a:off x="2340864" y="245973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81</a:t>
            </a:r>
            <a:endParaRPr lang="en-US" sz="700" dirty="0"/>
          </a:p>
        </p:txBody>
      </p:sp>
      <p:sp>
        <p:nvSpPr>
          <p:cNvPr id="38" name="Shape 36"/>
          <p:cNvSpPr/>
          <p:nvPr/>
        </p:nvSpPr>
        <p:spPr>
          <a:xfrm>
            <a:off x="2843784" y="2459736"/>
            <a:ext cx="466344" cy="251460"/>
          </a:xfrm>
          <a:prstGeom prst="rect">
            <a:avLst/>
          </a:prstGeom>
          <a:solidFill>
            <a:srgbClr val="4CAF50"/>
          </a:solidFill>
          <a:ln w="6350">
            <a:solidFill>
              <a:srgbClr val="FFFFFF"/>
            </a:solidFill>
            <a:prstDash val="solid"/>
          </a:ln>
        </p:spPr>
      </p:sp>
      <p:sp>
        <p:nvSpPr>
          <p:cNvPr id="39" name="Text 37"/>
          <p:cNvSpPr/>
          <p:nvPr/>
        </p:nvSpPr>
        <p:spPr>
          <a:xfrm>
            <a:off x="2843784" y="245973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74</a:t>
            </a:r>
            <a:endParaRPr lang="en-US" sz="700" dirty="0"/>
          </a:p>
        </p:txBody>
      </p:sp>
      <p:sp>
        <p:nvSpPr>
          <p:cNvPr id="40" name="Shape 38"/>
          <p:cNvSpPr/>
          <p:nvPr/>
        </p:nvSpPr>
        <p:spPr>
          <a:xfrm>
            <a:off x="3346704" y="2459736"/>
            <a:ext cx="466344" cy="251460"/>
          </a:xfrm>
          <a:prstGeom prst="rect">
            <a:avLst/>
          </a:prstGeom>
          <a:solidFill>
            <a:srgbClr val="8BC34A"/>
          </a:solidFill>
          <a:ln w="6350">
            <a:solidFill>
              <a:srgbClr val="FFFFFF"/>
            </a:solidFill>
            <a:prstDash val="solid"/>
          </a:ln>
        </p:spPr>
      </p:sp>
      <p:sp>
        <p:nvSpPr>
          <p:cNvPr id="41" name="Text 39"/>
          <p:cNvSpPr/>
          <p:nvPr/>
        </p:nvSpPr>
        <p:spPr>
          <a:xfrm>
            <a:off x="3346704" y="245973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68</a:t>
            </a:r>
            <a:endParaRPr lang="en-US" sz="700" dirty="0"/>
          </a:p>
        </p:txBody>
      </p:sp>
      <p:sp>
        <p:nvSpPr>
          <p:cNvPr id="42" name="Shape 40"/>
          <p:cNvSpPr/>
          <p:nvPr/>
        </p:nvSpPr>
        <p:spPr>
          <a:xfrm>
            <a:off x="3849624" y="2459736"/>
            <a:ext cx="466344" cy="251460"/>
          </a:xfrm>
          <a:prstGeom prst="rect">
            <a:avLst/>
          </a:prstGeom>
          <a:solidFill>
            <a:srgbClr val="8BC34A"/>
          </a:solidFill>
          <a:ln w="6350">
            <a:solidFill>
              <a:srgbClr val="FFFFFF"/>
            </a:solidFill>
            <a:prstDash val="solid"/>
          </a:ln>
        </p:spPr>
      </p:sp>
      <p:sp>
        <p:nvSpPr>
          <p:cNvPr id="43" name="Text 41"/>
          <p:cNvSpPr/>
          <p:nvPr/>
        </p:nvSpPr>
        <p:spPr>
          <a:xfrm>
            <a:off x="3849624" y="245973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62</a:t>
            </a:r>
            <a:endParaRPr lang="en-US" sz="700" dirty="0"/>
          </a:p>
        </p:txBody>
      </p:sp>
      <p:sp>
        <p:nvSpPr>
          <p:cNvPr id="44" name="Shape 42"/>
          <p:cNvSpPr/>
          <p:nvPr/>
        </p:nvSpPr>
        <p:spPr>
          <a:xfrm>
            <a:off x="4352544" y="2459736"/>
            <a:ext cx="466344" cy="251460"/>
          </a:xfrm>
          <a:prstGeom prst="rect">
            <a:avLst/>
          </a:prstGeom>
          <a:solidFill>
            <a:srgbClr val="CDDC39"/>
          </a:solidFill>
          <a:ln w="6350">
            <a:solidFill>
              <a:srgbClr val="FFFFFF"/>
            </a:solidFill>
            <a:prstDash val="solid"/>
          </a:ln>
        </p:spPr>
      </p:sp>
      <p:sp>
        <p:nvSpPr>
          <p:cNvPr id="45" name="Text 43"/>
          <p:cNvSpPr/>
          <p:nvPr/>
        </p:nvSpPr>
        <p:spPr>
          <a:xfrm>
            <a:off x="4352544" y="245973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57</a:t>
            </a:r>
            <a:endParaRPr lang="en-US" sz="700" dirty="0"/>
          </a:p>
        </p:txBody>
      </p:sp>
      <p:sp>
        <p:nvSpPr>
          <p:cNvPr id="46" name="Text 44"/>
          <p:cNvSpPr/>
          <p:nvPr/>
        </p:nvSpPr>
        <p:spPr>
          <a:xfrm>
            <a:off x="320040" y="2766060"/>
            <a:ext cx="978408" cy="233172"/>
          </a:xfrm>
          <a:prstGeom prst="rect">
            <a:avLst/>
          </a:prstGeom>
          <a:noFill/>
          <a:ln/>
        </p:spPr>
        <p:txBody>
          <a:bodyPr wrap="square" lIns="0" tIns="0" rIns="0" bIns="0" rtlCol="0" anchor="ctr"/>
          <a:lstStyle/>
          <a:p>
            <a:pPr indent="0" marL="0">
              <a:buNone/>
            </a:pPr>
            <a:r>
              <a:rPr lang="en-US" sz="650" dirty="0">
                <a:solidFill>
                  <a:srgbClr val="0D2B3E"/>
                </a:solidFill>
              </a:rPr>
              <a:t>McAlpine Dam</a:t>
            </a:r>
            <a:endParaRPr lang="en-US" sz="650" dirty="0"/>
          </a:p>
        </p:txBody>
      </p:sp>
      <p:sp>
        <p:nvSpPr>
          <p:cNvPr id="47" name="Shape 45"/>
          <p:cNvSpPr/>
          <p:nvPr/>
        </p:nvSpPr>
        <p:spPr>
          <a:xfrm>
            <a:off x="1335024" y="2747772"/>
            <a:ext cx="466344" cy="251460"/>
          </a:xfrm>
          <a:prstGeom prst="rect">
            <a:avLst/>
          </a:prstGeom>
          <a:solidFill>
            <a:srgbClr val="4CAF50"/>
          </a:solidFill>
          <a:ln w="6350">
            <a:solidFill>
              <a:srgbClr val="FFFFFF"/>
            </a:solidFill>
            <a:prstDash val="solid"/>
          </a:ln>
        </p:spPr>
      </p:sp>
      <p:sp>
        <p:nvSpPr>
          <p:cNvPr id="48" name="Text 46"/>
          <p:cNvSpPr/>
          <p:nvPr/>
        </p:nvSpPr>
        <p:spPr>
          <a:xfrm>
            <a:off x="1335024" y="2747772"/>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78</a:t>
            </a:r>
            <a:endParaRPr lang="en-US" sz="700" dirty="0"/>
          </a:p>
        </p:txBody>
      </p:sp>
      <p:sp>
        <p:nvSpPr>
          <p:cNvPr id="49" name="Shape 47"/>
          <p:cNvSpPr/>
          <p:nvPr/>
        </p:nvSpPr>
        <p:spPr>
          <a:xfrm>
            <a:off x="1837944" y="2747772"/>
            <a:ext cx="466344" cy="251460"/>
          </a:xfrm>
          <a:prstGeom prst="rect">
            <a:avLst/>
          </a:prstGeom>
          <a:solidFill>
            <a:srgbClr val="4CAF50"/>
          </a:solidFill>
          <a:ln w="6350">
            <a:solidFill>
              <a:srgbClr val="FFFFFF"/>
            </a:solidFill>
            <a:prstDash val="solid"/>
          </a:ln>
        </p:spPr>
      </p:sp>
      <p:sp>
        <p:nvSpPr>
          <p:cNvPr id="50" name="Text 48"/>
          <p:cNvSpPr/>
          <p:nvPr/>
        </p:nvSpPr>
        <p:spPr>
          <a:xfrm>
            <a:off x="1837944" y="2747772"/>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76</a:t>
            </a:r>
            <a:endParaRPr lang="en-US" sz="700" dirty="0"/>
          </a:p>
        </p:txBody>
      </p:sp>
      <p:sp>
        <p:nvSpPr>
          <p:cNvPr id="51" name="Shape 49"/>
          <p:cNvSpPr/>
          <p:nvPr/>
        </p:nvSpPr>
        <p:spPr>
          <a:xfrm>
            <a:off x="2340864" y="2747772"/>
            <a:ext cx="466344" cy="251460"/>
          </a:xfrm>
          <a:prstGeom prst="rect">
            <a:avLst/>
          </a:prstGeom>
          <a:solidFill>
            <a:srgbClr val="4CAF50"/>
          </a:solidFill>
          <a:ln w="6350">
            <a:solidFill>
              <a:srgbClr val="FFFFFF"/>
            </a:solidFill>
            <a:prstDash val="solid"/>
          </a:ln>
        </p:spPr>
      </p:sp>
      <p:sp>
        <p:nvSpPr>
          <p:cNvPr id="52" name="Text 50"/>
          <p:cNvSpPr/>
          <p:nvPr/>
        </p:nvSpPr>
        <p:spPr>
          <a:xfrm>
            <a:off x="2340864" y="2747772"/>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72</a:t>
            </a:r>
            <a:endParaRPr lang="en-US" sz="700" dirty="0"/>
          </a:p>
        </p:txBody>
      </p:sp>
      <p:sp>
        <p:nvSpPr>
          <p:cNvPr id="53" name="Shape 51"/>
          <p:cNvSpPr/>
          <p:nvPr/>
        </p:nvSpPr>
        <p:spPr>
          <a:xfrm>
            <a:off x="2843784" y="2747772"/>
            <a:ext cx="466344" cy="251460"/>
          </a:xfrm>
          <a:prstGeom prst="rect">
            <a:avLst/>
          </a:prstGeom>
          <a:solidFill>
            <a:srgbClr val="8BC34A"/>
          </a:solidFill>
          <a:ln w="6350">
            <a:solidFill>
              <a:srgbClr val="FFFFFF"/>
            </a:solidFill>
            <a:prstDash val="solid"/>
          </a:ln>
        </p:spPr>
      </p:sp>
      <p:sp>
        <p:nvSpPr>
          <p:cNvPr id="54" name="Text 52"/>
          <p:cNvSpPr/>
          <p:nvPr/>
        </p:nvSpPr>
        <p:spPr>
          <a:xfrm>
            <a:off x="2843784" y="2747772"/>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65</a:t>
            </a:r>
            <a:endParaRPr lang="en-US" sz="700" dirty="0"/>
          </a:p>
        </p:txBody>
      </p:sp>
      <p:sp>
        <p:nvSpPr>
          <p:cNvPr id="55" name="Shape 53"/>
          <p:cNvSpPr/>
          <p:nvPr/>
        </p:nvSpPr>
        <p:spPr>
          <a:xfrm>
            <a:off x="3346704" y="2747772"/>
            <a:ext cx="466344" cy="251460"/>
          </a:xfrm>
          <a:prstGeom prst="rect">
            <a:avLst/>
          </a:prstGeom>
          <a:solidFill>
            <a:srgbClr val="8BC34A"/>
          </a:solidFill>
          <a:ln w="6350">
            <a:solidFill>
              <a:srgbClr val="FFFFFF"/>
            </a:solidFill>
            <a:prstDash val="solid"/>
          </a:ln>
        </p:spPr>
      </p:sp>
      <p:sp>
        <p:nvSpPr>
          <p:cNvPr id="56" name="Text 54"/>
          <p:cNvSpPr/>
          <p:nvPr/>
        </p:nvSpPr>
        <p:spPr>
          <a:xfrm>
            <a:off x="3346704" y="2747772"/>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60</a:t>
            </a:r>
            <a:endParaRPr lang="en-US" sz="700" dirty="0"/>
          </a:p>
        </p:txBody>
      </p:sp>
      <p:sp>
        <p:nvSpPr>
          <p:cNvPr id="57" name="Shape 55"/>
          <p:cNvSpPr/>
          <p:nvPr/>
        </p:nvSpPr>
        <p:spPr>
          <a:xfrm>
            <a:off x="3849624" y="2747772"/>
            <a:ext cx="466344" cy="251460"/>
          </a:xfrm>
          <a:prstGeom prst="rect">
            <a:avLst/>
          </a:prstGeom>
          <a:solidFill>
            <a:srgbClr val="CDDC39"/>
          </a:solidFill>
          <a:ln w="6350">
            <a:solidFill>
              <a:srgbClr val="FFFFFF"/>
            </a:solidFill>
            <a:prstDash val="solid"/>
          </a:ln>
        </p:spPr>
      </p:sp>
      <p:sp>
        <p:nvSpPr>
          <p:cNvPr id="58" name="Text 56"/>
          <p:cNvSpPr/>
          <p:nvPr/>
        </p:nvSpPr>
        <p:spPr>
          <a:xfrm>
            <a:off x="3849624" y="2747772"/>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55</a:t>
            </a:r>
            <a:endParaRPr lang="en-US" sz="700" dirty="0"/>
          </a:p>
        </p:txBody>
      </p:sp>
      <p:sp>
        <p:nvSpPr>
          <p:cNvPr id="59" name="Shape 57"/>
          <p:cNvSpPr/>
          <p:nvPr/>
        </p:nvSpPr>
        <p:spPr>
          <a:xfrm>
            <a:off x="4352544" y="2747772"/>
            <a:ext cx="466344" cy="251460"/>
          </a:xfrm>
          <a:prstGeom prst="rect">
            <a:avLst/>
          </a:prstGeom>
          <a:solidFill>
            <a:srgbClr val="CDDC39"/>
          </a:solidFill>
          <a:ln w="6350">
            <a:solidFill>
              <a:srgbClr val="FFFFFF"/>
            </a:solidFill>
            <a:prstDash val="solid"/>
          </a:ln>
        </p:spPr>
      </p:sp>
      <p:sp>
        <p:nvSpPr>
          <p:cNvPr id="60" name="Text 58"/>
          <p:cNvSpPr/>
          <p:nvPr/>
        </p:nvSpPr>
        <p:spPr>
          <a:xfrm>
            <a:off x="4352544" y="2747772"/>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50</a:t>
            </a:r>
            <a:endParaRPr lang="en-US" sz="700" dirty="0"/>
          </a:p>
        </p:txBody>
      </p:sp>
      <p:sp>
        <p:nvSpPr>
          <p:cNvPr id="61" name="Text 59"/>
          <p:cNvSpPr/>
          <p:nvPr/>
        </p:nvSpPr>
        <p:spPr>
          <a:xfrm>
            <a:off x="320040" y="3054096"/>
            <a:ext cx="978408" cy="233172"/>
          </a:xfrm>
          <a:prstGeom prst="rect">
            <a:avLst/>
          </a:prstGeom>
          <a:noFill/>
          <a:ln/>
        </p:spPr>
        <p:txBody>
          <a:bodyPr wrap="square" lIns="0" tIns="0" rIns="0" bIns="0" rtlCol="0" anchor="ctr"/>
          <a:lstStyle/>
          <a:p>
            <a:pPr indent="0" marL="0">
              <a:buNone/>
            </a:pPr>
            <a:r>
              <a:rPr lang="en-US" sz="650" dirty="0">
                <a:solidFill>
                  <a:srgbClr val="0D2B3E"/>
                </a:solidFill>
              </a:rPr>
              <a:t>Cox Park</a:t>
            </a:r>
            <a:endParaRPr lang="en-US" sz="650" dirty="0"/>
          </a:p>
        </p:txBody>
      </p:sp>
      <p:sp>
        <p:nvSpPr>
          <p:cNvPr id="62" name="Shape 60"/>
          <p:cNvSpPr/>
          <p:nvPr/>
        </p:nvSpPr>
        <p:spPr>
          <a:xfrm>
            <a:off x="1335024" y="3035808"/>
            <a:ext cx="466344" cy="251460"/>
          </a:xfrm>
          <a:prstGeom prst="rect">
            <a:avLst/>
          </a:prstGeom>
          <a:solidFill>
            <a:srgbClr val="4CAF50"/>
          </a:solidFill>
          <a:ln w="6350">
            <a:solidFill>
              <a:srgbClr val="FFFFFF"/>
            </a:solidFill>
            <a:prstDash val="solid"/>
          </a:ln>
        </p:spPr>
      </p:sp>
      <p:sp>
        <p:nvSpPr>
          <p:cNvPr id="63" name="Text 61"/>
          <p:cNvSpPr/>
          <p:nvPr/>
        </p:nvSpPr>
        <p:spPr>
          <a:xfrm>
            <a:off x="1335024" y="3035808"/>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74</a:t>
            </a:r>
            <a:endParaRPr lang="en-US" sz="700" dirty="0"/>
          </a:p>
        </p:txBody>
      </p:sp>
      <p:sp>
        <p:nvSpPr>
          <p:cNvPr id="64" name="Shape 62"/>
          <p:cNvSpPr/>
          <p:nvPr/>
        </p:nvSpPr>
        <p:spPr>
          <a:xfrm>
            <a:off x="1837944" y="3035808"/>
            <a:ext cx="466344" cy="251460"/>
          </a:xfrm>
          <a:prstGeom prst="rect">
            <a:avLst/>
          </a:prstGeom>
          <a:solidFill>
            <a:srgbClr val="4CAF50"/>
          </a:solidFill>
          <a:ln w="6350">
            <a:solidFill>
              <a:srgbClr val="FFFFFF"/>
            </a:solidFill>
            <a:prstDash val="solid"/>
          </a:ln>
        </p:spPr>
      </p:sp>
      <p:sp>
        <p:nvSpPr>
          <p:cNvPr id="65" name="Text 63"/>
          <p:cNvSpPr/>
          <p:nvPr/>
        </p:nvSpPr>
        <p:spPr>
          <a:xfrm>
            <a:off x="1837944" y="3035808"/>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70</a:t>
            </a:r>
            <a:endParaRPr lang="en-US" sz="700" dirty="0"/>
          </a:p>
        </p:txBody>
      </p:sp>
      <p:sp>
        <p:nvSpPr>
          <p:cNvPr id="66" name="Shape 64"/>
          <p:cNvSpPr/>
          <p:nvPr/>
        </p:nvSpPr>
        <p:spPr>
          <a:xfrm>
            <a:off x="2340864" y="3035808"/>
            <a:ext cx="466344" cy="251460"/>
          </a:xfrm>
          <a:prstGeom prst="rect">
            <a:avLst/>
          </a:prstGeom>
          <a:solidFill>
            <a:srgbClr val="8BC34A"/>
          </a:solidFill>
          <a:ln w="6350">
            <a:solidFill>
              <a:srgbClr val="FFFFFF"/>
            </a:solidFill>
            <a:prstDash val="solid"/>
          </a:ln>
        </p:spPr>
      </p:sp>
      <p:sp>
        <p:nvSpPr>
          <p:cNvPr id="67" name="Text 65"/>
          <p:cNvSpPr/>
          <p:nvPr/>
        </p:nvSpPr>
        <p:spPr>
          <a:xfrm>
            <a:off x="2340864" y="3035808"/>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68</a:t>
            </a:r>
            <a:endParaRPr lang="en-US" sz="700" dirty="0"/>
          </a:p>
        </p:txBody>
      </p:sp>
      <p:sp>
        <p:nvSpPr>
          <p:cNvPr id="68" name="Shape 66"/>
          <p:cNvSpPr/>
          <p:nvPr/>
        </p:nvSpPr>
        <p:spPr>
          <a:xfrm>
            <a:off x="2843784" y="3035808"/>
            <a:ext cx="466344" cy="251460"/>
          </a:xfrm>
          <a:prstGeom prst="rect">
            <a:avLst/>
          </a:prstGeom>
          <a:solidFill>
            <a:srgbClr val="8BC34A"/>
          </a:solidFill>
          <a:ln w="6350">
            <a:solidFill>
              <a:srgbClr val="FFFFFF"/>
            </a:solidFill>
            <a:prstDash val="solid"/>
          </a:ln>
        </p:spPr>
      </p:sp>
      <p:sp>
        <p:nvSpPr>
          <p:cNvPr id="69" name="Text 67"/>
          <p:cNvSpPr/>
          <p:nvPr/>
        </p:nvSpPr>
        <p:spPr>
          <a:xfrm>
            <a:off x="2843784" y="3035808"/>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61</a:t>
            </a:r>
            <a:endParaRPr lang="en-US" sz="700" dirty="0"/>
          </a:p>
        </p:txBody>
      </p:sp>
      <p:sp>
        <p:nvSpPr>
          <p:cNvPr id="70" name="Shape 68"/>
          <p:cNvSpPr/>
          <p:nvPr/>
        </p:nvSpPr>
        <p:spPr>
          <a:xfrm>
            <a:off x="3346704" y="3035808"/>
            <a:ext cx="466344" cy="251460"/>
          </a:xfrm>
          <a:prstGeom prst="rect">
            <a:avLst/>
          </a:prstGeom>
          <a:solidFill>
            <a:srgbClr val="CDDC39"/>
          </a:solidFill>
          <a:ln w="6350">
            <a:solidFill>
              <a:srgbClr val="FFFFFF"/>
            </a:solidFill>
            <a:prstDash val="solid"/>
          </a:ln>
        </p:spPr>
      </p:sp>
      <p:sp>
        <p:nvSpPr>
          <p:cNvPr id="71" name="Text 69"/>
          <p:cNvSpPr/>
          <p:nvPr/>
        </p:nvSpPr>
        <p:spPr>
          <a:xfrm>
            <a:off x="3346704" y="3035808"/>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56</a:t>
            </a:r>
            <a:endParaRPr lang="en-US" sz="700" dirty="0"/>
          </a:p>
        </p:txBody>
      </p:sp>
      <p:sp>
        <p:nvSpPr>
          <p:cNvPr id="72" name="Shape 70"/>
          <p:cNvSpPr/>
          <p:nvPr/>
        </p:nvSpPr>
        <p:spPr>
          <a:xfrm>
            <a:off x="3849624" y="3035808"/>
            <a:ext cx="466344" cy="251460"/>
          </a:xfrm>
          <a:prstGeom prst="rect">
            <a:avLst/>
          </a:prstGeom>
          <a:solidFill>
            <a:srgbClr val="CDDC39"/>
          </a:solidFill>
          <a:ln w="6350">
            <a:solidFill>
              <a:srgbClr val="FFFFFF"/>
            </a:solidFill>
            <a:prstDash val="solid"/>
          </a:ln>
        </p:spPr>
      </p:sp>
      <p:sp>
        <p:nvSpPr>
          <p:cNvPr id="73" name="Text 71"/>
          <p:cNvSpPr/>
          <p:nvPr/>
        </p:nvSpPr>
        <p:spPr>
          <a:xfrm>
            <a:off x="3849624" y="3035808"/>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51</a:t>
            </a:r>
            <a:endParaRPr lang="en-US" sz="700" dirty="0"/>
          </a:p>
        </p:txBody>
      </p:sp>
      <p:sp>
        <p:nvSpPr>
          <p:cNvPr id="74" name="Shape 72"/>
          <p:cNvSpPr/>
          <p:nvPr/>
        </p:nvSpPr>
        <p:spPr>
          <a:xfrm>
            <a:off x="4352544" y="3035808"/>
            <a:ext cx="466344" cy="251460"/>
          </a:xfrm>
          <a:prstGeom prst="rect">
            <a:avLst/>
          </a:prstGeom>
          <a:solidFill>
            <a:srgbClr val="FFC107"/>
          </a:solidFill>
          <a:ln w="6350">
            <a:solidFill>
              <a:srgbClr val="FFFFFF"/>
            </a:solidFill>
            <a:prstDash val="solid"/>
          </a:ln>
        </p:spPr>
      </p:sp>
      <p:sp>
        <p:nvSpPr>
          <p:cNvPr id="75" name="Text 73"/>
          <p:cNvSpPr/>
          <p:nvPr/>
        </p:nvSpPr>
        <p:spPr>
          <a:xfrm>
            <a:off x="4352544" y="3035808"/>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47</a:t>
            </a:r>
            <a:endParaRPr lang="en-US" sz="700" dirty="0"/>
          </a:p>
        </p:txBody>
      </p:sp>
      <p:sp>
        <p:nvSpPr>
          <p:cNvPr id="76" name="Text 74"/>
          <p:cNvSpPr/>
          <p:nvPr/>
        </p:nvSpPr>
        <p:spPr>
          <a:xfrm>
            <a:off x="320040" y="3342132"/>
            <a:ext cx="978408" cy="233172"/>
          </a:xfrm>
          <a:prstGeom prst="rect">
            <a:avLst/>
          </a:prstGeom>
          <a:noFill/>
          <a:ln/>
        </p:spPr>
        <p:txBody>
          <a:bodyPr wrap="square" lIns="0" tIns="0" rIns="0" bIns="0" rtlCol="0" anchor="ctr"/>
          <a:lstStyle/>
          <a:p>
            <a:pPr indent="0" marL="0">
              <a:buNone/>
            </a:pPr>
            <a:r>
              <a:rPr lang="en-US" sz="650" dirty="0">
                <a:solidFill>
                  <a:srgbClr val="0D2B3E"/>
                </a:solidFill>
              </a:rPr>
              <a:t>Harrods Creek</a:t>
            </a:r>
            <a:endParaRPr lang="en-US" sz="650" dirty="0"/>
          </a:p>
        </p:txBody>
      </p:sp>
      <p:sp>
        <p:nvSpPr>
          <p:cNvPr id="77" name="Shape 75"/>
          <p:cNvSpPr/>
          <p:nvPr/>
        </p:nvSpPr>
        <p:spPr>
          <a:xfrm>
            <a:off x="1335024" y="3323844"/>
            <a:ext cx="466344" cy="251460"/>
          </a:xfrm>
          <a:prstGeom prst="rect">
            <a:avLst/>
          </a:prstGeom>
          <a:solidFill>
            <a:srgbClr val="8BC34A"/>
          </a:solidFill>
          <a:ln w="6350">
            <a:solidFill>
              <a:srgbClr val="FFFFFF"/>
            </a:solidFill>
            <a:prstDash val="solid"/>
          </a:ln>
        </p:spPr>
      </p:sp>
      <p:sp>
        <p:nvSpPr>
          <p:cNvPr id="78" name="Text 76"/>
          <p:cNvSpPr/>
          <p:nvPr/>
        </p:nvSpPr>
        <p:spPr>
          <a:xfrm>
            <a:off x="1335024" y="3323844"/>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68</a:t>
            </a:r>
            <a:endParaRPr lang="en-US" sz="700" dirty="0"/>
          </a:p>
        </p:txBody>
      </p:sp>
      <p:sp>
        <p:nvSpPr>
          <p:cNvPr id="79" name="Shape 77"/>
          <p:cNvSpPr/>
          <p:nvPr/>
        </p:nvSpPr>
        <p:spPr>
          <a:xfrm>
            <a:off x="1837944" y="3323844"/>
            <a:ext cx="466344" cy="251460"/>
          </a:xfrm>
          <a:prstGeom prst="rect">
            <a:avLst/>
          </a:prstGeom>
          <a:solidFill>
            <a:srgbClr val="8BC34A"/>
          </a:solidFill>
          <a:ln w="6350">
            <a:solidFill>
              <a:srgbClr val="FFFFFF"/>
            </a:solidFill>
            <a:prstDash val="solid"/>
          </a:ln>
        </p:spPr>
      </p:sp>
      <p:sp>
        <p:nvSpPr>
          <p:cNvPr id="80" name="Text 78"/>
          <p:cNvSpPr/>
          <p:nvPr/>
        </p:nvSpPr>
        <p:spPr>
          <a:xfrm>
            <a:off x="1837944" y="3323844"/>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65</a:t>
            </a:r>
            <a:endParaRPr lang="en-US" sz="700" dirty="0"/>
          </a:p>
        </p:txBody>
      </p:sp>
      <p:sp>
        <p:nvSpPr>
          <p:cNvPr id="81" name="Shape 79"/>
          <p:cNvSpPr/>
          <p:nvPr/>
        </p:nvSpPr>
        <p:spPr>
          <a:xfrm>
            <a:off x="2340864" y="3323844"/>
            <a:ext cx="466344" cy="251460"/>
          </a:xfrm>
          <a:prstGeom prst="rect">
            <a:avLst/>
          </a:prstGeom>
          <a:solidFill>
            <a:srgbClr val="8BC34A"/>
          </a:solidFill>
          <a:ln w="6350">
            <a:solidFill>
              <a:srgbClr val="FFFFFF"/>
            </a:solidFill>
            <a:prstDash val="solid"/>
          </a:ln>
        </p:spPr>
      </p:sp>
      <p:sp>
        <p:nvSpPr>
          <p:cNvPr id="82" name="Text 80"/>
          <p:cNvSpPr/>
          <p:nvPr/>
        </p:nvSpPr>
        <p:spPr>
          <a:xfrm>
            <a:off x="2340864" y="3323844"/>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60</a:t>
            </a:r>
            <a:endParaRPr lang="en-US" sz="700" dirty="0"/>
          </a:p>
        </p:txBody>
      </p:sp>
      <p:sp>
        <p:nvSpPr>
          <p:cNvPr id="83" name="Shape 81"/>
          <p:cNvSpPr/>
          <p:nvPr/>
        </p:nvSpPr>
        <p:spPr>
          <a:xfrm>
            <a:off x="2843784" y="3323844"/>
            <a:ext cx="466344" cy="251460"/>
          </a:xfrm>
          <a:prstGeom prst="rect">
            <a:avLst/>
          </a:prstGeom>
          <a:solidFill>
            <a:srgbClr val="CDDC39"/>
          </a:solidFill>
          <a:ln w="6350">
            <a:solidFill>
              <a:srgbClr val="FFFFFF"/>
            </a:solidFill>
            <a:prstDash val="solid"/>
          </a:ln>
        </p:spPr>
      </p:sp>
      <p:sp>
        <p:nvSpPr>
          <p:cNvPr id="84" name="Text 82"/>
          <p:cNvSpPr/>
          <p:nvPr/>
        </p:nvSpPr>
        <p:spPr>
          <a:xfrm>
            <a:off x="2843784" y="3323844"/>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54</a:t>
            </a:r>
            <a:endParaRPr lang="en-US" sz="700" dirty="0"/>
          </a:p>
        </p:txBody>
      </p:sp>
      <p:sp>
        <p:nvSpPr>
          <p:cNvPr id="85" name="Shape 83"/>
          <p:cNvSpPr/>
          <p:nvPr/>
        </p:nvSpPr>
        <p:spPr>
          <a:xfrm>
            <a:off x="3346704" y="3323844"/>
            <a:ext cx="466344" cy="251460"/>
          </a:xfrm>
          <a:prstGeom prst="rect">
            <a:avLst/>
          </a:prstGeom>
          <a:solidFill>
            <a:srgbClr val="FFC107"/>
          </a:solidFill>
          <a:ln w="6350">
            <a:solidFill>
              <a:srgbClr val="FFFFFF"/>
            </a:solidFill>
            <a:prstDash val="solid"/>
          </a:ln>
        </p:spPr>
      </p:sp>
      <p:sp>
        <p:nvSpPr>
          <p:cNvPr id="86" name="Text 84"/>
          <p:cNvSpPr/>
          <p:nvPr/>
        </p:nvSpPr>
        <p:spPr>
          <a:xfrm>
            <a:off x="3346704" y="3323844"/>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49</a:t>
            </a:r>
            <a:endParaRPr lang="en-US" sz="700" dirty="0"/>
          </a:p>
        </p:txBody>
      </p:sp>
      <p:sp>
        <p:nvSpPr>
          <p:cNvPr id="87" name="Shape 85"/>
          <p:cNvSpPr/>
          <p:nvPr/>
        </p:nvSpPr>
        <p:spPr>
          <a:xfrm>
            <a:off x="3849624" y="3323844"/>
            <a:ext cx="466344" cy="251460"/>
          </a:xfrm>
          <a:prstGeom prst="rect">
            <a:avLst/>
          </a:prstGeom>
          <a:solidFill>
            <a:srgbClr val="FFC107"/>
          </a:solidFill>
          <a:ln w="6350">
            <a:solidFill>
              <a:srgbClr val="FFFFFF"/>
            </a:solidFill>
            <a:prstDash val="solid"/>
          </a:ln>
        </p:spPr>
      </p:sp>
      <p:sp>
        <p:nvSpPr>
          <p:cNvPr id="88" name="Text 86"/>
          <p:cNvSpPr/>
          <p:nvPr/>
        </p:nvSpPr>
        <p:spPr>
          <a:xfrm>
            <a:off x="3849624" y="3323844"/>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44</a:t>
            </a:r>
            <a:endParaRPr lang="en-US" sz="700" dirty="0"/>
          </a:p>
        </p:txBody>
      </p:sp>
      <p:sp>
        <p:nvSpPr>
          <p:cNvPr id="89" name="Shape 87"/>
          <p:cNvSpPr/>
          <p:nvPr/>
        </p:nvSpPr>
        <p:spPr>
          <a:xfrm>
            <a:off x="4352544" y="3323844"/>
            <a:ext cx="466344" cy="251460"/>
          </a:xfrm>
          <a:prstGeom prst="rect">
            <a:avLst/>
          </a:prstGeom>
          <a:solidFill>
            <a:srgbClr val="FFC107"/>
          </a:solidFill>
          <a:ln w="6350">
            <a:solidFill>
              <a:srgbClr val="FFFFFF"/>
            </a:solidFill>
            <a:prstDash val="solid"/>
          </a:ln>
        </p:spPr>
      </p:sp>
      <p:sp>
        <p:nvSpPr>
          <p:cNvPr id="90" name="Text 88"/>
          <p:cNvSpPr/>
          <p:nvPr/>
        </p:nvSpPr>
        <p:spPr>
          <a:xfrm>
            <a:off x="4352544" y="3323844"/>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41</a:t>
            </a:r>
            <a:endParaRPr lang="en-US" sz="700" dirty="0"/>
          </a:p>
        </p:txBody>
      </p:sp>
      <p:sp>
        <p:nvSpPr>
          <p:cNvPr id="91" name="Text 89"/>
          <p:cNvSpPr/>
          <p:nvPr/>
        </p:nvSpPr>
        <p:spPr>
          <a:xfrm>
            <a:off x="320040" y="3630168"/>
            <a:ext cx="978408" cy="233172"/>
          </a:xfrm>
          <a:prstGeom prst="rect">
            <a:avLst/>
          </a:prstGeom>
          <a:noFill/>
          <a:ln/>
        </p:spPr>
        <p:txBody>
          <a:bodyPr wrap="square" lIns="0" tIns="0" rIns="0" bIns="0" rtlCol="0" anchor="ctr"/>
          <a:lstStyle/>
          <a:p>
            <a:pPr indent="0" marL="0">
              <a:buNone/>
            </a:pPr>
            <a:r>
              <a:rPr lang="en-US" sz="650" dirty="0">
                <a:solidFill>
                  <a:srgbClr val="0D2B3E"/>
                </a:solidFill>
              </a:rPr>
              <a:t>Otter Creek</a:t>
            </a:r>
            <a:endParaRPr lang="en-US" sz="650" dirty="0"/>
          </a:p>
        </p:txBody>
      </p:sp>
      <p:sp>
        <p:nvSpPr>
          <p:cNvPr id="92" name="Shape 90"/>
          <p:cNvSpPr/>
          <p:nvPr/>
        </p:nvSpPr>
        <p:spPr>
          <a:xfrm>
            <a:off x="1335024" y="3611880"/>
            <a:ext cx="466344" cy="251460"/>
          </a:xfrm>
          <a:prstGeom prst="rect">
            <a:avLst/>
          </a:prstGeom>
          <a:solidFill>
            <a:srgbClr val="8BC34A"/>
          </a:solidFill>
          <a:ln w="6350">
            <a:solidFill>
              <a:srgbClr val="FFFFFF"/>
            </a:solidFill>
            <a:prstDash val="solid"/>
          </a:ln>
        </p:spPr>
      </p:sp>
      <p:sp>
        <p:nvSpPr>
          <p:cNvPr id="93" name="Text 91"/>
          <p:cNvSpPr/>
          <p:nvPr/>
        </p:nvSpPr>
        <p:spPr>
          <a:xfrm>
            <a:off x="1335024" y="3611880"/>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60</a:t>
            </a:r>
            <a:endParaRPr lang="en-US" sz="700" dirty="0"/>
          </a:p>
        </p:txBody>
      </p:sp>
      <p:sp>
        <p:nvSpPr>
          <p:cNvPr id="94" name="Shape 92"/>
          <p:cNvSpPr/>
          <p:nvPr/>
        </p:nvSpPr>
        <p:spPr>
          <a:xfrm>
            <a:off x="1837944" y="3611880"/>
            <a:ext cx="466344" cy="251460"/>
          </a:xfrm>
          <a:prstGeom prst="rect">
            <a:avLst/>
          </a:prstGeom>
          <a:solidFill>
            <a:srgbClr val="CDDC39"/>
          </a:solidFill>
          <a:ln w="6350">
            <a:solidFill>
              <a:srgbClr val="FFFFFF"/>
            </a:solidFill>
            <a:prstDash val="solid"/>
          </a:ln>
        </p:spPr>
      </p:sp>
      <p:sp>
        <p:nvSpPr>
          <p:cNvPr id="95" name="Text 93"/>
          <p:cNvSpPr/>
          <p:nvPr/>
        </p:nvSpPr>
        <p:spPr>
          <a:xfrm>
            <a:off x="1837944" y="3611880"/>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58</a:t>
            </a:r>
            <a:endParaRPr lang="en-US" sz="700" dirty="0"/>
          </a:p>
        </p:txBody>
      </p:sp>
      <p:sp>
        <p:nvSpPr>
          <p:cNvPr id="96" name="Shape 94"/>
          <p:cNvSpPr/>
          <p:nvPr/>
        </p:nvSpPr>
        <p:spPr>
          <a:xfrm>
            <a:off x="2340864" y="3611880"/>
            <a:ext cx="466344" cy="251460"/>
          </a:xfrm>
          <a:prstGeom prst="rect">
            <a:avLst/>
          </a:prstGeom>
          <a:solidFill>
            <a:srgbClr val="CDDC39"/>
          </a:solidFill>
          <a:ln w="6350">
            <a:solidFill>
              <a:srgbClr val="FFFFFF"/>
            </a:solidFill>
            <a:prstDash val="solid"/>
          </a:ln>
        </p:spPr>
      </p:sp>
      <p:sp>
        <p:nvSpPr>
          <p:cNvPr id="97" name="Text 95"/>
          <p:cNvSpPr/>
          <p:nvPr/>
        </p:nvSpPr>
        <p:spPr>
          <a:xfrm>
            <a:off x="2340864" y="3611880"/>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53</a:t>
            </a:r>
            <a:endParaRPr lang="en-US" sz="700" dirty="0"/>
          </a:p>
        </p:txBody>
      </p:sp>
      <p:sp>
        <p:nvSpPr>
          <p:cNvPr id="98" name="Shape 96"/>
          <p:cNvSpPr/>
          <p:nvPr/>
        </p:nvSpPr>
        <p:spPr>
          <a:xfrm>
            <a:off x="2843784" y="3611880"/>
            <a:ext cx="466344" cy="251460"/>
          </a:xfrm>
          <a:prstGeom prst="rect">
            <a:avLst/>
          </a:prstGeom>
          <a:solidFill>
            <a:srgbClr val="FFC107"/>
          </a:solidFill>
          <a:ln w="6350">
            <a:solidFill>
              <a:srgbClr val="FFFFFF"/>
            </a:solidFill>
            <a:prstDash val="solid"/>
          </a:ln>
        </p:spPr>
      </p:sp>
      <p:sp>
        <p:nvSpPr>
          <p:cNvPr id="99" name="Text 97"/>
          <p:cNvSpPr/>
          <p:nvPr/>
        </p:nvSpPr>
        <p:spPr>
          <a:xfrm>
            <a:off x="2843784" y="3611880"/>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48</a:t>
            </a:r>
            <a:endParaRPr lang="en-US" sz="700" dirty="0"/>
          </a:p>
        </p:txBody>
      </p:sp>
      <p:sp>
        <p:nvSpPr>
          <p:cNvPr id="100" name="Shape 98"/>
          <p:cNvSpPr/>
          <p:nvPr/>
        </p:nvSpPr>
        <p:spPr>
          <a:xfrm>
            <a:off x="3346704" y="3611880"/>
            <a:ext cx="466344" cy="251460"/>
          </a:xfrm>
          <a:prstGeom prst="rect">
            <a:avLst/>
          </a:prstGeom>
          <a:solidFill>
            <a:srgbClr val="FFC107"/>
          </a:solidFill>
          <a:ln w="6350">
            <a:solidFill>
              <a:srgbClr val="FFFFFF"/>
            </a:solidFill>
            <a:prstDash val="solid"/>
          </a:ln>
        </p:spPr>
      </p:sp>
      <p:sp>
        <p:nvSpPr>
          <p:cNvPr id="101" name="Text 99"/>
          <p:cNvSpPr/>
          <p:nvPr/>
        </p:nvSpPr>
        <p:spPr>
          <a:xfrm>
            <a:off x="3346704" y="3611880"/>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43</a:t>
            </a:r>
            <a:endParaRPr lang="en-US" sz="700" dirty="0"/>
          </a:p>
        </p:txBody>
      </p:sp>
      <p:sp>
        <p:nvSpPr>
          <p:cNvPr id="102" name="Shape 100"/>
          <p:cNvSpPr/>
          <p:nvPr/>
        </p:nvSpPr>
        <p:spPr>
          <a:xfrm>
            <a:off x="3849624" y="3611880"/>
            <a:ext cx="466344" cy="251460"/>
          </a:xfrm>
          <a:prstGeom prst="rect">
            <a:avLst/>
          </a:prstGeom>
          <a:solidFill>
            <a:srgbClr val="FF9800"/>
          </a:solidFill>
          <a:ln w="6350">
            <a:solidFill>
              <a:srgbClr val="FFFFFF"/>
            </a:solidFill>
            <a:prstDash val="solid"/>
          </a:ln>
        </p:spPr>
      </p:sp>
      <p:sp>
        <p:nvSpPr>
          <p:cNvPr id="103" name="Text 101"/>
          <p:cNvSpPr/>
          <p:nvPr/>
        </p:nvSpPr>
        <p:spPr>
          <a:xfrm>
            <a:off x="3849624" y="3611880"/>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38</a:t>
            </a:r>
            <a:endParaRPr lang="en-US" sz="700" dirty="0"/>
          </a:p>
        </p:txBody>
      </p:sp>
      <p:sp>
        <p:nvSpPr>
          <p:cNvPr id="104" name="Shape 102"/>
          <p:cNvSpPr/>
          <p:nvPr/>
        </p:nvSpPr>
        <p:spPr>
          <a:xfrm>
            <a:off x="4352544" y="3611880"/>
            <a:ext cx="466344" cy="251460"/>
          </a:xfrm>
          <a:prstGeom prst="rect">
            <a:avLst/>
          </a:prstGeom>
          <a:solidFill>
            <a:srgbClr val="FF9800"/>
          </a:solidFill>
          <a:ln w="6350">
            <a:solidFill>
              <a:srgbClr val="FFFFFF"/>
            </a:solidFill>
            <a:prstDash val="solid"/>
          </a:ln>
        </p:spPr>
      </p:sp>
      <p:sp>
        <p:nvSpPr>
          <p:cNvPr id="105" name="Text 103"/>
          <p:cNvSpPr/>
          <p:nvPr/>
        </p:nvSpPr>
        <p:spPr>
          <a:xfrm>
            <a:off x="4352544" y="3611880"/>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35</a:t>
            </a:r>
            <a:endParaRPr lang="en-US" sz="700" dirty="0"/>
          </a:p>
        </p:txBody>
      </p:sp>
      <p:sp>
        <p:nvSpPr>
          <p:cNvPr id="106" name="Text 104"/>
          <p:cNvSpPr/>
          <p:nvPr/>
        </p:nvSpPr>
        <p:spPr>
          <a:xfrm>
            <a:off x="320040" y="3918204"/>
            <a:ext cx="978408" cy="233172"/>
          </a:xfrm>
          <a:prstGeom prst="rect">
            <a:avLst/>
          </a:prstGeom>
          <a:noFill/>
          <a:ln/>
        </p:spPr>
        <p:txBody>
          <a:bodyPr wrap="square" lIns="0" tIns="0" rIns="0" bIns="0" rtlCol="0" anchor="ctr"/>
          <a:lstStyle/>
          <a:p>
            <a:pPr indent="0" marL="0">
              <a:buNone/>
            </a:pPr>
            <a:r>
              <a:rPr lang="en-US" sz="650" dirty="0">
                <a:solidFill>
                  <a:srgbClr val="0D2B3E"/>
                </a:solidFill>
              </a:rPr>
              <a:t>Caperton Swamp</a:t>
            </a:r>
            <a:endParaRPr lang="en-US" sz="650" dirty="0"/>
          </a:p>
        </p:txBody>
      </p:sp>
      <p:sp>
        <p:nvSpPr>
          <p:cNvPr id="107" name="Shape 105"/>
          <p:cNvSpPr/>
          <p:nvPr/>
        </p:nvSpPr>
        <p:spPr>
          <a:xfrm>
            <a:off x="1335024" y="3899916"/>
            <a:ext cx="466344" cy="251460"/>
          </a:xfrm>
          <a:prstGeom prst="rect">
            <a:avLst/>
          </a:prstGeom>
          <a:solidFill>
            <a:srgbClr val="CDDC39"/>
          </a:solidFill>
          <a:ln w="6350">
            <a:solidFill>
              <a:srgbClr val="FFFFFF"/>
            </a:solidFill>
            <a:prstDash val="solid"/>
          </a:ln>
        </p:spPr>
      </p:sp>
      <p:sp>
        <p:nvSpPr>
          <p:cNvPr id="108" name="Text 106"/>
          <p:cNvSpPr/>
          <p:nvPr/>
        </p:nvSpPr>
        <p:spPr>
          <a:xfrm>
            <a:off x="1335024" y="389991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51</a:t>
            </a:r>
            <a:endParaRPr lang="en-US" sz="700" dirty="0"/>
          </a:p>
        </p:txBody>
      </p:sp>
      <p:sp>
        <p:nvSpPr>
          <p:cNvPr id="109" name="Shape 107"/>
          <p:cNvSpPr/>
          <p:nvPr/>
        </p:nvSpPr>
        <p:spPr>
          <a:xfrm>
            <a:off x="1837944" y="3899916"/>
            <a:ext cx="466344" cy="251460"/>
          </a:xfrm>
          <a:prstGeom prst="rect">
            <a:avLst/>
          </a:prstGeom>
          <a:solidFill>
            <a:srgbClr val="FFC107"/>
          </a:solidFill>
          <a:ln w="6350">
            <a:solidFill>
              <a:srgbClr val="FFFFFF"/>
            </a:solidFill>
            <a:prstDash val="solid"/>
          </a:ln>
        </p:spPr>
      </p:sp>
      <p:sp>
        <p:nvSpPr>
          <p:cNvPr id="110" name="Text 108"/>
          <p:cNvSpPr/>
          <p:nvPr/>
        </p:nvSpPr>
        <p:spPr>
          <a:xfrm>
            <a:off x="1837944" y="389991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48</a:t>
            </a:r>
            <a:endParaRPr lang="en-US" sz="700" dirty="0"/>
          </a:p>
        </p:txBody>
      </p:sp>
      <p:sp>
        <p:nvSpPr>
          <p:cNvPr id="111" name="Shape 109"/>
          <p:cNvSpPr/>
          <p:nvPr/>
        </p:nvSpPr>
        <p:spPr>
          <a:xfrm>
            <a:off x="2340864" y="3899916"/>
            <a:ext cx="466344" cy="251460"/>
          </a:xfrm>
          <a:prstGeom prst="rect">
            <a:avLst/>
          </a:prstGeom>
          <a:solidFill>
            <a:srgbClr val="FFC107"/>
          </a:solidFill>
          <a:ln w="6350">
            <a:solidFill>
              <a:srgbClr val="FFFFFF"/>
            </a:solidFill>
            <a:prstDash val="solid"/>
          </a:ln>
        </p:spPr>
      </p:sp>
      <p:sp>
        <p:nvSpPr>
          <p:cNvPr id="112" name="Text 110"/>
          <p:cNvSpPr/>
          <p:nvPr/>
        </p:nvSpPr>
        <p:spPr>
          <a:xfrm>
            <a:off x="2340864" y="389991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44</a:t>
            </a:r>
            <a:endParaRPr lang="en-US" sz="700" dirty="0"/>
          </a:p>
        </p:txBody>
      </p:sp>
      <p:sp>
        <p:nvSpPr>
          <p:cNvPr id="113" name="Shape 111"/>
          <p:cNvSpPr/>
          <p:nvPr/>
        </p:nvSpPr>
        <p:spPr>
          <a:xfrm>
            <a:off x="2843784" y="3899916"/>
            <a:ext cx="466344" cy="251460"/>
          </a:xfrm>
          <a:prstGeom prst="rect">
            <a:avLst/>
          </a:prstGeom>
          <a:solidFill>
            <a:srgbClr val="FF9800"/>
          </a:solidFill>
          <a:ln w="6350">
            <a:solidFill>
              <a:srgbClr val="FFFFFF"/>
            </a:solidFill>
            <a:prstDash val="solid"/>
          </a:ln>
        </p:spPr>
      </p:sp>
      <p:sp>
        <p:nvSpPr>
          <p:cNvPr id="114" name="Text 112"/>
          <p:cNvSpPr/>
          <p:nvPr/>
        </p:nvSpPr>
        <p:spPr>
          <a:xfrm>
            <a:off x="2843784" y="389991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39</a:t>
            </a:r>
            <a:endParaRPr lang="en-US" sz="700" dirty="0"/>
          </a:p>
        </p:txBody>
      </p:sp>
      <p:sp>
        <p:nvSpPr>
          <p:cNvPr id="115" name="Shape 113"/>
          <p:cNvSpPr/>
          <p:nvPr/>
        </p:nvSpPr>
        <p:spPr>
          <a:xfrm>
            <a:off x="3346704" y="3899916"/>
            <a:ext cx="466344" cy="251460"/>
          </a:xfrm>
          <a:prstGeom prst="rect">
            <a:avLst/>
          </a:prstGeom>
          <a:solidFill>
            <a:srgbClr val="FF9800"/>
          </a:solidFill>
          <a:ln w="6350">
            <a:solidFill>
              <a:srgbClr val="FFFFFF"/>
            </a:solidFill>
            <a:prstDash val="solid"/>
          </a:ln>
        </p:spPr>
      </p:sp>
      <p:sp>
        <p:nvSpPr>
          <p:cNvPr id="116" name="Text 114"/>
          <p:cNvSpPr/>
          <p:nvPr/>
        </p:nvSpPr>
        <p:spPr>
          <a:xfrm>
            <a:off x="3346704" y="389991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34</a:t>
            </a:r>
            <a:endParaRPr lang="en-US" sz="700" dirty="0"/>
          </a:p>
        </p:txBody>
      </p:sp>
      <p:sp>
        <p:nvSpPr>
          <p:cNvPr id="117" name="Shape 115"/>
          <p:cNvSpPr/>
          <p:nvPr/>
        </p:nvSpPr>
        <p:spPr>
          <a:xfrm>
            <a:off x="3849624" y="3899916"/>
            <a:ext cx="466344" cy="251460"/>
          </a:xfrm>
          <a:prstGeom prst="rect">
            <a:avLst/>
          </a:prstGeom>
          <a:solidFill>
            <a:srgbClr val="F44336"/>
          </a:solidFill>
          <a:ln w="6350">
            <a:solidFill>
              <a:srgbClr val="FFFFFF"/>
            </a:solidFill>
            <a:prstDash val="solid"/>
          </a:ln>
        </p:spPr>
      </p:sp>
      <p:sp>
        <p:nvSpPr>
          <p:cNvPr id="118" name="Text 116"/>
          <p:cNvSpPr/>
          <p:nvPr/>
        </p:nvSpPr>
        <p:spPr>
          <a:xfrm>
            <a:off x="3849624" y="389991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29</a:t>
            </a:r>
            <a:endParaRPr lang="en-US" sz="700" dirty="0"/>
          </a:p>
        </p:txBody>
      </p:sp>
      <p:sp>
        <p:nvSpPr>
          <p:cNvPr id="119" name="Shape 117"/>
          <p:cNvSpPr/>
          <p:nvPr/>
        </p:nvSpPr>
        <p:spPr>
          <a:xfrm>
            <a:off x="4352544" y="3899916"/>
            <a:ext cx="466344" cy="251460"/>
          </a:xfrm>
          <a:prstGeom prst="rect">
            <a:avLst/>
          </a:prstGeom>
          <a:solidFill>
            <a:srgbClr val="F44336"/>
          </a:solidFill>
          <a:ln w="6350">
            <a:solidFill>
              <a:srgbClr val="FFFFFF"/>
            </a:solidFill>
            <a:prstDash val="solid"/>
          </a:ln>
        </p:spPr>
      </p:sp>
      <p:sp>
        <p:nvSpPr>
          <p:cNvPr id="120" name="Text 118"/>
          <p:cNvSpPr/>
          <p:nvPr/>
        </p:nvSpPr>
        <p:spPr>
          <a:xfrm>
            <a:off x="4352544" y="3899916"/>
            <a:ext cx="466344" cy="251460"/>
          </a:xfrm>
          <a:prstGeom prst="rect">
            <a:avLst/>
          </a:prstGeom>
          <a:noFill/>
          <a:ln/>
        </p:spPr>
        <p:txBody>
          <a:bodyPr wrap="square" lIns="0" tIns="0" rIns="0" bIns="0" rtlCol="0" anchor="ctr"/>
          <a:lstStyle/>
          <a:p>
            <a:pPr algn="ctr" indent="0" marL="0">
              <a:buNone/>
            </a:pPr>
            <a:r>
              <a:rPr lang="en-US" sz="700" b="1" dirty="0">
                <a:solidFill>
                  <a:srgbClr val="1A202C"/>
                </a:solidFill>
              </a:rPr>
              <a:t>26</a:t>
            </a:r>
            <a:endParaRPr lang="en-US" sz="700" dirty="0"/>
          </a:p>
        </p:txBody>
      </p:sp>
      <p:sp>
        <p:nvSpPr>
          <p:cNvPr id="121" name="Text 119"/>
          <p:cNvSpPr/>
          <p:nvPr/>
        </p:nvSpPr>
        <p:spPr>
          <a:xfrm>
            <a:off x="5486400" y="2212848"/>
            <a:ext cx="3291840" cy="201168"/>
          </a:xfrm>
          <a:prstGeom prst="rect">
            <a:avLst/>
          </a:prstGeom>
          <a:noFill/>
          <a:ln/>
        </p:spPr>
        <p:txBody>
          <a:bodyPr wrap="square" lIns="0" tIns="0" rIns="0" bIns="0" rtlCol="0" anchor="ctr"/>
          <a:lstStyle/>
          <a:p>
            <a:pPr indent="0" marL="0">
              <a:buNone/>
            </a:pPr>
            <a:r>
              <a:rPr lang="en-US" sz="900" b="1" dirty="0">
                <a:solidFill>
                  <a:srgbClr val="065A82"/>
                </a:solidFill>
              </a:rPr>
              <a:t>Safety Status by Location</a:t>
            </a:r>
            <a:endParaRPr lang="en-US" sz="900" dirty="0"/>
          </a:p>
        </p:txBody>
      </p:sp>
      <p:graphicFrame>
        <p:nvGraphicFramePr>
          <p:cNvPr id="122" name="Chart 0" descr=""/>
          <p:cNvGraphicFramePr/>
          <p:nvPr/>
        </p:nvGraphicFramePr>
        <p:xfrm>
          <a:off x="5321808" y="2395728"/>
          <a:ext cx="3456432" cy="2395728"/>
        </p:xfrm>
        <a:graphic xmlns:a="http://schemas.openxmlformats.org/drawingml/2006/main">
          <a:graphicData uri="http://schemas.openxmlformats.org/drawingml/2006/chart">
            <c:chart xmlns:c="http://schemas.openxmlformats.org/drawingml/2006/chart" r:id="rId1"/>
          </a:graphicData>
        </a:graphic>
      </p:graphicFrame>
      <p:sp>
        <p:nvSpPr>
          <p:cNvPr id="123" name="Text 120"/>
          <p:cNvSpPr/>
          <p:nvPr/>
        </p:nvSpPr>
        <p:spPr>
          <a:xfrm>
            <a:off x="320040" y="4224528"/>
            <a:ext cx="5029200" cy="182880"/>
          </a:xfrm>
          <a:prstGeom prst="rect">
            <a:avLst/>
          </a:prstGeom>
          <a:noFill/>
          <a:ln/>
        </p:spPr>
        <p:txBody>
          <a:bodyPr wrap="square" lIns="0" tIns="0" rIns="0" bIns="0" rtlCol="0" anchor="ctr"/>
          <a:lstStyle/>
          <a:p>
            <a:pPr indent="0" marL="0">
              <a:buNone/>
            </a:pPr>
            <a:r>
              <a:rPr lang="en-US" sz="900" b="1" dirty="0">
                <a:solidFill>
                  <a:srgbClr val="065A82"/>
                </a:solidFill>
              </a:rPr>
              <a:t>Geographic Safety Map  —  Wed Jun 11</a:t>
            </a:r>
            <a:endParaRPr lang="en-US" sz="900" dirty="0"/>
          </a:p>
        </p:txBody>
      </p:sp>
      <p:sp>
        <p:nvSpPr>
          <p:cNvPr id="124" name="Shape 121"/>
          <p:cNvSpPr/>
          <p:nvPr/>
        </p:nvSpPr>
        <p:spPr>
          <a:xfrm>
            <a:off x="320040" y="4425696"/>
            <a:ext cx="5029200" cy="621792"/>
          </a:xfrm>
          <a:prstGeom prst="roundRect">
            <a:avLst>
              <a:gd name="adj" fmla="val 11765"/>
            </a:avLst>
          </a:prstGeom>
          <a:solidFill>
            <a:srgbClr val="D9EAF5"/>
          </a:solidFill>
          <a:ln w="6350">
            <a:solidFill>
              <a:srgbClr val="D0E4EF"/>
            </a:solidFill>
            <a:prstDash val="solid"/>
          </a:ln>
        </p:spPr>
      </p:sp>
      <p:sp>
        <p:nvSpPr>
          <p:cNvPr id="125" name="Shape 122"/>
          <p:cNvSpPr/>
          <p:nvPr/>
        </p:nvSpPr>
        <p:spPr>
          <a:xfrm>
            <a:off x="320040" y="4553712"/>
            <a:ext cx="5029200" cy="109728"/>
          </a:xfrm>
          <a:prstGeom prst="rect">
            <a:avLst/>
          </a:prstGeom>
          <a:solidFill>
            <a:srgbClr val="93C5FD">
              <a:alpha val="60000"/>
            </a:srgbClr>
          </a:solidFill>
          <a:ln w="12700">
            <a:solidFill>
              <a:srgbClr val="93C5FD"/>
            </a:solidFill>
            <a:prstDash val="solid"/>
          </a:ln>
        </p:spPr>
      </p:sp>
      <p:sp>
        <p:nvSpPr>
          <p:cNvPr id="126" name="Text 123"/>
          <p:cNvSpPr/>
          <p:nvPr/>
        </p:nvSpPr>
        <p:spPr>
          <a:xfrm>
            <a:off x="475488" y="4562856"/>
            <a:ext cx="1097280" cy="100584"/>
          </a:xfrm>
          <a:prstGeom prst="rect">
            <a:avLst/>
          </a:prstGeom>
          <a:noFill/>
          <a:ln/>
        </p:spPr>
        <p:txBody>
          <a:bodyPr wrap="square" lIns="0" tIns="0" rIns="0" bIns="0" rtlCol="0" anchor="ctr"/>
          <a:lstStyle/>
          <a:p>
            <a:pPr indent="0" marL="0">
              <a:buNone/>
            </a:pPr>
            <a:r>
              <a:rPr lang="en-US" sz="600" i="1" dirty="0">
                <a:solidFill>
                  <a:srgbClr val="1E40AF"/>
                </a:solidFill>
              </a:rPr>
              <a:t>Ohio River</a:t>
            </a:r>
            <a:endParaRPr lang="en-US" sz="600" dirty="0"/>
          </a:p>
        </p:txBody>
      </p:sp>
      <p:sp>
        <p:nvSpPr>
          <p:cNvPr id="127" name="Shape 124"/>
          <p:cNvSpPr/>
          <p:nvPr/>
        </p:nvSpPr>
        <p:spPr>
          <a:xfrm>
            <a:off x="4023360" y="4462272"/>
            <a:ext cx="164592" cy="164592"/>
          </a:xfrm>
          <a:prstGeom prst="ellipse">
            <a:avLst/>
          </a:prstGeom>
          <a:solidFill>
            <a:srgbClr val="15803D"/>
          </a:solidFill>
          <a:ln w="12700">
            <a:solidFill>
              <a:srgbClr val="FFFFFF"/>
            </a:solidFill>
            <a:prstDash val="solid"/>
          </a:ln>
        </p:spPr>
      </p:sp>
      <p:sp>
        <p:nvSpPr>
          <p:cNvPr id="128" name="Text 125"/>
          <p:cNvSpPr/>
          <p:nvPr/>
        </p:nvSpPr>
        <p:spPr>
          <a:xfrm>
            <a:off x="3877056" y="4645152"/>
            <a:ext cx="457200" cy="164592"/>
          </a:xfrm>
          <a:prstGeom prst="rect">
            <a:avLst/>
          </a:prstGeom>
          <a:noFill/>
          <a:ln/>
        </p:spPr>
        <p:txBody>
          <a:bodyPr wrap="square" lIns="0" tIns="0" rIns="0" bIns="0" rtlCol="0" anchor="ctr"/>
          <a:lstStyle/>
          <a:p>
            <a:pPr algn="ctr" indent="0" marL="0">
              <a:buNone/>
            </a:pPr>
            <a:r>
              <a:rPr lang="en-US" sz="600" dirty="0">
                <a:solidFill>
                  <a:srgbClr val="0D2B3E"/>
                </a:solidFill>
              </a:rPr>
              <a:t>Taylorsville</a:t>
            </a:r>
            <a:endParaRPr lang="en-US" sz="600" dirty="0"/>
          </a:p>
        </p:txBody>
      </p:sp>
      <p:sp>
        <p:nvSpPr>
          <p:cNvPr id="129" name="Shape 126"/>
          <p:cNvSpPr/>
          <p:nvPr/>
        </p:nvSpPr>
        <p:spPr>
          <a:xfrm>
            <a:off x="1920240" y="4462272"/>
            <a:ext cx="164592" cy="164592"/>
          </a:xfrm>
          <a:prstGeom prst="ellipse">
            <a:avLst/>
          </a:prstGeom>
          <a:solidFill>
            <a:srgbClr val="15803D"/>
          </a:solidFill>
          <a:ln w="12700">
            <a:solidFill>
              <a:srgbClr val="FFFFFF"/>
            </a:solidFill>
            <a:prstDash val="solid"/>
          </a:ln>
        </p:spPr>
      </p:sp>
      <p:sp>
        <p:nvSpPr>
          <p:cNvPr id="130" name="Text 127"/>
          <p:cNvSpPr/>
          <p:nvPr/>
        </p:nvSpPr>
        <p:spPr>
          <a:xfrm>
            <a:off x="1773936" y="4645152"/>
            <a:ext cx="457200" cy="164592"/>
          </a:xfrm>
          <a:prstGeom prst="rect">
            <a:avLst/>
          </a:prstGeom>
          <a:noFill/>
          <a:ln/>
        </p:spPr>
        <p:txBody>
          <a:bodyPr wrap="square" lIns="0" tIns="0" rIns="0" bIns="0" rtlCol="0" anchor="ctr"/>
          <a:lstStyle/>
          <a:p>
            <a:pPr algn="ctr" indent="0" marL="0">
              <a:buNone/>
            </a:pPr>
            <a:r>
              <a:rPr lang="en-US" sz="600" dirty="0">
                <a:solidFill>
                  <a:srgbClr val="0D2B3E"/>
                </a:solidFill>
              </a:rPr>
              <a:t>McAlpine</a:t>
            </a:r>
            <a:endParaRPr lang="en-US" sz="600" dirty="0"/>
          </a:p>
        </p:txBody>
      </p:sp>
      <p:sp>
        <p:nvSpPr>
          <p:cNvPr id="131" name="Shape 128"/>
          <p:cNvSpPr/>
          <p:nvPr/>
        </p:nvSpPr>
        <p:spPr>
          <a:xfrm>
            <a:off x="914400" y="4462272"/>
            <a:ext cx="164592" cy="164592"/>
          </a:xfrm>
          <a:prstGeom prst="ellipse">
            <a:avLst/>
          </a:prstGeom>
          <a:solidFill>
            <a:srgbClr val="15803D"/>
          </a:solidFill>
          <a:ln w="12700">
            <a:solidFill>
              <a:srgbClr val="FFFFFF"/>
            </a:solidFill>
            <a:prstDash val="solid"/>
          </a:ln>
        </p:spPr>
      </p:sp>
      <p:sp>
        <p:nvSpPr>
          <p:cNvPr id="132" name="Text 129"/>
          <p:cNvSpPr/>
          <p:nvPr/>
        </p:nvSpPr>
        <p:spPr>
          <a:xfrm>
            <a:off x="768096" y="4645152"/>
            <a:ext cx="457200" cy="164592"/>
          </a:xfrm>
          <a:prstGeom prst="rect">
            <a:avLst/>
          </a:prstGeom>
          <a:noFill/>
          <a:ln/>
        </p:spPr>
        <p:txBody>
          <a:bodyPr wrap="square" lIns="0" tIns="0" rIns="0" bIns="0" rtlCol="0" anchor="ctr"/>
          <a:lstStyle/>
          <a:p>
            <a:pPr algn="ctr" indent="0" marL="0">
              <a:buNone/>
            </a:pPr>
            <a:r>
              <a:rPr lang="en-US" sz="600" dirty="0">
                <a:solidFill>
                  <a:srgbClr val="0D2B3E"/>
                </a:solidFill>
              </a:rPr>
              <a:t>Cox Park</a:t>
            </a:r>
            <a:endParaRPr lang="en-US" sz="600" dirty="0"/>
          </a:p>
        </p:txBody>
      </p:sp>
      <p:sp>
        <p:nvSpPr>
          <p:cNvPr id="133" name="Shape 130"/>
          <p:cNvSpPr/>
          <p:nvPr/>
        </p:nvSpPr>
        <p:spPr>
          <a:xfrm>
            <a:off x="3017520" y="4462272"/>
            <a:ext cx="164592" cy="164592"/>
          </a:xfrm>
          <a:prstGeom prst="ellipse">
            <a:avLst/>
          </a:prstGeom>
          <a:solidFill>
            <a:srgbClr val="15803D"/>
          </a:solidFill>
          <a:ln w="12700">
            <a:solidFill>
              <a:srgbClr val="FFFFFF"/>
            </a:solidFill>
            <a:prstDash val="solid"/>
          </a:ln>
        </p:spPr>
      </p:sp>
      <p:sp>
        <p:nvSpPr>
          <p:cNvPr id="134" name="Text 131"/>
          <p:cNvSpPr/>
          <p:nvPr/>
        </p:nvSpPr>
        <p:spPr>
          <a:xfrm>
            <a:off x="2871216" y="4645152"/>
            <a:ext cx="457200" cy="164592"/>
          </a:xfrm>
          <a:prstGeom prst="rect">
            <a:avLst/>
          </a:prstGeom>
          <a:noFill/>
          <a:ln/>
        </p:spPr>
        <p:txBody>
          <a:bodyPr wrap="square" lIns="0" tIns="0" rIns="0" bIns="0" rtlCol="0" anchor="ctr"/>
          <a:lstStyle/>
          <a:p>
            <a:pPr algn="ctr" indent="0" marL="0">
              <a:buNone/>
            </a:pPr>
            <a:r>
              <a:rPr lang="en-US" sz="600" dirty="0">
                <a:solidFill>
                  <a:srgbClr val="0D2B3E"/>
                </a:solidFill>
              </a:rPr>
              <a:t>Harrods Ck</a:t>
            </a:r>
            <a:endParaRPr lang="en-US" sz="600" dirty="0"/>
          </a:p>
        </p:txBody>
      </p:sp>
      <p:sp>
        <p:nvSpPr>
          <p:cNvPr id="135" name="Shape 132"/>
          <p:cNvSpPr/>
          <p:nvPr/>
        </p:nvSpPr>
        <p:spPr>
          <a:xfrm>
            <a:off x="502920" y="4462272"/>
            <a:ext cx="164592" cy="164592"/>
          </a:xfrm>
          <a:prstGeom prst="ellipse">
            <a:avLst/>
          </a:prstGeom>
          <a:solidFill>
            <a:srgbClr val="A16207"/>
          </a:solidFill>
          <a:ln w="12700">
            <a:solidFill>
              <a:srgbClr val="FFFFFF"/>
            </a:solidFill>
            <a:prstDash val="solid"/>
          </a:ln>
        </p:spPr>
      </p:sp>
      <p:sp>
        <p:nvSpPr>
          <p:cNvPr id="136" name="Text 133"/>
          <p:cNvSpPr/>
          <p:nvPr/>
        </p:nvSpPr>
        <p:spPr>
          <a:xfrm>
            <a:off x="356616" y="4645152"/>
            <a:ext cx="457200" cy="164592"/>
          </a:xfrm>
          <a:prstGeom prst="rect">
            <a:avLst/>
          </a:prstGeom>
          <a:noFill/>
          <a:ln/>
        </p:spPr>
        <p:txBody>
          <a:bodyPr wrap="square" lIns="0" tIns="0" rIns="0" bIns="0" rtlCol="0" anchor="ctr"/>
          <a:lstStyle/>
          <a:p>
            <a:pPr algn="ctr" indent="0" marL="0">
              <a:buNone/>
            </a:pPr>
            <a:r>
              <a:rPr lang="en-US" sz="600" dirty="0">
                <a:solidFill>
                  <a:srgbClr val="0D2B3E"/>
                </a:solidFill>
              </a:rPr>
              <a:t>Otter Creek</a:t>
            </a:r>
            <a:endParaRPr lang="en-US" sz="600" dirty="0"/>
          </a:p>
        </p:txBody>
      </p:sp>
      <p:sp>
        <p:nvSpPr>
          <p:cNvPr id="137" name="Shape 134"/>
          <p:cNvSpPr/>
          <p:nvPr/>
        </p:nvSpPr>
        <p:spPr>
          <a:xfrm>
            <a:off x="2514600" y="4462272"/>
            <a:ext cx="164592" cy="164592"/>
          </a:xfrm>
          <a:prstGeom prst="ellipse">
            <a:avLst/>
          </a:prstGeom>
          <a:solidFill>
            <a:srgbClr val="A16207"/>
          </a:solidFill>
          <a:ln w="12700">
            <a:solidFill>
              <a:srgbClr val="FFFFFF"/>
            </a:solidFill>
            <a:prstDash val="solid"/>
          </a:ln>
        </p:spPr>
      </p:sp>
      <p:sp>
        <p:nvSpPr>
          <p:cNvPr id="138" name="Text 135"/>
          <p:cNvSpPr/>
          <p:nvPr/>
        </p:nvSpPr>
        <p:spPr>
          <a:xfrm>
            <a:off x="2368296" y="4645152"/>
            <a:ext cx="457200" cy="164592"/>
          </a:xfrm>
          <a:prstGeom prst="rect">
            <a:avLst/>
          </a:prstGeom>
          <a:noFill/>
          <a:ln/>
        </p:spPr>
        <p:txBody>
          <a:bodyPr wrap="square" lIns="0" tIns="0" rIns="0" bIns="0" rtlCol="0" anchor="ctr"/>
          <a:lstStyle/>
          <a:p>
            <a:pPr algn="ctr" indent="0" marL="0">
              <a:buNone/>
            </a:pPr>
            <a:r>
              <a:rPr lang="en-US" sz="600" dirty="0">
                <a:solidFill>
                  <a:srgbClr val="0D2B3E"/>
                </a:solidFill>
              </a:rPr>
              <a:t>Caperton</a:t>
            </a:r>
            <a:endParaRPr lang="en-US" sz="600" dirty="0"/>
          </a:p>
        </p:txBody>
      </p:sp>
      <p:sp>
        <p:nvSpPr>
          <p:cNvPr id="139" name="Shape 136"/>
          <p:cNvSpPr/>
          <p:nvPr/>
        </p:nvSpPr>
        <p:spPr>
          <a:xfrm>
            <a:off x="347472" y="4919472"/>
            <a:ext cx="109728" cy="109728"/>
          </a:xfrm>
          <a:prstGeom prst="ellipse">
            <a:avLst/>
          </a:prstGeom>
          <a:solidFill>
            <a:srgbClr val="15803D"/>
          </a:solidFill>
          <a:ln w="12700">
            <a:solidFill>
              <a:srgbClr val="FFFFFF"/>
            </a:solidFill>
            <a:prstDash val="solid"/>
          </a:ln>
        </p:spPr>
      </p:sp>
      <p:sp>
        <p:nvSpPr>
          <p:cNvPr id="140" name="Text 137"/>
          <p:cNvSpPr/>
          <p:nvPr/>
        </p:nvSpPr>
        <p:spPr>
          <a:xfrm>
            <a:off x="484632" y="4901184"/>
            <a:ext cx="594360" cy="146304"/>
          </a:xfrm>
          <a:prstGeom prst="rect">
            <a:avLst/>
          </a:prstGeom>
          <a:noFill/>
          <a:ln/>
        </p:spPr>
        <p:txBody>
          <a:bodyPr wrap="square" lIns="0" tIns="0" rIns="0" bIns="0" rtlCol="0" anchor="ctr"/>
          <a:lstStyle/>
          <a:p>
            <a:pPr indent="0" marL="0">
              <a:buNone/>
            </a:pPr>
            <a:r>
              <a:rPr lang="en-US" sz="700" dirty="0">
                <a:solidFill>
                  <a:srgbClr val="0D2B3E"/>
                </a:solidFill>
              </a:rPr>
              <a:t>Safe</a:t>
            </a:r>
            <a:endParaRPr lang="en-US" sz="700" dirty="0"/>
          </a:p>
        </p:txBody>
      </p:sp>
      <p:sp>
        <p:nvSpPr>
          <p:cNvPr id="141" name="Shape 138"/>
          <p:cNvSpPr/>
          <p:nvPr/>
        </p:nvSpPr>
        <p:spPr>
          <a:xfrm>
            <a:off x="1152144" y="4919472"/>
            <a:ext cx="109728" cy="109728"/>
          </a:xfrm>
          <a:prstGeom prst="ellipse">
            <a:avLst/>
          </a:prstGeom>
          <a:solidFill>
            <a:srgbClr val="A16207"/>
          </a:solidFill>
          <a:ln w="12700">
            <a:solidFill>
              <a:srgbClr val="FFFFFF"/>
            </a:solidFill>
            <a:prstDash val="solid"/>
          </a:ln>
        </p:spPr>
      </p:sp>
      <p:sp>
        <p:nvSpPr>
          <p:cNvPr id="142" name="Text 139"/>
          <p:cNvSpPr/>
          <p:nvPr/>
        </p:nvSpPr>
        <p:spPr>
          <a:xfrm>
            <a:off x="1289304" y="4901184"/>
            <a:ext cx="594360" cy="146304"/>
          </a:xfrm>
          <a:prstGeom prst="rect">
            <a:avLst/>
          </a:prstGeom>
          <a:noFill/>
          <a:ln/>
        </p:spPr>
        <p:txBody>
          <a:bodyPr wrap="square" lIns="0" tIns="0" rIns="0" bIns="0" rtlCol="0" anchor="ctr"/>
          <a:lstStyle/>
          <a:p>
            <a:pPr indent="0" marL="0">
              <a:buNone/>
            </a:pPr>
            <a:r>
              <a:rPr lang="en-US" sz="700" dirty="0">
                <a:solidFill>
                  <a:srgbClr val="0D2B3E"/>
                </a:solidFill>
              </a:rPr>
              <a:t>Caution</a:t>
            </a:r>
            <a:endParaRPr lang="en-US" sz="700" dirty="0"/>
          </a:p>
        </p:txBody>
      </p:sp>
      <p:sp>
        <p:nvSpPr>
          <p:cNvPr id="143" name="Shape 140"/>
          <p:cNvSpPr/>
          <p:nvPr/>
        </p:nvSpPr>
        <p:spPr>
          <a:xfrm>
            <a:off x="1956816" y="4919472"/>
            <a:ext cx="109728" cy="109728"/>
          </a:xfrm>
          <a:prstGeom prst="ellipse">
            <a:avLst/>
          </a:prstGeom>
          <a:solidFill>
            <a:srgbClr val="B91C1C"/>
          </a:solidFill>
          <a:ln w="12700">
            <a:solidFill>
              <a:srgbClr val="FFFFFF"/>
            </a:solidFill>
            <a:prstDash val="solid"/>
          </a:ln>
        </p:spPr>
      </p:sp>
      <p:sp>
        <p:nvSpPr>
          <p:cNvPr id="144" name="Text 141"/>
          <p:cNvSpPr/>
          <p:nvPr/>
        </p:nvSpPr>
        <p:spPr>
          <a:xfrm>
            <a:off x="2093976" y="4901184"/>
            <a:ext cx="594360" cy="146304"/>
          </a:xfrm>
          <a:prstGeom prst="rect">
            <a:avLst/>
          </a:prstGeom>
          <a:noFill/>
          <a:ln/>
        </p:spPr>
        <p:txBody>
          <a:bodyPr wrap="square" lIns="0" tIns="0" rIns="0" bIns="0" rtlCol="0" anchor="ctr"/>
          <a:lstStyle/>
          <a:p>
            <a:pPr indent="0" marL="0">
              <a:buNone/>
            </a:pPr>
            <a:r>
              <a:rPr lang="en-US" sz="700" dirty="0">
                <a:solidFill>
                  <a:srgbClr val="0D2B3E"/>
                </a:solidFill>
              </a:rPr>
              <a:t>Unsafe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1C0A0"/>
          </a:solidFill>
          <a:ln w="12700">
            <a:solidFill>
              <a:srgbClr val="21C0A0"/>
            </a:solidFill>
            <a:prstDash val="solid"/>
          </a:ln>
        </p:spPr>
      </p:sp>
      <p:sp>
        <p:nvSpPr>
          <p:cNvPr id="3" name="Text 1"/>
          <p:cNvSpPr/>
          <p:nvPr/>
        </p:nvSpPr>
        <p:spPr>
          <a:xfrm>
            <a:off x="502920" y="274320"/>
            <a:ext cx="8046720" cy="5943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Insights &amp; Takeaways</a:t>
            </a:r>
            <a:endParaRPr lang="en-US" sz="3600" dirty="0"/>
          </a:p>
        </p:txBody>
      </p:sp>
      <p:sp>
        <p:nvSpPr>
          <p:cNvPr id="4" name="Shape 2"/>
          <p:cNvSpPr/>
          <p:nvPr/>
        </p:nvSpPr>
        <p:spPr>
          <a:xfrm>
            <a:off x="347472" y="1005840"/>
            <a:ext cx="2743200" cy="3520440"/>
          </a:xfrm>
          <a:prstGeom prst="roundRect">
            <a:avLst>
              <a:gd name="adj" fmla="val 4000"/>
            </a:avLst>
          </a:prstGeom>
          <a:solidFill>
            <a:srgbClr val="0D2B3E"/>
          </a:solidFill>
          <a:ln w="6350">
            <a:solidFill>
              <a:srgbClr val="1A4A65"/>
            </a:solidFill>
            <a:prstDash val="solid"/>
          </a:ln>
          <a:effectLst>
            <a:outerShdw sx="100000" sy="100000" kx="0" ky="0" algn="bl" rotWithShape="0" blurRad="76200" dist="25400" dir="27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1444752" y="1097280"/>
            <a:ext cx="457200" cy="457200"/>
          </a:xfrm>
          <a:prstGeom prst="rect">
            <a:avLst/>
          </a:prstGeom>
        </p:spPr>
      </p:pic>
      <p:sp>
        <p:nvSpPr>
          <p:cNvPr id="6" name="Text 3"/>
          <p:cNvSpPr/>
          <p:nvPr/>
        </p:nvSpPr>
        <p:spPr>
          <a:xfrm>
            <a:off x="484632" y="1664208"/>
            <a:ext cx="2487168" cy="566928"/>
          </a:xfrm>
          <a:prstGeom prst="rect">
            <a:avLst/>
          </a:prstGeom>
          <a:noFill/>
          <a:ln/>
        </p:spPr>
        <p:txBody>
          <a:bodyPr wrap="square" lIns="0" tIns="0" rIns="0" bIns="0" rtlCol="0" anchor="ctr"/>
          <a:lstStyle/>
          <a:p>
            <a:pPr algn="ctr" indent="0" marL="0">
              <a:buNone/>
            </a:pPr>
            <a:r>
              <a:rPr lang="en-US" sz="1150" b="1" dirty="0">
                <a:solidFill>
                  <a:srgbClr val="FFFFFF"/>
                </a:solidFill>
              </a:rPr>
              <a:t>Incremental Upsert is the Right Pattern</a:t>
            </a:r>
            <a:endParaRPr lang="en-US" sz="1150" dirty="0"/>
          </a:p>
        </p:txBody>
      </p:sp>
      <p:sp>
        <p:nvSpPr>
          <p:cNvPr id="7" name="Text 4"/>
          <p:cNvSpPr/>
          <p:nvPr/>
        </p:nvSpPr>
        <p:spPr>
          <a:xfrm>
            <a:off x="484632" y="2286000"/>
            <a:ext cx="2487168" cy="2103120"/>
          </a:xfrm>
          <a:prstGeom prst="rect">
            <a:avLst/>
          </a:prstGeom>
          <a:noFill/>
          <a:ln/>
        </p:spPr>
        <p:txBody>
          <a:bodyPr wrap="square" lIns="0" tIns="0" rIns="0" bIns="0" rtlCol="0" anchor="ctr"/>
          <a:lstStyle/>
          <a:p>
            <a:pPr indent="0" marL="0">
              <a:buNone/>
            </a:pPr>
            <a:r>
              <a:rPr lang="en-US" sz="1000" dirty="0">
                <a:solidFill>
                  <a:srgbClr val="A8C8DC"/>
                </a:solidFill>
              </a:rPr>
              <a:t>Rolling 7-day forecasts naturally overlap on re-runs. INSERT … ON CONFLICT DO UPDATE handles new records, updates existing ones, and never duplicates — one SQL statement satisfies all three loading requirements.</a:t>
            </a:r>
            <a:endParaRPr lang="en-US" sz="1000" dirty="0"/>
          </a:p>
        </p:txBody>
      </p:sp>
      <p:sp>
        <p:nvSpPr>
          <p:cNvPr id="8" name="Shape 5"/>
          <p:cNvSpPr/>
          <p:nvPr/>
        </p:nvSpPr>
        <p:spPr>
          <a:xfrm>
            <a:off x="3273552" y="1005840"/>
            <a:ext cx="2743200" cy="3520440"/>
          </a:xfrm>
          <a:prstGeom prst="roundRect">
            <a:avLst>
              <a:gd name="adj" fmla="val 4000"/>
            </a:avLst>
          </a:prstGeom>
          <a:solidFill>
            <a:srgbClr val="0D2B3E"/>
          </a:solidFill>
          <a:ln w="6350">
            <a:solidFill>
              <a:srgbClr val="1A4A65"/>
            </a:solidFill>
            <a:prstDash val="solid"/>
          </a:ln>
          <a:effectLst>
            <a:outerShdw sx="100000" sy="100000" kx="0" ky="0" algn="bl" rotWithShape="0" blurRad="76200" dist="25400" dir="2700000">
              <a:srgbClr val="000000">
                <a:alpha val="10000"/>
              </a:srgbClr>
            </a:outerShdw>
          </a:effectLst>
        </p:spPr>
      </p:sp>
      <p:pic>
        <p:nvPicPr>
          <p:cNvPr id="9" name="Image 1" descr="preencoded.png">    </p:cNvPr>
          <p:cNvPicPr>
            <a:picLocks noChangeAspect="1"/>
          </p:cNvPicPr>
          <p:nvPr/>
        </p:nvPicPr>
        <p:blipFill>
          <a:blip r:embed="rId2"/>
          <a:stretch>
            <a:fillRect/>
          </a:stretch>
        </p:blipFill>
        <p:spPr>
          <a:xfrm>
            <a:off x="4370832" y="1097280"/>
            <a:ext cx="457200" cy="457200"/>
          </a:xfrm>
          <a:prstGeom prst="rect">
            <a:avLst/>
          </a:prstGeom>
        </p:spPr>
      </p:pic>
      <p:sp>
        <p:nvSpPr>
          <p:cNvPr id="10" name="Text 6"/>
          <p:cNvSpPr/>
          <p:nvPr/>
        </p:nvSpPr>
        <p:spPr>
          <a:xfrm>
            <a:off x="3410712" y="1664208"/>
            <a:ext cx="2487168" cy="566928"/>
          </a:xfrm>
          <a:prstGeom prst="rect">
            <a:avLst/>
          </a:prstGeom>
          <a:noFill/>
          <a:ln/>
        </p:spPr>
        <p:txBody>
          <a:bodyPr wrap="square" lIns="0" tIns="0" rIns="0" bIns="0" rtlCol="0" anchor="ctr"/>
          <a:lstStyle/>
          <a:p>
            <a:pPr algn="ctr" indent="0" marL="0">
              <a:buNone/>
            </a:pPr>
            <a:r>
              <a:rPr lang="en-US" sz="1150" b="1" dirty="0">
                <a:solidFill>
                  <a:srgbClr val="FFFFFF"/>
                </a:solidFill>
              </a:rPr>
              <a:t>Hard vs. Soft Failures Change Everything</a:t>
            </a:r>
            <a:endParaRPr lang="en-US" sz="1150" dirty="0"/>
          </a:p>
        </p:txBody>
      </p:sp>
      <p:sp>
        <p:nvSpPr>
          <p:cNvPr id="11" name="Text 7"/>
          <p:cNvSpPr/>
          <p:nvPr/>
        </p:nvSpPr>
        <p:spPr>
          <a:xfrm>
            <a:off x="3410712" y="2286000"/>
            <a:ext cx="2487168" cy="2103120"/>
          </a:xfrm>
          <a:prstGeom prst="rect">
            <a:avLst/>
          </a:prstGeom>
          <a:noFill/>
          <a:ln/>
        </p:spPr>
        <p:txBody>
          <a:bodyPr wrap="square" lIns="0" tIns="0" rIns="0" bIns="0" rtlCol="0" anchor="ctr"/>
          <a:lstStyle/>
          <a:p>
            <a:pPr indent="0" marL="0">
              <a:buNone/>
            </a:pPr>
            <a:r>
              <a:rPr lang="en-US" sz="1000" dirty="0">
                <a:solidFill>
                  <a:srgbClr val="A8C8DC"/>
                </a:solidFill>
              </a:rPr>
              <a:t>Separating abort-on-failure checks from warn-and-continue checks kept the pipeline useful even when individual locations had API issues, while still protecting the database from constraint violations.</a:t>
            </a:r>
            <a:endParaRPr lang="en-US" sz="1000" dirty="0"/>
          </a:p>
        </p:txBody>
      </p:sp>
      <p:sp>
        <p:nvSpPr>
          <p:cNvPr id="12" name="Shape 8"/>
          <p:cNvSpPr/>
          <p:nvPr/>
        </p:nvSpPr>
        <p:spPr>
          <a:xfrm>
            <a:off x="6199632" y="1005840"/>
            <a:ext cx="2743200" cy="3520440"/>
          </a:xfrm>
          <a:prstGeom prst="roundRect">
            <a:avLst>
              <a:gd name="adj" fmla="val 4000"/>
            </a:avLst>
          </a:prstGeom>
          <a:solidFill>
            <a:srgbClr val="0D2B3E"/>
          </a:solidFill>
          <a:ln w="6350">
            <a:solidFill>
              <a:srgbClr val="1A4A65"/>
            </a:solidFill>
            <a:prstDash val="solid"/>
          </a:ln>
          <a:effectLst>
            <a:outerShdw sx="100000" sy="100000" kx="0" ky="0" algn="bl" rotWithShape="0" blurRad="76200" dist="25400" dir="2700000">
              <a:srgbClr val="000000">
                <a:alpha val="10000"/>
              </a:srgbClr>
            </a:outerShdw>
          </a:effectLst>
        </p:spPr>
      </p:sp>
      <p:pic>
        <p:nvPicPr>
          <p:cNvPr id="13" name="Image 2" descr="preencoded.png">    </p:cNvPr>
          <p:cNvPicPr>
            <a:picLocks noChangeAspect="1"/>
          </p:cNvPicPr>
          <p:nvPr/>
        </p:nvPicPr>
        <p:blipFill>
          <a:blip r:embed="rId3"/>
          <a:stretch>
            <a:fillRect/>
          </a:stretch>
        </p:blipFill>
        <p:spPr>
          <a:xfrm>
            <a:off x="7296912" y="1097280"/>
            <a:ext cx="457200" cy="457200"/>
          </a:xfrm>
          <a:prstGeom prst="rect">
            <a:avLst/>
          </a:prstGeom>
        </p:spPr>
      </p:pic>
      <p:sp>
        <p:nvSpPr>
          <p:cNvPr id="14" name="Text 9"/>
          <p:cNvSpPr/>
          <p:nvPr/>
        </p:nvSpPr>
        <p:spPr>
          <a:xfrm>
            <a:off x="6336792" y="1664208"/>
            <a:ext cx="2487168" cy="566928"/>
          </a:xfrm>
          <a:prstGeom prst="rect">
            <a:avLst/>
          </a:prstGeom>
          <a:noFill/>
          <a:ln/>
        </p:spPr>
        <p:txBody>
          <a:bodyPr wrap="square" lIns="0" tIns="0" rIns="0" bIns="0" rtlCol="0" anchor="ctr"/>
          <a:lstStyle/>
          <a:p>
            <a:pPr algn="ctr" indent="0" marL="0">
              <a:buNone/>
            </a:pPr>
            <a:r>
              <a:rPr lang="en-US" sz="1150" b="1" dirty="0">
                <a:solidFill>
                  <a:srgbClr val="FFFFFF"/>
                </a:solidFill>
              </a:rPr>
              <a:t>Schema Design Drives Dashboard Quality</a:t>
            </a:r>
            <a:endParaRPr lang="en-US" sz="1150" dirty="0"/>
          </a:p>
        </p:txBody>
      </p:sp>
      <p:sp>
        <p:nvSpPr>
          <p:cNvPr id="15" name="Text 10"/>
          <p:cNvSpPr/>
          <p:nvPr/>
        </p:nvSpPr>
        <p:spPr>
          <a:xfrm>
            <a:off x="6336792" y="2286000"/>
            <a:ext cx="2487168" cy="2103120"/>
          </a:xfrm>
          <a:prstGeom prst="rect">
            <a:avLst/>
          </a:prstGeom>
          <a:noFill/>
          <a:ln/>
        </p:spPr>
        <p:txBody>
          <a:bodyPr wrap="square" lIns="0" tIns="0" rIns="0" bIns="0" rtlCol="0" anchor="ctr"/>
          <a:lstStyle/>
          <a:p>
            <a:pPr indent="0" marL="0">
              <a:buNone/>
            </a:pPr>
            <a:r>
              <a:rPr lang="en-US" sz="1000" dirty="0">
                <a:solidFill>
                  <a:srgbClr val="A8C8DC"/>
                </a:solidFill>
              </a:rPr>
              <a:t>Normalizing to 3NF upfront meant the dashboard view is a simple SELECT with four JOINs. The fishing_recommendation fact table is the single source of truth — every KPI and chart reads from it.</a:t>
            </a:r>
            <a:endParaRPr lang="en-US" sz="1000" dirty="0"/>
          </a:p>
        </p:txBody>
      </p:sp>
      <p:sp>
        <p:nvSpPr>
          <p:cNvPr id="16" name="Shape 11"/>
          <p:cNvSpPr/>
          <p:nvPr/>
        </p:nvSpPr>
        <p:spPr>
          <a:xfrm>
            <a:off x="347472" y="4645152"/>
            <a:ext cx="8449056" cy="347472"/>
          </a:xfrm>
          <a:prstGeom prst="roundRect">
            <a:avLst>
              <a:gd name="adj" fmla="val 21053"/>
            </a:avLst>
          </a:prstGeom>
          <a:solidFill>
            <a:srgbClr val="1C7293"/>
          </a:solidFill>
          <a:ln w="12700">
            <a:solidFill>
              <a:srgbClr val="1C7293"/>
            </a:solidFill>
            <a:prstDash val="solid"/>
          </a:ln>
        </p:spPr>
      </p:sp>
      <p:sp>
        <p:nvSpPr>
          <p:cNvPr id="17" name="Text 12"/>
          <p:cNvSpPr/>
          <p:nvPr/>
        </p:nvSpPr>
        <p:spPr>
          <a:xfrm>
            <a:off x="457200" y="4645152"/>
            <a:ext cx="8247888" cy="347472"/>
          </a:xfrm>
          <a:prstGeom prst="rect">
            <a:avLst/>
          </a:prstGeom>
          <a:noFill/>
          <a:ln/>
        </p:spPr>
        <p:txBody>
          <a:bodyPr wrap="square" lIns="0" tIns="0" rIns="0" bIns="0" rtlCol="0" anchor="ctr"/>
          <a:lstStyle/>
          <a:p>
            <a:pPr algn="ctr" indent="0" marL="0">
              <a:buNone/>
            </a:pPr>
            <a:r>
              <a:rPr lang="en-US" sz="900" dirty="0">
                <a:solidFill>
                  <a:srgbClr val="FFFFFF"/>
                </a:solidFill>
              </a:rPr>
              <a:t>Challenges &amp; Lessons:  GloFAS discharge values vary by site type  ·  Hourly→daily aggregation choices affect scores  ·  Single-script ETL simplifies deployment but demands clean state management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Louisville Waterways Fishing Outlook — ETL Capstone</dc:title>
  <dc:subject>PptxGenJS Presentation</dc:subject>
  <dc:creator>PptxGenJS</dc:creator>
  <cp:lastModifiedBy>PptxGenJS</cp:lastModifiedBy>
  <cp:revision>1</cp:revision>
  <dcterms:created xsi:type="dcterms:W3CDTF">2026-06-10T03:56:56Z</dcterms:created>
  <dcterms:modified xsi:type="dcterms:W3CDTF">2026-06-10T03:56:56Z</dcterms:modified>
</cp:coreProperties>
</file>